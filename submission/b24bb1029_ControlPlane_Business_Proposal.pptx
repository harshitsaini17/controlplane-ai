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8" r:id="rId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62" r:id="rId12"/>
  </p:sldIdLst>
  <p:sldSz cx="18288000" cy="10287000"/>
  <p:notesSz cx="6858000" cy="9144000"/>
  <p:embeddedFontLst>
    <p:embeddedFont>
      <p:font typeface="Arimo" charset="1" panose="020B0604020202020204"/>
      <p:regular r:id="rId16"/>
    </p:embeddedFont>
    <p:embeddedFont>
      <p:font typeface="Arimo Bold" charset="1" panose="020B0704020202020204"/>
      <p:regular r:id="rId17"/>
    </p:embeddedFont>
    <p:embeddedFont>
      <p:font typeface="Arimo Bold Italics" charset="1" panose="020B070402020209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12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4" Type="http://schemas.openxmlformats.org/officeDocument/2006/relationships/theme" Target="theme/theme2.xml"/><Relationship Id="rId15" Type="http://schemas.openxmlformats.org/officeDocument/2006/relationships/notesSlide" Target="notesSlides/notesSlide1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/>
        <a:ea typeface="Arial"/>
        <a:cs typeface="Arial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/>
        <a:ea typeface="Arial"/>
        <a:cs typeface="Arial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/>
        <a:ea typeface="Arial"/>
        <a:cs typeface="Arial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/>
        <a:ea typeface="Arial"/>
        <a:cs typeface="Arial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/>
        <a:ea typeface="Arial"/>
        <a:cs typeface="Arial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/>
        <a:ea typeface="Arial"/>
        <a:cs typeface="Arial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/>
        <a:ea typeface="Arial"/>
        <a:cs typeface="Arial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/>
        <a:ea typeface="Arial"/>
        <a:cs typeface="Arial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/>
        <a:ea typeface="Arial"/>
        <a:cs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jpeg"/><Relationship Id="rId7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3" Type="http://schemas.openxmlformats.org/officeDocument/2006/relationships/image" Target="../media/image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547865" y="9644777"/>
            <a:ext cx="3597135" cy="184671"/>
            <a:chOff x="0" y="0"/>
            <a:chExt cx="4796180" cy="2462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96184" cy="246222"/>
            </a:xfrm>
            <a:custGeom>
              <a:avLst/>
              <a:gdLst/>
              <a:ahLst/>
              <a:cxnLst/>
              <a:rect r="r" b="b" t="t" l="l"/>
              <a:pathLst>
                <a:path h="246222" w="4796184">
                  <a:moveTo>
                    <a:pt x="0" y="0"/>
                  </a:moveTo>
                  <a:lnTo>
                    <a:pt x="4796184" y="0"/>
                  </a:lnTo>
                  <a:lnTo>
                    <a:pt x="4796184" y="246222"/>
                  </a:lnTo>
                  <a:lnTo>
                    <a:pt x="0" y="2462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9549" r="0" b="-329551"/>
              </a:stretch>
            </a:blipFill>
          </p:spPr>
          <p:txBody>
            <a:bodyPr/>
            <a:p/>
          </p:txBody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796180" cy="265278"/>
            </a:xfrm>
            <a:prstGeom prst="rect">
              <a:avLst/>
            </a:prstGeom>
          </p:spPr>
          <p:txBody>
            <a:bodyPr anchor="ctr" rtlCol="false" tIns="0" lIns="0" bIns="0" rIns="0" wrap="square"/>
            <a:lstStyle/>
            <a:p>
              <a:pPr algn="r">
                <a:lnSpc>
                  <a:spcPts val="1439"/>
                </a:lnSpc>
              </a:pPr>
              <a:r>
                <a:rPr sz="1200" b="0" i="0">
                  <a:solidFill>
                    <a:srgbClr val="808080"/>
                  </a:solidFill>
                  <a:latin typeface="Arial"/>
                  <a:ea typeface="Arial"/>
                  <a:cs typeface="Arial"/>
                </a:rPr>
                <a:t>Copyright © 2026 Accenture. All rights reserved.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528943" y="9644777"/>
            <a:ext cx="187557" cy="184671"/>
            <a:chOff x="0" y="0"/>
            <a:chExt cx="250076" cy="2462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0070" cy="246222"/>
            </a:xfrm>
            <a:custGeom>
              <a:avLst/>
              <a:gdLst/>
              <a:ahLst/>
              <a:cxnLst/>
              <a:rect r="r" b="b" t="t" l="l"/>
              <a:pathLst>
                <a:path h="246222" w="250070">
                  <a:moveTo>
                    <a:pt x="0" y="0"/>
                  </a:moveTo>
                  <a:lnTo>
                    <a:pt x="250070" y="0"/>
                  </a:lnTo>
                  <a:lnTo>
                    <a:pt x="250070" y="246222"/>
                  </a:lnTo>
                  <a:lnTo>
                    <a:pt x="0" y="2462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6331" t="0" r="-76333" b="-2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50076" cy="265278"/>
            </a:xfrm>
            <a:prstGeom prst="rect">
              <a:avLst/>
            </a:prstGeom>
          </p:spPr>
          <p:txBody>
            <a:bodyPr anchor="ctr" rtlCol="false" tIns="0" lIns="0" bIns="0" rIns="0" wrap="square"/>
            <a:lstStyle/>
            <a:p>
              <a:pPr algn="r">
                <a:lnSpc>
                  <a:spcPts val="1439"/>
                </a:lnSpc>
              </a:pPr>
              <a:r>
                <a:rPr sz="1200" b="0" i="0">
                  <a:solidFill>
                    <a:srgbClr val="808080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9761" y="9586236"/>
            <a:ext cx="274806" cy="301752"/>
            <a:chOff x="0" y="0"/>
            <a:chExt cx="366408" cy="4023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6395" cy="402336"/>
            </a:xfrm>
            <a:custGeom>
              <a:avLst/>
              <a:gdLst/>
              <a:ahLst/>
              <a:cxnLst/>
              <a:rect r="r" b="b" t="t" l="l"/>
              <a:pathLst>
                <a:path h="402336" w="366395">
                  <a:moveTo>
                    <a:pt x="0" y="402336"/>
                  </a:moveTo>
                  <a:lnTo>
                    <a:pt x="366395" y="253619"/>
                  </a:lnTo>
                  <a:lnTo>
                    <a:pt x="366395" y="148717"/>
                  </a:lnTo>
                  <a:lnTo>
                    <a:pt x="0" y="0"/>
                  </a:lnTo>
                  <a:lnTo>
                    <a:pt x="0" y="105029"/>
                  </a:lnTo>
                  <a:lnTo>
                    <a:pt x="236855" y="201168"/>
                  </a:lnTo>
                  <a:lnTo>
                    <a:pt x="0" y="297307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A100FF"/>
            </a:solidFill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57924" y="836381"/>
            <a:ext cx="1865728" cy="492766"/>
            <a:chOff x="0" y="0"/>
            <a:chExt cx="2487638" cy="657022"/>
          </a:xfrm>
        </p:grpSpPr>
        <p:sp>
          <p:nvSpPr>
            <p:cNvPr name="Freeform 12" id="12" descr="accenture logo"/>
            <p:cNvSpPr/>
            <p:nvPr/>
          </p:nvSpPr>
          <p:spPr>
            <a:xfrm flipH="false" flipV="false" rot="0">
              <a:off x="0" y="0"/>
              <a:ext cx="2487676" cy="656971"/>
            </a:xfrm>
            <a:custGeom>
              <a:avLst/>
              <a:gdLst/>
              <a:ahLst/>
              <a:cxnLst/>
              <a:rect r="r" b="b" t="t" l="l"/>
              <a:pathLst>
                <a:path h="656971" w="2487676">
                  <a:moveTo>
                    <a:pt x="0" y="0"/>
                  </a:moveTo>
                  <a:lnTo>
                    <a:pt x="2487676" y="0"/>
                  </a:lnTo>
                  <a:lnTo>
                    <a:pt x="2487676" y="656971"/>
                  </a:lnTo>
                  <a:lnTo>
                    <a:pt x="0" y="656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2" r="1" b="-119"/>
              </a:stretch>
            </a:blipFill>
          </p:spPr>
          <p:txBody>
            <a:bodyPr/>
            <a:p/>
          </p:txBody>
        </p:sp>
      </p:grpSp>
      <p:grpSp>
        <p:nvGrpSpPr>
          <p:cNvPr name="Group 13" id="13"/>
          <p:cNvGrpSpPr/>
          <p:nvPr/>
        </p:nvGrpSpPr>
        <p:grpSpPr>
          <a:xfrm rot="0">
            <a:off x="29" y="1924"/>
            <a:ext cx="18287971" cy="10285076"/>
            <a:chOff x="0" y="0"/>
            <a:chExt cx="24383962" cy="137134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0" cy="13713461"/>
            </a:xfrm>
            <a:custGeom>
              <a:avLst/>
              <a:gdLst/>
              <a:ahLst/>
              <a:cxnLst/>
              <a:rect r="r" b="b" t="t" l="l"/>
              <a:pathLst>
                <a:path h="137134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3461"/>
                  </a:lnTo>
                  <a:lnTo>
                    <a:pt x="0" y="13713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10" b="-3129"/>
              </a:stretch>
            </a:blipFill>
          </p:spPr>
          <p:txBody>
            <a:bodyPr/>
            <a:p/>
          </p:txBody>
        </p:sp>
      </p:grpSp>
      <p:sp>
        <p:nvSpPr>
          <p:cNvPr name="TextBox 15" id="15"/>
          <p:cNvSpPr txBox="true"/>
          <p:nvPr/>
        </p:nvSpPr>
        <p:spPr>
          <a:xfrm rot="0">
            <a:off x="2286000" y="5687568"/>
            <a:ext cx="13716000" cy="1207008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5580"/>
              </a:lnSpc>
            </a:pPr>
            <a:r>
              <a:rPr sz="7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ControlPlane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788114" y="8985714"/>
            <a:ext cx="6711772" cy="528971"/>
            <a:chOff x="0" y="0"/>
            <a:chExt cx="8949030" cy="7052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49055" cy="705231"/>
            </a:xfrm>
            <a:custGeom>
              <a:avLst/>
              <a:gdLst/>
              <a:ahLst/>
              <a:cxnLst/>
              <a:rect r="r" b="b" t="t" l="l"/>
              <a:pathLst>
                <a:path h="705231" w="8949055">
                  <a:moveTo>
                    <a:pt x="0" y="0"/>
                  </a:moveTo>
                  <a:lnTo>
                    <a:pt x="8949055" y="0"/>
                  </a:lnTo>
                  <a:lnTo>
                    <a:pt x="8949055" y="705231"/>
                  </a:lnTo>
                  <a:lnTo>
                    <a:pt x="0" y="705231"/>
                  </a:lnTo>
                  <a:close/>
                </a:path>
              </a:pathLst>
            </a:custGeom>
            <a:solidFill>
              <a:srgbClr val="A100FF"/>
            </a:solidFill>
          </p:spPr>
          <p:txBody>
            <a:bodyPr/>
            <a:p/>
          </p:txBody>
        </p:sp>
      </p:grpSp>
      <p:sp>
        <p:nvSpPr>
          <p:cNvPr name="TextBox 18" id="18"/>
          <p:cNvSpPr txBox="true"/>
          <p:nvPr/>
        </p:nvSpPr>
        <p:spPr>
          <a:xfrm rot="0">
            <a:off x="5879554" y="8985494"/>
            <a:ext cx="6528892" cy="48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Accenture Innovation Challenge 2026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15336" y="1000592"/>
            <a:ext cx="1876844" cy="495700"/>
            <a:chOff x="0" y="0"/>
            <a:chExt cx="2502459" cy="6609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02408" cy="660908"/>
            </a:xfrm>
            <a:custGeom>
              <a:avLst/>
              <a:gdLst/>
              <a:ahLst/>
              <a:cxnLst/>
              <a:rect r="r" b="b" t="t" l="l"/>
              <a:pathLst>
                <a:path h="660908" w="2502408">
                  <a:moveTo>
                    <a:pt x="0" y="0"/>
                  </a:moveTo>
                  <a:lnTo>
                    <a:pt x="2502408" y="0"/>
                  </a:lnTo>
                  <a:lnTo>
                    <a:pt x="2502408" y="660908"/>
                  </a:lnTo>
                  <a:lnTo>
                    <a:pt x="0" y="660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2" b="-3"/>
              </a:stretch>
            </a:blipFill>
          </p:spPr>
          <p:txBody>
            <a:bodyPr/>
            <a:p/>
          </p:txBody>
        </p:sp>
      </p:grpSp>
      <p:sp>
        <p:nvSpPr>
          <p:cNvPr id="21" name="TextBox 20"/>
          <p:cNvSpPr txBox="1"/>
          <p:nvPr/>
        </p:nvSpPr>
        <p:spPr>
          <a:xfrm>
            <a:off x="2286000" y="6949440"/>
            <a:ext cx="13716000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real-time oversight gateway for enterprise AI</a:t>
            </a:r>
          </a:p>
          <a:p>
            <a:pPr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</a:pPr>
            <a:r>
              <a:rPr sz="1950" b="0" i="0">
                <a:solidFill>
                  <a:srgbClr val="E6BFFF"/>
                </a:solidFill>
                <a:latin typeface="Arial"/>
                <a:ea typeface="Arial"/>
                <a:cs typeface="Arial"/>
              </a:rPr>
              <a:t>One URL change. Every response checked across performance, cost and responsibility, and one accountable verdict before delivery.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8449056"/>
            <a:ext cx="13716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b24bb1029 · Priyanshu Pandey · Harshit Saini · Jayant Soni · Indian Institute of Technology Jodhpur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78023" y="3757746"/>
            <a:ext cx="2165490" cy="2206981"/>
            <a:chOff x="0" y="0"/>
            <a:chExt cx="2887320" cy="29426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87345" cy="2942590"/>
            </a:xfrm>
            <a:custGeom>
              <a:avLst/>
              <a:gdLst/>
              <a:ahLst/>
              <a:cxnLst/>
              <a:rect r="r" b="b" t="t" l="l"/>
              <a:pathLst>
                <a:path h="2942590" w="2887345">
                  <a:moveTo>
                    <a:pt x="0" y="0"/>
                  </a:moveTo>
                  <a:lnTo>
                    <a:pt x="2887345" y="0"/>
                  </a:lnTo>
                  <a:lnTo>
                    <a:pt x="2887345" y="2942590"/>
                  </a:lnTo>
                  <a:lnTo>
                    <a:pt x="0" y="2942590"/>
                  </a:lnTo>
                  <a:close/>
                </a:path>
              </a:pathLst>
            </a:custGeom>
            <a:solidFill>
              <a:srgbClr val="A10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79074" y="3759870"/>
            <a:ext cx="2165490" cy="2206981"/>
            <a:chOff x="0" y="0"/>
            <a:chExt cx="2887320" cy="29426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87345" cy="2942590"/>
            </a:xfrm>
            <a:custGeom>
              <a:avLst/>
              <a:gdLst/>
              <a:ahLst/>
              <a:cxnLst/>
              <a:rect r="r" b="b" t="t" l="l"/>
              <a:pathLst>
                <a:path h="2942590" w="2887345">
                  <a:moveTo>
                    <a:pt x="0" y="0"/>
                  </a:moveTo>
                  <a:lnTo>
                    <a:pt x="2887345" y="0"/>
                  </a:lnTo>
                  <a:lnTo>
                    <a:pt x="2887345" y="2942590"/>
                  </a:lnTo>
                  <a:lnTo>
                    <a:pt x="0" y="2942590"/>
                  </a:lnTo>
                  <a:close/>
                </a:path>
              </a:pathLst>
            </a:custGeom>
            <a:solidFill>
              <a:srgbClr val="A10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92868" y="928554"/>
            <a:ext cx="1714500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5400" b="tru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details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50740" y="9805187"/>
            <a:ext cx="395688" cy="237172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r">
              <a:lnSpc>
                <a:spcPts val="1439"/>
              </a:lnSpc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33989" y="3608661"/>
            <a:ext cx="2151326" cy="2206981"/>
            <a:chOff x="0" y="0"/>
            <a:chExt cx="2868435" cy="294264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68422" cy="2942590"/>
            </a:xfrm>
            <a:custGeom>
              <a:avLst/>
              <a:gdLst/>
              <a:ahLst/>
              <a:cxnLst/>
              <a:rect r="r" b="b" t="t" l="l"/>
              <a:pathLst>
                <a:path h="2942590" w="2868422">
                  <a:moveTo>
                    <a:pt x="0" y="0"/>
                  </a:moveTo>
                  <a:lnTo>
                    <a:pt x="2868422" y="0"/>
                  </a:lnTo>
                  <a:lnTo>
                    <a:pt x="2868422" y="2942590"/>
                  </a:lnTo>
                  <a:lnTo>
                    <a:pt x="0" y="294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956428" y="3148374"/>
            <a:ext cx="4765510" cy="1216743"/>
            <a:chOff x="0" y="0"/>
            <a:chExt cx="6354013" cy="16223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4014" cy="1622322"/>
            </a:xfrm>
            <a:custGeom>
              <a:avLst/>
              <a:gdLst/>
              <a:ahLst/>
              <a:cxnLst/>
              <a:rect r="r" b="b" t="t" l="l"/>
              <a:pathLst>
                <a:path h="1622322" w="6354014">
                  <a:moveTo>
                    <a:pt x="0" y="0"/>
                  </a:moveTo>
                  <a:lnTo>
                    <a:pt x="6354014" y="0"/>
                  </a:lnTo>
                  <a:lnTo>
                    <a:pt x="6354014" y="1622322"/>
                  </a:lnTo>
                  <a:lnTo>
                    <a:pt x="0" y="16223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" r="0" b="-2631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85725"/>
              <a:ext cx="6354013" cy="1536598"/>
            </a:xfrm>
            <a:prstGeom prst="rect">
              <a:avLst/>
            </a:prstGeom>
          </p:spPr>
          <p:txBody>
            <a:bodyPr anchor="b" rtlCol="false" tIns="0" lIns="0" bIns="0" rIns="0" wrap="square"/>
            <a:lstStyle/>
            <a:p>
              <a:pPr algn="l">
                <a:lnSpc>
                  <a:spcPts val="4855"/>
                </a:lnSpc>
              </a:pPr>
              <a:r>
                <a:rPr sz="2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Priyanshu Pandey</a:t>
              </a:r>
            </a:p>
            <a:p>
              <a:r>
                <a:rPr sz="1400" b="1" i="0">
                  <a:solidFill>
                    <a:srgbClr val="A100FF"/>
                  </a:solidFill>
                  <a:latin typeface="Arial"/>
                  <a:ea typeface="Arial"/>
                  <a:cs typeface="Arial"/>
                </a:rPr>
                <a:t>B24BB1029  ·  TEAM LEADER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74888" y="9588617"/>
            <a:ext cx="9881464" cy="298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575" i="tru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fields are mandatory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79074" y="6695713"/>
            <a:ext cx="2221859" cy="2206981"/>
            <a:chOff x="0" y="0"/>
            <a:chExt cx="2962478" cy="29426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62529" cy="2942590"/>
            </a:xfrm>
            <a:custGeom>
              <a:avLst/>
              <a:gdLst/>
              <a:ahLst/>
              <a:cxnLst/>
              <a:rect r="r" b="b" t="t" l="l"/>
              <a:pathLst>
                <a:path h="2942590" w="2962529">
                  <a:moveTo>
                    <a:pt x="0" y="0"/>
                  </a:moveTo>
                  <a:lnTo>
                    <a:pt x="2962529" y="0"/>
                  </a:lnTo>
                  <a:lnTo>
                    <a:pt x="2962529" y="2942590"/>
                  </a:lnTo>
                  <a:lnTo>
                    <a:pt x="0" y="2942590"/>
                  </a:lnTo>
                  <a:close/>
                </a:path>
              </a:pathLst>
            </a:custGeom>
            <a:solidFill>
              <a:srgbClr val="A100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962478" cy="2961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Photo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5395200">
            <a:off x="5746442" y="5669880"/>
            <a:ext cx="6795116" cy="0"/>
          </a:xfrm>
          <a:prstGeom prst="line">
            <a:avLst/>
          </a:prstGeom>
          <a:ln cap="rnd" w="9525">
            <a:solidFill>
              <a:srgbClr val="460073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8" id="18"/>
          <p:cNvSpPr/>
          <p:nvPr/>
        </p:nvSpPr>
        <p:spPr>
          <a:xfrm rot="12660">
            <a:off x="3930072" y="4510688"/>
            <a:ext cx="2586552" cy="0"/>
          </a:xfrm>
          <a:prstGeom prst="line">
            <a:avLst/>
          </a:prstGeom>
          <a:ln cap="rnd" w="9525">
            <a:solidFill>
              <a:srgbClr val="460073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19" id="19"/>
          <p:cNvGrpSpPr/>
          <p:nvPr/>
        </p:nvGrpSpPr>
        <p:grpSpPr>
          <a:xfrm rot="0">
            <a:off x="4127116" y="6305026"/>
            <a:ext cx="2212057" cy="1216743"/>
            <a:chOff x="0" y="0"/>
            <a:chExt cx="2949410" cy="162232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49414" cy="1622322"/>
            </a:xfrm>
            <a:custGeom>
              <a:avLst/>
              <a:gdLst/>
              <a:ahLst/>
              <a:cxnLst/>
              <a:rect r="r" b="b" t="t" l="l"/>
              <a:pathLst>
                <a:path h="1622322" w="2949414">
                  <a:moveTo>
                    <a:pt x="0" y="0"/>
                  </a:moveTo>
                  <a:lnTo>
                    <a:pt x="2949414" y="0"/>
                  </a:lnTo>
                  <a:lnTo>
                    <a:pt x="2949414" y="1622322"/>
                  </a:lnTo>
                  <a:lnTo>
                    <a:pt x="0" y="16223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573" t="0" r="-2057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2949410" cy="1593748"/>
            </a:xfrm>
            <a:prstGeom prst="rect">
              <a:avLst/>
            </a:prstGeom>
          </p:spPr>
          <p:txBody>
            <a:bodyPr anchor="b" rtlCol="false" tIns="0" lIns="0" bIns="0" rIns="0" wrap="square"/>
            <a:lstStyle/>
            <a:p>
              <a:pPr algn="l">
                <a:lnSpc>
                  <a:spcPts val="5832"/>
                </a:lnSpc>
              </a:pPr>
              <a:r>
                <a:rPr sz="2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Harshit Saini</a:t>
              </a:r>
            </a:p>
            <a:p>
              <a:r>
                <a:rPr sz="1400" b="1" i="0">
                  <a:solidFill>
                    <a:srgbClr val="808080"/>
                  </a:solidFill>
                  <a:latin typeface="Arial"/>
                  <a:ea typeface="Arial"/>
                  <a:cs typeface="Arial"/>
                </a:rPr>
                <a:t>B24CS1031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rot="12660">
            <a:off x="4122344" y="7647975"/>
            <a:ext cx="2586552" cy="0"/>
          </a:xfrm>
          <a:prstGeom prst="line">
            <a:avLst/>
          </a:prstGeom>
          <a:ln cap="rnd" w="9525">
            <a:solidFill>
              <a:srgbClr val="460073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23" id="23"/>
          <p:cNvGrpSpPr/>
          <p:nvPr/>
        </p:nvGrpSpPr>
        <p:grpSpPr>
          <a:xfrm rot="0">
            <a:off x="10926023" y="3608661"/>
            <a:ext cx="2151326" cy="2206981"/>
            <a:chOff x="0" y="0"/>
            <a:chExt cx="2868435" cy="294264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68422" cy="2942590"/>
            </a:xfrm>
            <a:custGeom>
              <a:avLst/>
              <a:gdLst/>
              <a:ahLst/>
              <a:cxnLst/>
              <a:rect r="r" b="b" t="t" l="l"/>
              <a:pathLst>
                <a:path h="2942590" w="2868422">
                  <a:moveTo>
                    <a:pt x="0" y="0"/>
                  </a:moveTo>
                  <a:lnTo>
                    <a:pt x="2868422" y="0"/>
                  </a:lnTo>
                  <a:lnTo>
                    <a:pt x="2868422" y="2942590"/>
                  </a:lnTo>
                  <a:lnTo>
                    <a:pt x="0" y="294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9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748461" y="3148374"/>
            <a:ext cx="2155946" cy="1216743"/>
            <a:chOff x="0" y="0"/>
            <a:chExt cx="2874594" cy="162232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874594" cy="1622322"/>
            </a:xfrm>
            <a:custGeom>
              <a:avLst/>
              <a:gdLst/>
              <a:ahLst/>
              <a:cxnLst/>
              <a:rect r="r" b="b" t="t" l="l"/>
              <a:pathLst>
                <a:path h="1622322" w="2874594">
                  <a:moveTo>
                    <a:pt x="0" y="0"/>
                  </a:moveTo>
                  <a:lnTo>
                    <a:pt x="2874594" y="0"/>
                  </a:lnTo>
                  <a:lnTo>
                    <a:pt x="2874594" y="1622322"/>
                  </a:lnTo>
                  <a:lnTo>
                    <a:pt x="0" y="16223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410" t="0" r="-2241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2874594" cy="1593748"/>
            </a:xfrm>
            <a:prstGeom prst="rect">
              <a:avLst/>
            </a:prstGeom>
          </p:spPr>
          <p:txBody>
            <a:bodyPr anchor="b" rtlCol="false" tIns="0" lIns="0" bIns="0" rIns="0" wrap="square"/>
            <a:lstStyle/>
            <a:p>
              <a:pPr algn="l">
                <a:lnSpc>
                  <a:spcPts val="5832"/>
                </a:lnSpc>
              </a:pPr>
              <a:r>
                <a:rPr sz="2600" b="1" i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Jayant Soni</a:t>
              </a:r>
            </a:p>
            <a:p>
              <a:r>
                <a:rPr sz="1400" b="1" i="0">
                  <a:solidFill>
                    <a:srgbClr val="808080"/>
                  </a:solidFill>
                  <a:latin typeface="Arial"/>
                  <a:ea typeface="Arial"/>
                  <a:cs typeface="Arial"/>
                </a:rPr>
                <a:t>B24CM1033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rot="12660">
            <a:off x="13722115" y="4510688"/>
            <a:ext cx="2586552" cy="0"/>
          </a:xfrm>
          <a:prstGeom prst="line">
            <a:avLst/>
          </a:prstGeom>
          <a:ln cap="rnd" w="9525">
            <a:solidFill>
              <a:srgbClr val="460073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aphicFrame>
        <p:nvGraphicFramePr>
          <p:cNvPr name="Table 29" id="29"/>
          <p:cNvGraphicFramePr>
            <a:graphicFrameLocks noGrp="true"/>
          </p:cNvGraphicFramePr>
          <p:nvPr/>
        </p:nvGraphicFramePr>
        <p:xfrm>
          <a:off x="692870" y="1759536"/>
          <a:ext cx="17411700" cy="552450"/>
        </p:xfrm>
        <a:graphic>
          <a:graphicData uri="http://schemas.openxmlformats.org/drawingml/2006/table">
            <a:tbl>
              <a:tblPr/>
              <a:tblGrid>
                <a:gridCol w="6572574"/>
                <a:gridCol w="10839126"/>
              </a:tblGrid>
              <a:tr h="552450">
                <a:tc>
                  <a:txBody>
                    <a:bodyPr anchor="t" rtlCol="false" wrap="squar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sz="2000" b="1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TEAM NAME:  b24bb1029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6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6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anchor="t" rtlCol="false" wrap="squar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sz="2000" b="1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Indian Institute of Technology Jodhpur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6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6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</a:tr>
            </a:tbl>
          </a:graphicData>
        </a:graphic>
      </p:graphicFrame>
      <p:sp>
        <p:nvSpPr>
          <p:cNvPr name="TextBox 30" id="30"/>
          <p:cNvSpPr txBox="true"/>
          <p:nvPr/>
        </p:nvSpPr>
        <p:spPr>
          <a:xfrm rot="0">
            <a:off x="4026284" y="4738821"/>
            <a:ext cx="4206240" cy="897103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160"/>
              </a:lnSpc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College: Indian Institute of Technology Jodhpur</a:t>
            </a:r>
          </a:p>
          <a:p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Stream: Bioengineering</a:t>
            </a:r>
          </a:p>
          <a:p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Year of graduation: 2028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047868" y="7880737"/>
            <a:ext cx="4206240" cy="897103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160"/>
              </a:lnSpc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College: Indian Institute of Technology Jodhpur</a:t>
            </a:r>
          </a:p>
          <a:p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Stream: Computer Science</a:t>
            </a:r>
          </a:p>
          <a:p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Year of graduation: 2028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75522" y="4738821"/>
            <a:ext cx="4206240" cy="897103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2160"/>
              </a:lnSpc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College: Indian Institute of Technology Jodhpur</a:t>
            </a:r>
          </a:p>
          <a:p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Stream: Artificial Intelligence &amp; Data Science</a:t>
            </a:r>
          </a:p>
          <a:p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Year of graduation: 2028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64955" y="6542303"/>
            <a:ext cx="2151326" cy="2206981"/>
            <a:chOff x="0" y="0"/>
            <a:chExt cx="2868435" cy="294264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68422" cy="2942590"/>
            </a:xfrm>
            <a:custGeom>
              <a:avLst/>
              <a:gdLst/>
              <a:ahLst/>
              <a:cxnLst/>
              <a:rect r="r" b="b" t="t" l="l"/>
              <a:pathLst>
                <a:path h="2942590" w="2868422">
                  <a:moveTo>
                    <a:pt x="0" y="0"/>
                  </a:moveTo>
                  <a:lnTo>
                    <a:pt x="2868422" y="0"/>
                  </a:lnTo>
                  <a:lnTo>
                    <a:pt x="2868422" y="2942590"/>
                  </a:lnTo>
                  <a:lnTo>
                    <a:pt x="0" y="294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79"/>
              </a:stretch>
            </a:blipFill>
          </p:spPr>
        </p:sp>
      </p:grpSp>
      <p:sp>
        <p:nvSpPr>
          <p:cNvPr id="35" name="TextBox 34"/>
          <p:cNvSpPr txBox="1"/>
          <p:nvPr/>
        </p:nvSpPr>
        <p:spPr>
          <a:xfrm>
            <a:off x="1280160" y="3758184"/>
            <a:ext cx="2167128" cy="2203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Photo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82528" y="3758184"/>
            <a:ext cx="2167128" cy="2203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Photo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1A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name="Freeform 3" id="3" descr="A purple and black background  AI-generated content may be incorrect.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88" b="0"/>
              </a:stretch>
            </a:blip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13547865" y="9644777"/>
            <a:ext cx="3597135" cy="184671"/>
            <a:chOff x="0" y="0"/>
            <a:chExt cx="4796180" cy="2462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96184" cy="246222"/>
            </a:xfrm>
            <a:custGeom>
              <a:avLst/>
              <a:gdLst/>
              <a:ahLst/>
              <a:cxnLst/>
              <a:rect r="r" b="b" t="t" l="l"/>
              <a:pathLst>
                <a:path h="246222" w="4796184">
                  <a:moveTo>
                    <a:pt x="0" y="0"/>
                  </a:moveTo>
                  <a:lnTo>
                    <a:pt x="4796184" y="0"/>
                  </a:lnTo>
                  <a:lnTo>
                    <a:pt x="4796184" y="246222"/>
                  </a:lnTo>
                  <a:lnTo>
                    <a:pt x="0" y="2462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549" r="0" b="-329551"/>
              </a:stretch>
            </a:blip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796180" cy="2652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D9D9D9"/>
                  </a:solidFill>
                  <a:latin typeface="Arial"/>
                  <a:ea typeface="Arial"/>
                  <a:cs typeface="Arial"/>
                  <a:sym typeface="Arial"/>
                </a:rPr>
                <a:t>Copyright © 2026 Accenture. All rights reserved.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528943" y="9644777"/>
            <a:ext cx="187557" cy="184671"/>
            <a:chOff x="0" y="0"/>
            <a:chExt cx="250076" cy="2462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0070" cy="246222"/>
            </a:xfrm>
            <a:custGeom>
              <a:avLst/>
              <a:gdLst/>
              <a:ahLst/>
              <a:cxnLst/>
              <a:rect r="r" b="b" t="t" l="l"/>
              <a:pathLst>
                <a:path h="246222" w="250070">
                  <a:moveTo>
                    <a:pt x="0" y="0"/>
                  </a:moveTo>
                  <a:lnTo>
                    <a:pt x="250070" y="0"/>
                  </a:lnTo>
                  <a:lnTo>
                    <a:pt x="250070" y="246222"/>
                  </a:lnTo>
                  <a:lnTo>
                    <a:pt x="0" y="2462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6331" t="0" r="-76333" b="-2"/>
              </a:stretch>
            </a:blip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50076" cy="265278"/>
            </a:xfrm>
            <a:prstGeom prst="rect">
              <a:avLst/>
            </a:prstGeom>
          </p:spPr>
          <p:txBody>
            <a:bodyPr anchor="ctr" rtlCol="false" tIns="0" lIns="0" bIns="0" rIns="0" wrap="square"/>
            <a:lstStyle/>
            <a:p>
              <a:pPr algn="r">
                <a:lnSpc>
                  <a:spcPts val="1439"/>
                </a:lnSpc>
              </a:pPr>
              <a:r>
                <a:rPr sz="1200" b="0" i="0">
                  <a:solidFill>
                    <a:srgbClr val="808080"/>
                  </a:solidFill>
                  <a:latin typeface="Arial"/>
                  <a:ea typeface="Arial"/>
                  <a:cs typeface="Arial"/>
                </a:rPr>
                <a:t>34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42401" y="9575997"/>
            <a:ext cx="274939" cy="301752"/>
            <a:chOff x="0" y="0"/>
            <a:chExt cx="366586" cy="402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6649" cy="402336"/>
            </a:xfrm>
            <a:custGeom>
              <a:avLst/>
              <a:gdLst/>
              <a:ahLst/>
              <a:cxnLst/>
              <a:rect r="r" b="b" t="t" l="l"/>
              <a:pathLst>
                <a:path h="402336" w="366649">
                  <a:moveTo>
                    <a:pt x="0" y="402336"/>
                  </a:moveTo>
                  <a:lnTo>
                    <a:pt x="366649" y="253619"/>
                  </a:lnTo>
                  <a:lnTo>
                    <a:pt x="366649" y="148717"/>
                  </a:lnTo>
                  <a:lnTo>
                    <a:pt x="0" y="0"/>
                  </a:lnTo>
                  <a:lnTo>
                    <a:pt x="0" y="105029"/>
                  </a:lnTo>
                  <a:lnTo>
                    <a:pt x="236982" y="201168"/>
                  </a:lnTo>
                  <a:lnTo>
                    <a:pt x="0" y="297307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87023" y="5143500"/>
            <a:ext cx="7785783" cy="1477327"/>
            <a:chOff x="0" y="0"/>
            <a:chExt cx="10381044" cy="19697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81046" cy="1969770"/>
            </a:xfrm>
            <a:custGeom>
              <a:avLst/>
              <a:gdLst/>
              <a:ahLst/>
              <a:cxnLst/>
              <a:rect r="r" b="b" t="t" l="l"/>
              <a:pathLst>
                <a:path h="1969770" w="10381046">
                  <a:moveTo>
                    <a:pt x="0" y="0"/>
                  </a:moveTo>
                  <a:lnTo>
                    <a:pt x="10381046" y="0"/>
                  </a:lnTo>
                  <a:lnTo>
                    <a:pt x="10381046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689" r="0" b="-52689"/>
              </a:stretch>
            </a:blipFill>
          </p:spPr>
          <p:txBody>
            <a:bodyPr/>
            <a:p/>
          </p:txBody>
        </p:sp>
        <p:sp>
          <p:nvSpPr>
            <p:cNvPr name="TextBox 14" id="14"/>
            <p:cNvSpPr txBox="true"/>
            <p:nvPr/>
          </p:nvSpPr>
          <p:spPr>
            <a:xfrm>
              <a:off x="0" y="228600"/>
              <a:ext cx="10381044" cy="1741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sz="1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Thank you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160520" y="69037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ControlPlane: oversight for AI, built under oversight.</a:t>
            </a:r>
          </a:p>
          <a:p>
            <a:pPr algn="ctr">
              <a:spcBef>
                <a:spcPts val="800"/>
              </a:spcBef>
              <a:spcAft>
                <a:spcPts val="0"/>
              </a:spcAft>
            </a:pPr>
            <a:r>
              <a:rPr sz="1800" b="0" i="0">
                <a:solidFill>
                  <a:srgbClr val="E6BFFF"/>
                </a:solidFill>
                <a:latin typeface="Arial"/>
                <a:ea typeface="Arial"/>
                <a:cs typeface="Arial"/>
              </a:rPr>
              <a:t>Team b24bb1029 · Indian Institute of Technology Jodhpur · 30 August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38911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68981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Enterprises adopted AI faster than they can supervise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700784"/>
            <a:ext cx="1417320" cy="502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011680"/>
            <a:ext cx="16898111" cy="6846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ControlPlane is a reverse-proxy oversight gateway. Applications change one base URL; every response is then scored across three planes and converged into exactly one verdict (Pass, Edit, Block or Escalate) before delivery.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2976372"/>
            <a:ext cx="118872" cy="11887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889504"/>
            <a:ext cx="1004925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88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72% of organisations </a:t>
            </a: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generative AI; 80%+ of pilots never reach production [M-03]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3451860"/>
            <a:ext cx="118872" cy="11887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364992"/>
            <a:ext cx="1004925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88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EU AI Act </a:t>
            </a: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exposure reaches €35M or 7% of global turnover [M-01]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3927348"/>
            <a:ext cx="118872" cy="11887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840480"/>
            <a:ext cx="1004925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88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DPDP Act </a:t>
            </a: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exposure reaches ₹250 crore per instance [M-02]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" y="4402836"/>
            <a:ext cx="118872" cy="11887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4315968"/>
            <a:ext cx="1004925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88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governing policy is a YAML file </a:t>
            </a: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 business pipeline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4878323"/>
            <a:ext cx="118872" cy="11887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791455"/>
            <a:ext cx="1004925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88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pipelines, three verdicts </a:t>
            </a: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 identical content, zero code difference [B-01]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" y="5353811"/>
            <a:ext cx="118872" cy="11887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5266943"/>
            <a:ext cx="1004925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88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LLM in the decision path: </a:t>
            </a: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verdict layer is deterministic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75720" y="2871216"/>
            <a:ext cx="6117336" cy="27432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THE ASK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31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INR 1.6 crore (~US$190,000)</a:t>
            </a:r>
          </a:p>
          <a:p>
            <a:pPr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Indicative pre-seed for 12 months, to convert this prototype into three design-partner pilots within two quarters.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[model] · §10.4 of the proposal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" y="6126480"/>
            <a:ext cx="3154680" cy="2103120"/>
          </a:xfrm>
          <a:prstGeom prst="rect">
            <a:avLst/>
          </a:prstGeom>
          <a:solidFill>
            <a:srgbClr val="EC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840/840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5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policy-engine verdicts correct across the frozen corpus × 3 policies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50" b="1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[B-01]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42232" y="6126480"/>
            <a:ext cx="3154680" cy="2103120"/>
          </a:xfrm>
          <a:prstGeom prst="rect">
            <a:avLst/>
          </a:prstGeom>
          <a:solidFill>
            <a:srgbClr val="EC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1.000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5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tier-1 PII precision, zero false alarms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50" b="1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[B-02]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6126480"/>
            <a:ext cx="3154680" cy="2103120"/>
          </a:xfrm>
          <a:prstGeom prst="rect">
            <a:avLst/>
          </a:prstGeom>
          <a:solidFill>
            <a:srgbClr val="EC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0.133 ms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5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tier-1 PII detector P99 against a 2 ms budget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50" b="1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[B-05]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036808" y="6126480"/>
            <a:ext cx="3154680" cy="2103120"/>
          </a:xfrm>
          <a:prstGeom prst="rect">
            <a:avLst/>
          </a:prstGeom>
          <a:solidFill>
            <a:srgbClr val="EC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39/39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5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fault-injection assertions across 5 quiet-host runs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50" b="1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[B-07]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484096" y="6126480"/>
            <a:ext cx="3154680" cy="2103120"/>
          </a:xfrm>
          <a:prstGeom prst="rect">
            <a:avLst/>
          </a:prstGeom>
          <a:solidFill>
            <a:srgbClr val="EC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1,200+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5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tests green on two machines and CI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50" b="1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[B-09]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9015984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Source: reports/eval_report.md · reproduce: python -m eval.run_all  ·  Source: reports/latency_report.md · reproduce: python -m eval.bench_latency --check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10287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3246120"/>
            <a:ext cx="54864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440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5257800"/>
            <a:ext cx="12801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6446520"/>
            <a:ext cx="11887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E6BFFF"/>
                </a:solidFill>
                <a:latin typeface="Arial"/>
                <a:ea typeface="Arial"/>
                <a:cs typeface="Arial"/>
              </a:rPr>
              <a:t>Three failures, one root cause, and a regulatory clock that has already started.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9D9D9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9D9D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38911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68981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different failures. One identical root cause.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700784"/>
            <a:ext cx="1417320" cy="502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011680"/>
            <a:ext cx="16898111" cy="360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bank runs three AI assistants. Three teams discover three incidents, weeks later, from three different systems.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3017520"/>
            <a:ext cx="5413248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90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WRONG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customer chatbot confidently states a loan approval that never happened.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80" b="1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PERFORMANCE PLANE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37376" y="3017520"/>
            <a:ext cx="5413248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90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LEAKY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internal HR assistant repeats an employee's phone number into a chat transcript.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80" b="1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RESPONSIBILITY PLANE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79808" y="3017520"/>
            <a:ext cx="5413248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90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EXPENSIVE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</a:pPr>
            <a:r>
              <a:rPr sz="19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advisory tool loops on a malformed integration and burns inference budget for a week.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80" b="1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COST PLANE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" y="6108192"/>
            <a:ext cx="16898111" cy="1481328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9184" rIns="329184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Nothing is supervising the AI at the moment it speaks.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7882127"/>
            <a:ext cx="1689811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Observability platforms report after delivery. Guardrail engines filter one category of harm. Gateways route traffic. None makes one accountable, policy-governed decision per response across all three risk planes.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9015984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Source: proposal §3.1 · McKinsey State of AI 2025 and Gartner survey series [M-03]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38911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PROBLEM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68981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market is a funnel that jams at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700784"/>
            <a:ext cx="1417320" cy="502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" y="2395728"/>
          <a:ext cx="11018519" cy="54132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045559"/>
                <a:gridCol w="3900361"/>
                <a:gridCol w="1072599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Figure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Enterprises using genAI in at least one function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72%, up from 33% the prior year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[M-03]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Enterprise genAI pilots that never reach production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over 80%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[M-03]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Enterprises reporting &gt;5% EBIT impact from genAI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6%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[M-03]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Average production genAI use cases per large enterprise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5.0, up 101% year over year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[M-03]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Documented, largely unvalidated use cases per enterprise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~211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[M-03]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Advanced AI projects cancelled for lack of governance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40%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[M-12]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AI systems classified high-risk / unclassified grey area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18% / 40%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[M-12]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Estimated recurring EU-wide AI compliance cost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€3.3 billion annually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[M-12]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Unshielded LLM endpoints vulnerable to injection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up to 80%+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[M-05]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1887200" y="2395728"/>
            <a:ext cx="5705856" cy="299923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READ THE FUNNEL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300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~211 ideas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300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5.0 live use cases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300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80%+ of pilots dead</a:t>
            </a:r>
          </a:p>
          <a:p>
            <a:pPr algn="l">
              <a:lnSpc>
                <a:spcPct val="106000"/>
              </a:lnSpc>
              <a:spcBef>
                <a:spcPts val="80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Governance is not the only reason pilots stall, but it is a named one, and the reason a 40% cancellation statistic attaches to directly.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0" y="5449824"/>
            <a:ext cx="5705856" cy="2157984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01168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E6BFFF"/>
                </a:solidFill>
                <a:latin typeface="Arial"/>
                <a:ea typeface="Arial"/>
                <a:cs typeface="Arial"/>
              </a:rPr>
              <a:t>THE SECURITY DIMENSION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</a:pPr>
            <a:r>
              <a:rPr sz="188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OWASP ranks prompt injection #1 (LLM01) and sensitive-information disclosure #6 (LLM06).</a:t>
            </a:r>
          </a:p>
          <a:p>
            <a:pPr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</a:pPr>
            <a:r>
              <a:rPr sz="1720" b="0" i="0">
                <a:solidFill>
                  <a:srgbClr val="E6BFFF"/>
                </a:solidFill>
                <a:latin typeface="Arial"/>
                <a:ea typeface="Arial"/>
                <a:cs typeface="Arial"/>
              </a:rPr>
              <a:t>Both are response-path problems. Neither is solvable by an offline evaluation report: by the time it runs, the response has shipped.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9015984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Sources: McKinsey State of AI 2025 / Gartner [M-03] · appliedAI and DIGITALEUROPE compliance study, Jul 2026 [M-12] · OWASP GenAI LLM Top 10, Aug 2026 [M-05]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38911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REGULATORY FORCING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68981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regulatory clock has already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700784"/>
            <a:ext cx="1417320" cy="502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" y="2331720"/>
          <a:ext cx="16898109" cy="5532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45589"/>
                <a:gridCol w="6091179"/>
                <a:gridCol w="6877138"/>
                <a:gridCol w="884203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Regime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Exposure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Src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</a:tr>
              <a:tr h="1691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EU AI Act</a:t>
                      </a:r>
                      <a:br/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(Reg. (EU) 2024/1689)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€35M / 7% turnover: prohibited practices</a:t>
                      </a:r>
                      <a:br/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€15M / 3%: high-risk, GPAI, transparency</a:t>
                      </a:r>
                      <a:br/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€7.5M / 1%: misrepresentation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 force. Prohibited-practice ban since Feb 2025; GPAI obligations and administrative fines active since Aug 2025; Annex III high-risk deferred to Dec 2027 by Reg. (EU) 2026/1744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[M-01]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1691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India DPDP Act 2023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Up to ₹250 crore per instance: failure of reasonable security safeguards</a:t>
                      </a:r>
                      <a:br/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₹200 crore: breach-notification failure</a:t>
                      </a:r>
                      <a:br/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₹150 crore: significant-data-fiduciary duties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Rules notified; Data Protection Board adjudication framework operational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[M-02]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  <a:tr h="1691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Sectoral regimes</a:t>
                      </a:r>
                      <a:br/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(RBI/SEBI, HIPAA, model risk)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Licence, audit and reputational exposure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Ongoing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[M-12]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94944" y="7342631"/>
            <a:ext cx="16898111" cy="71323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88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Obligations vary by use case and jurisdiction.  </a:t>
            </a: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same model serving a chatbot and a credit-decision tool sits in two risk classes. Any system that hard-codes one global policy is already wrong.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8129015"/>
            <a:ext cx="16898111" cy="713232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88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Compliance is becoming a procurement requirement.  </a:t>
            </a: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Buyers now demand automated logging, dataset lineage and risk-tier evidence in vendor RFPs.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8961119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Sources: eur-lex.europa.eu [M-01] · MeitY / PIB DPDP Rules 2025 notification [M-02] · appliedAI / DIGITALEUROPE [M-12]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10287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3246120"/>
            <a:ext cx="54864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440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5257800"/>
            <a:ext cx="12801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6446520"/>
            <a:ext cx="11887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E6BFFF"/>
                </a:solidFill>
                <a:latin typeface="Arial"/>
                <a:ea typeface="Arial"/>
                <a:cs typeface="Arial"/>
              </a:rPr>
              <a:t>One URL change, three planes of detection, and exactly one verdict per response.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9D9D9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9D9D9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38911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68981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URL change puts every response under supervision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700784"/>
            <a:ext cx="1417320" cy="502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011680"/>
            <a:ext cx="16898111" cy="6846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ControlPlane is a reverse proxy between an application and its LLM provider. The application's code, prompts and provider relationship are untouched.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2962656"/>
            <a:ext cx="8266175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4630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1 · Ingress</a:t>
            </a:r>
          </a:p>
          <a:p>
            <a:pPr algn="l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Resolves which business pipeline this request belongs to, and loads that pipeline's policy version.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79" y="2962656"/>
            <a:ext cx="8266175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4630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2 · Input lane</a:t>
            </a:r>
          </a:p>
          <a:p>
            <a:pPr algn="l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Pattern detectors and an injection classifier run before the provider is called. The provider never receives the raw PII value.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4352544"/>
            <a:ext cx="8266175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4630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3 · Dispatch</a:t>
            </a:r>
          </a:p>
          <a:p>
            <a:pPr algn="l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Any OpenAI-compatible provider, cloud or fully local, with tiered routing and a boot-time accounting canary.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79" y="4352544"/>
            <a:ext cx="8266175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4630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4 · Output lane</a:t>
            </a:r>
          </a:p>
          <a:p>
            <a:pPr algn="l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Streamed responses are buffered and checked sentence by sentence. High-stakes pipelines buffer fully.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5742432"/>
            <a:ext cx="8266175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4630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5 · Policy engine</a:t>
            </a:r>
          </a:p>
          <a:p>
            <a:pPr algn="l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signals converge into exactly one verdict, by documented severity order.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79" y="5742432"/>
            <a:ext cx="8266175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4630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2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6 · Audit and review</a:t>
            </a:r>
          </a:p>
          <a:p>
            <a:pPr algn="l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Append-only record: categories, never raw values. Escalations enter a human review queue with full lineage.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" y="7589520"/>
            <a:ext cx="16898111" cy="9692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54864" bIns="54864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LLM sits in the decision path. Same signals plus same policy version always produce the same verdict, which is what makes it usable as compliance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9015984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Source: proposal §4.1 and §5.1 · architecture in docs/02-architecture.md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38911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68981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request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700784"/>
            <a:ext cx="1417320" cy="502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011680"/>
            <a:ext cx="16898111" cy="360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Six stages, one decision point. The policy engine is the only place a verdict is issued.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2889504"/>
            <a:ext cx="2557272" cy="2560320"/>
          </a:xfrm>
          <a:prstGeom prst="roundRect">
            <a:avLst>
              <a:gd name="adj" fmla="val 10000"/>
            </a:avLst>
          </a:prstGeom>
          <a:solidFill>
            <a:srgbClr val="E6B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APP</a:t>
            </a:r>
          </a:p>
          <a:p>
            <a:pPr algn="ctr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</a:pPr>
            <a:r>
              <a:rPr sz="1650" b="0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One URL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3112" y="2889504"/>
            <a:ext cx="2557272" cy="2560320"/>
          </a:xfrm>
          <a:prstGeom prst="roundRect">
            <a:avLst>
              <a:gd name="adj" fmla="val 10000"/>
            </a:avLst>
          </a:prstGeom>
          <a:solidFill>
            <a:srgbClr val="E6B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INPUT LANE</a:t>
            </a:r>
          </a:p>
          <a:p>
            <a:pPr algn="ctr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</a:pPr>
            <a:r>
              <a:rPr sz="1650" b="0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PII scrub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1650" b="0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Injection screen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31279" y="2889504"/>
            <a:ext cx="2557272" cy="256032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</a:t>
            </a:r>
          </a:p>
          <a:p>
            <a:pPr algn="ctr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Any provider,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99447" y="2889504"/>
            <a:ext cx="2557272" cy="2560320"/>
          </a:xfrm>
          <a:prstGeom prst="roundRect">
            <a:avLst>
              <a:gd name="adj" fmla="val 10000"/>
            </a:avLst>
          </a:prstGeom>
          <a:solidFill>
            <a:srgbClr val="E6B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SENTENCE BUFFER</a:t>
            </a:r>
          </a:p>
          <a:p>
            <a:pPr algn="ctr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</a:pPr>
            <a:r>
              <a:rPr sz="1650" b="0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Checks before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1650" b="0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release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167615" y="2889504"/>
            <a:ext cx="2557272" cy="2560320"/>
          </a:xfrm>
          <a:prstGeom prst="roundRect">
            <a:avLst>
              <a:gd name="adj" fmla="val 10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POLICY ENGINE</a:t>
            </a:r>
          </a:p>
          <a:p>
            <a:pPr algn="ctr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verdict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35783" y="2889504"/>
            <a:ext cx="2557272" cy="2560320"/>
          </a:xfrm>
          <a:prstGeom prst="roundRect">
            <a:avLst>
              <a:gd name="adj" fmla="val 10000"/>
            </a:avLst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 + HITL</a:t>
            </a:r>
          </a:p>
          <a:p>
            <a:pPr algn="ctr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97936" y="4169664"/>
            <a:ext cx="219456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166104" y="4169664"/>
            <a:ext cx="219455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034272" y="4169664"/>
            <a:ext cx="219455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902440" y="4169664"/>
            <a:ext cx="219455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770608" y="4169664"/>
            <a:ext cx="219455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4944" y="6108192"/>
            <a:ext cx="1689811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FOUR VERDICTS. ONE ACCOUNTABLE DECISION PER RESPONSE.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" y="6620256"/>
            <a:ext cx="3950207" cy="1133856"/>
          </a:xfrm>
          <a:prstGeom prst="roundRect">
            <a:avLst>
              <a:gd name="adj" fmla="val 50000"/>
            </a:avLst>
          </a:prstGeom>
          <a:solidFill>
            <a:srgbClr val="E6B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10912" y="6620256"/>
            <a:ext cx="3950207" cy="1133856"/>
          </a:xfrm>
          <a:prstGeom prst="roundRect">
            <a:avLst>
              <a:gd name="adj" fmla="val 50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6620256"/>
            <a:ext cx="3950207" cy="1133856"/>
          </a:xfrm>
          <a:prstGeom prst="roundRect">
            <a:avLst>
              <a:gd name="adj" fmla="val 50000"/>
            </a:avLst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642848" y="6620256"/>
            <a:ext cx="3950207" cy="1133856"/>
          </a:xfrm>
          <a:prstGeom prst="roundRect">
            <a:avLst>
              <a:gd name="adj" fmla="val 50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9015984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Source: docs/02-architecture.md and docs/04-policy-and-detection-spec.md · verdict conformance 840/840 · reproduce: python -m eval.run_all [B-01]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38911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WHY CONVERGENCE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68981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signal, three business consequences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700784"/>
            <a:ext cx="1417320" cy="502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2395728"/>
            <a:ext cx="5852160" cy="1554480"/>
          </a:xfrm>
          <a:prstGeom prst="roundRect">
            <a:avLst>
              <a:gd name="adj" fmla="val 10000"/>
            </a:avLst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UNCERTAINTY SCORE</a:t>
            </a:r>
          </a:p>
          <a:p>
            <a:pPr algn="ctr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sure is the system?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6446520"/>
            <a:ext cx="4474463" cy="1874519"/>
          </a:xfrm>
          <a:prstGeom prst="roundRect">
            <a:avLst>
              <a:gd name="adj" fmla="val 10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PERFORMANCE</a:t>
            </a:r>
          </a:p>
          <a:p>
            <a:pPr algn="ctr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Flag or verify the answer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932175" y="3950208"/>
            <a:ext cx="4222090" cy="2459736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860340" y="4969764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low confidence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= likely wrong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6767" y="6446520"/>
            <a:ext cx="4474463" cy="1874519"/>
          </a:xfrm>
          <a:prstGeom prst="roundRect">
            <a:avLst>
              <a:gd name="adj" fmla="val 10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COST</a:t>
            </a:r>
          </a:p>
          <a:p>
            <a:pPr algn="ctr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Should have used a cheaper model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54265" y="3950208"/>
            <a:ext cx="1989734" cy="2459736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966252" y="4969764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low confidence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= overspent compute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118591" y="6446520"/>
            <a:ext cx="4474463" cy="1874519"/>
          </a:xfrm>
          <a:prstGeom prst="roundRect">
            <a:avLst>
              <a:gd name="adj" fmla="val 10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RESPONSIBILITY</a:t>
            </a:r>
          </a:p>
          <a:p>
            <a:pPr algn="ctr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Escalate for human review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133734" y="3950208"/>
            <a:ext cx="4222089" cy="2459736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75899" y="4969764"/>
            <a:ext cx="2651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low confidence</a:t>
            </a:r>
          </a:p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= needs human eyes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8577072"/>
            <a:ext cx="168981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planes, one signal, one converged verdict: the layer no competing product assembles.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9015984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Source: proposal §5.2 · multi-label signal contract in docs/04-policy-and-detection-spec.md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38911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DECISION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68981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four verdicts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700784"/>
            <a:ext cx="1417320" cy="502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011680"/>
            <a:ext cx="16898111" cy="360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response leaves the gateway with exactly one verdict, resolved by documented severity order, never by filter order.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2359152"/>
            <a:ext cx="6583680" cy="1481328"/>
          </a:xfrm>
          <a:prstGeom prst="roundRect">
            <a:avLst>
              <a:gd name="adj" fmla="val 10000"/>
            </a:avLst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POLICY ENGINE</a:t>
            </a:r>
          </a:p>
          <a:p>
            <a:pPr algn="ctr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signals × policy × severity order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5760720"/>
            <a:ext cx="3922775" cy="2240280"/>
          </a:xfrm>
          <a:prstGeom prst="roundRect">
            <a:avLst>
              <a:gd name="adj" fmla="val 10000"/>
            </a:avLst>
          </a:prstGeom>
          <a:solidFill>
            <a:srgbClr val="E6B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PASS</a:t>
            </a:r>
          </a:p>
          <a:p>
            <a:pPr algn="ctr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</a:pPr>
            <a:r>
              <a:rPr sz="1720" b="0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Delivered unchanged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656331" y="3840480"/>
            <a:ext cx="4512932" cy="1883664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42307" y="4663440"/>
            <a:ext cx="2651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no signal above 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0055" y="5760720"/>
            <a:ext cx="3922775" cy="2240280"/>
          </a:xfrm>
          <a:prstGeom prst="roundRect">
            <a:avLst>
              <a:gd name="adj" fmla="val 10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EDIT</a:t>
            </a:r>
          </a:p>
          <a:p>
            <a:pPr algn="ctr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</a:pPr>
            <a:r>
              <a:rPr sz="17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Span redacted or claim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17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softened, rest delivered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6981443" y="3840480"/>
            <a:ext cx="1504311" cy="1883664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811393" y="4663440"/>
            <a:ext cx="2651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transformable breach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45167" y="5760720"/>
            <a:ext cx="3922775" cy="2240280"/>
          </a:xfrm>
          <a:prstGeom prst="roundRect">
            <a:avLst>
              <a:gd name="adj" fmla="val 10000"/>
            </a:avLst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</a:t>
            </a:r>
          </a:p>
          <a:p>
            <a:pPr algn="ctr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</a:pPr>
            <a:r>
              <a:rPr sz="17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Policy fallback message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17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instead of model text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02245" y="3840480"/>
            <a:ext cx="1504310" cy="1883664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824846" y="4663440"/>
            <a:ext cx="2651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non-transformable breach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670279" y="5760720"/>
            <a:ext cx="3922775" cy="2240280"/>
          </a:xfrm>
          <a:prstGeom prst="roundRect">
            <a:avLst>
              <a:gd name="adj" fmla="val 10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ESCALATE</a:t>
            </a:r>
          </a:p>
          <a:p>
            <a:pPr algn="ctr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</a:pPr>
            <a:r>
              <a:rPr sz="17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Quarantined for human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17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review, nothing delivered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118736" y="3840480"/>
            <a:ext cx="4512931" cy="1883664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893932" y="4663440"/>
            <a:ext cx="2651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ambiguous or high-stakes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9015984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Source: verdict resolution 840/840 across the frozen corpus × 3 policies · reproduce: python -m eval.run_all [B-01]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38911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THE SIGNATURE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68981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Same content. Three policies. Three verdicts.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700784"/>
            <a:ext cx="1417320" cy="502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011680"/>
            <a:ext cx="5138928" cy="10086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is the thesis of the product: business context, not model behaviour, decides what happens to a response.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4663440"/>
            <a:ext cx="4160520" cy="233172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ONE RESPONSE</a:t>
            </a:r>
          </a:p>
          <a:p>
            <a:pPr algn="l">
              <a:lnSpc>
                <a:spcPct val="106000"/>
              </a:lnSpc>
              <a:spcBef>
                <a:spcPts val="500"/>
              </a:spcBef>
              <a:spcAft>
                <a:spcPts val="0"/>
              </a:spcAft>
            </a:pPr>
            <a:r>
              <a:rPr sz="19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 assistant reply that repeats a customer's SSN.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Identical detector stack. Identical content.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7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Only the YAML differs.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2395728"/>
            <a:ext cx="64465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support_bot.yaml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65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Customer-facing support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policy: redact_and_deliver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075920" y="2578608"/>
            <a:ext cx="4517136" cy="1554480"/>
          </a:xfrm>
          <a:prstGeom prst="roundRect">
            <a:avLst>
              <a:gd name="adj" fmla="val 14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EDIT</a:t>
            </a:r>
          </a:p>
          <a:p>
            <a:pPr algn="ctr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Span redacted, customer keeps the answer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4910327" y="3355848"/>
            <a:ext cx="1024129" cy="2473452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490704" y="3355848"/>
            <a:ext cx="530352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989320" y="4663440"/>
            <a:ext cx="64465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hr_copilot.yaml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65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Internal HR assistant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policy: block_on_personal_data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075920" y="4846320"/>
            <a:ext cx="4517136" cy="1554480"/>
          </a:xfrm>
          <a:prstGeom prst="roundRect">
            <a:avLst>
              <a:gd name="adj" fmla="val 14000"/>
            </a:avLst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</a:t>
            </a:r>
          </a:p>
          <a:p>
            <a:pPr algn="ctr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Policy fallback delivered instead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4910327" y="5623559"/>
            <a:ext cx="1024129" cy="205741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490704" y="5623559"/>
            <a:ext cx="530352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989320" y="6931152"/>
            <a:ext cx="64465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finance_advisor.yaml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65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Regulated advisory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policy: escalate_high_stakes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075920" y="7114032"/>
            <a:ext cx="4517136" cy="1554480"/>
          </a:xfrm>
          <a:prstGeom prst="roundRect">
            <a:avLst>
              <a:gd name="adj" fmla="val 14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ESCALATE</a:t>
            </a:r>
          </a:p>
          <a:p>
            <a:pPr algn="ctr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HTTP 202 · quarantined for human review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10327" y="5829300"/>
            <a:ext cx="1024129" cy="2061972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2490704" y="7891272"/>
            <a:ext cx="530352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4944" y="9015984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Source: reports/eval_report.md · 840/840 verdicts across 280 frozen cases × 3 policies, enforced by a test that fails if any use-case name reaches executable code · reproduce: python -m eval.run_all [B-01]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38911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68981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AI enables it: a tiered escalation ladder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700784"/>
            <a:ext cx="1417320" cy="502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011680"/>
            <a:ext cx="16898111" cy="6846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Latency is a hard constraint: published guidance puts acceptable inline guardrail overhead at under 20–50 ms [M-11]. So the watching side is deliberately tiered.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3529584"/>
            <a:ext cx="3087014" cy="3291840"/>
          </a:xfrm>
          <a:prstGeom prst="roundRect">
            <a:avLst>
              <a:gd name="adj" fmla="val 10000"/>
            </a:avLst>
          </a:prstGeom>
          <a:solidFill>
            <a:srgbClr val="E6B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Rung 0</a:t>
            </a:r>
          </a:p>
          <a:p>
            <a:pPr algn="ctr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</a:pPr>
            <a:r>
              <a:rPr sz="1720" b="0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Deterministic checks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1720" b="0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PII · Injection · Policy</a:t>
            </a:r>
          </a:p>
          <a:p>
            <a:pPr algn="ctr">
              <a:lnSpc>
                <a:spcPct val="92000"/>
              </a:lnSpc>
              <a:spcBef>
                <a:spcPts val="400"/>
              </a:spcBef>
              <a:spcAft>
                <a:spcPts val="0"/>
              </a:spcAft>
            </a:pPr>
            <a:r>
              <a:rPr sz="1650" b="0" i="1">
                <a:solidFill>
                  <a:srgbClr val="460073"/>
                </a:solidFill>
                <a:latin typeface="Arial"/>
                <a:ea typeface="Arial"/>
                <a:cs typeface="Arial"/>
              </a:rPr>
              <a:t>All traffic · sub-millisecond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47718" y="3529584"/>
            <a:ext cx="3087014" cy="3291840"/>
          </a:xfrm>
          <a:prstGeom prst="roundRect">
            <a:avLst>
              <a:gd name="adj" fmla="val 10000"/>
            </a:avLst>
          </a:prstGeom>
          <a:solidFill>
            <a:srgbClr val="E6B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Rung 1</a:t>
            </a:r>
          </a:p>
          <a:p>
            <a:pPr algn="ctr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</a:pPr>
            <a:r>
              <a:rPr sz="1720" b="0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Small model answers</a:t>
            </a:r>
          </a:p>
          <a:p>
            <a:pPr algn="ctr">
              <a:lnSpc>
                <a:spcPct val="92000"/>
              </a:lnSpc>
              <a:spcBef>
                <a:spcPts val="400"/>
              </a:spcBef>
              <a:spcAft>
                <a:spcPts val="0"/>
              </a:spcAft>
            </a:pPr>
            <a:r>
              <a:rPr sz="1650" b="0" i="1">
                <a:solidFill>
                  <a:srgbClr val="460073"/>
                </a:solidFill>
                <a:latin typeface="Arial"/>
                <a:ea typeface="Arial"/>
                <a:cs typeface="Arial"/>
              </a:rPr>
              <a:t>All traffic · 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00492" y="3529584"/>
            <a:ext cx="3087014" cy="3291840"/>
          </a:xfrm>
          <a:prstGeom prst="roundRect">
            <a:avLst>
              <a:gd name="adj" fmla="val 10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Rung 2</a:t>
            </a:r>
          </a:p>
          <a:p>
            <a:pPr algn="ctr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</a:pPr>
            <a:r>
              <a:rPr sz="17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Grounding check</a:t>
            </a:r>
          </a:p>
          <a:p>
            <a:pPr algn="ctr">
              <a:lnSpc>
                <a:spcPct val="92000"/>
              </a:lnSpc>
              <a:spcBef>
                <a:spcPts val="100"/>
              </a:spcBef>
              <a:spcAft>
                <a:spcPts val="0"/>
              </a:spcAft>
            </a:pPr>
            <a:r>
              <a:rPr sz="17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Claim vs your documents</a:t>
            </a:r>
          </a:p>
          <a:p>
            <a:pPr algn="ctr">
              <a:lnSpc>
                <a:spcPct val="92000"/>
              </a:lnSpc>
              <a:spcBef>
                <a:spcPts val="400"/>
              </a:spcBef>
              <a:spcAft>
                <a:spcPts val="0"/>
              </a:spcAft>
            </a:pPr>
            <a:r>
              <a:rPr sz="1650" b="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 traffic · within hold budget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053267" y="3529584"/>
            <a:ext cx="3087014" cy="3291840"/>
          </a:xfrm>
          <a:prstGeom prst="roundRect">
            <a:avLst>
              <a:gd name="adj" fmla="val 10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Rung 3</a:t>
            </a:r>
          </a:p>
          <a:p>
            <a:pPr algn="ctr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</a:pPr>
            <a:r>
              <a:rPr sz="17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Frontier model</a:t>
            </a:r>
          </a:p>
          <a:p>
            <a:pPr algn="ctr">
              <a:lnSpc>
                <a:spcPct val="92000"/>
              </a:lnSpc>
              <a:spcBef>
                <a:spcPts val="400"/>
              </a:spcBef>
              <a:spcAft>
                <a:spcPts val="0"/>
              </a:spcAft>
            </a:pPr>
            <a:r>
              <a:rPr sz="1650" b="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Escalated traffic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506041" y="3529584"/>
            <a:ext cx="3087014" cy="3291840"/>
          </a:xfrm>
          <a:prstGeom prst="roundRect">
            <a:avLst>
              <a:gd name="adj" fmla="val 10000"/>
            </a:avLst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Rung 4</a:t>
            </a:r>
          </a:p>
          <a:p>
            <a:pPr algn="ctr">
              <a:lnSpc>
                <a:spcPct val="92000"/>
              </a:lnSpc>
              <a:spcBef>
                <a:spcPts val="300"/>
              </a:spcBef>
              <a:spcAft>
                <a:spcPts val="0"/>
              </a:spcAft>
            </a:pPr>
            <a:r>
              <a:rPr sz="17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Human review</a:t>
            </a:r>
          </a:p>
          <a:p>
            <a:pPr algn="ctr">
              <a:lnSpc>
                <a:spcPct val="92000"/>
              </a:lnSpc>
              <a:spcBef>
                <a:spcPts val="400"/>
              </a:spcBef>
              <a:spcAft>
                <a:spcPts val="0"/>
              </a:spcAft>
            </a:pPr>
            <a:r>
              <a:rPr sz="1650" b="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Quarantined only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18534" y="5175504"/>
            <a:ext cx="292608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271308" y="5175504"/>
            <a:ext cx="292608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724083" y="5175504"/>
            <a:ext cx="292608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176857" y="5175504"/>
            <a:ext cx="292608" cy="0"/>
          </a:xfrm>
          <a:prstGeom prst="line">
            <a:avLst/>
          </a:prstGeom>
          <a:ln w="1905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4944" y="7260336"/>
            <a:ext cx="168981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Escalation is governed by blast radius: how irreversible the next action is. A brainstorm ships at Rung 1; an auto-refund waits at Rung 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9015984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Rungs 0–2 measured (reports/latency_report.md); Rungs 3–4 are policy-governed escalation. Cascade routing fraction unmeasured: SL-10. Guidance band: Lakera / AWS Bedrock [M-11]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38911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SCOPE OF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68981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ships today, and what does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700784"/>
            <a:ext cx="1417320" cy="502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212848"/>
            <a:ext cx="8321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SHIPPED IN THE PROTOTYPE (P0, COMPLETE)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2775204"/>
            <a:ext cx="118872" cy="11887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688336"/>
            <a:ext cx="8037575" cy="4160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Reverse-proxy gateway, OpenAI-compatible, streaming and non-streaming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3191256"/>
            <a:ext cx="118872" cy="11887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3104388"/>
            <a:ext cx="8037575" cy="4160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production-shaped pipeline policies (support / HR / regulated advisory)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3607308"/>
            <a:ext cx="118872" cy="11887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520440"/>
            <a:ext cx="8037575" cy="4160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Input-lane pre-dispatch PII redaction and injection blocking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" y="4023359"/>
            <a:ext cx="118872" cy="11887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936491"/>
            <a:ext cx="8037575" cy="4160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Sentence-buffered output interception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" y="4439412"/>
            <a:ext cx="118872" cy="11887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4352544"/>
            <a:ext cx="8037575" cy="4160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Six live detectors across the performance and responsibility planes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" y="4855464"/>
            <a:ext cx="118872" cy="11887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4768596"/>
            <a:ext cx="8037575" cy="4160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Deterministic policy engine, four verdicts, multi-label convergence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" y="5271516"/>
            <a:ext cx="118872" cy="11887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5184648"/>
            <a:ext cx="8037575" cy="4160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Per-pipeline fail-open / fail-closed failure posture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" y="5687568"/>
            <a:ext cx="118872" cy="11887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5600700"/>
            <a:ext cx="8037575" cy="4160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Append-only audit store; human review queue with decision lineage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" y="6103620"/>
            <a:ext cx="118872" cy="11887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6016752"/>
            <a:ext cx="8037575" cy="4160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Governance console, landing page, live test-chat interface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" y="6519672"/>
            <a:ext cx="118872" cy="11887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6432804"/>
            <a:ext cx="8037575" cy="4160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Frozen 280-case evaluation corpus and full measurement harness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" y="6935724"/>
            <a:ext cx="118872" cy="11887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6848856"/>
            <a:ext cx="8037575" cy="4160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Scripted eight-beat demonstration with offline replay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" y="7351776"/>
            <a:ext cx="118872" cy="11887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" y="7264908"/>
            <a:ext cx="8037575" cy="4160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CI on two Python versions; two-machine runtime certification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212848"/>
            <a:ext cx="81747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NOT BUILT: PUBLISHED AS STANDING LIMITATIONS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9418320" y="2724912"/>
          <a:ext cx="8174734" cy="51023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14148"/>
                <a:gridCol w="4475553"/>
                <a:gridCol w="685033"/>
              </a:tblGrid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Gap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Plan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Cost-plane enforcement detectors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Policy schema and tiered routing ship; enforcement detectors are stubs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P1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Override-driven threshold automation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Review decisions captured with full lineage; the proposal script is a stub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P1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Self-consistency scorer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Specified, unimplemented; the regulated pipeline's quality plane uses grounding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P1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Calibrated thresholds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Calibration ran and inverted on our corpus; seeded thresholds ship, labelled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P1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  <a:tr h="9326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Conversation-level tracking, deep-audit lane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Specified, unbuilt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P2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9418320" y="7973568"/>
            <a:ext cx="81747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i="1">
                <a:solidFill>
                  <a:srgbClr val="808080"/>
                </a:solidFill>
                <a:latin typeface="Arial"/>
                <a:ea typeface="Arial"/>
                <a:cs typeface="Arial"/>
              </a:rPr>
              <a:t>Nine standing limitations are published in the repository rather than omitted here. The roadmap in §11 is that register, in priority order.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9015984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Source: proposal §6.1–6.2 · docs/08-open-questions.md · Appendix B (standing limitations SL-1 … SL-9)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10287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3246120"/>
            <a:ext cx="54864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440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5257800"/>
            <a:ext cx="12801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Market and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6446520"/>
            <a:ext cx="11887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E6BFFF"/>
                </a:solidFill>
                <a:latin typeface="Arial"/>
                <a:ea typeface="Arial"/>
                <a:cs typeface="Arial"/>
              </a:rPr>
              <a:t>Two analyst estimates, an empty quadrant, and one claim we retracted.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9D9D9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9D9D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38911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MARKET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68981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Two analyst estimates, and why they differ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700784"/>
            <a:ext cx="1417320" cy="502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4944" y="2560320"/>
            <a:ext cx="10058400" cy="1060704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TAM   $5.78B by 2029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749039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Broad AI governance + MLOps/LLMOps + privacy software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58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45.3% CAGR · MarketsandMarkets [M-04]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4517136"/>
            <a:ext cx="2468880" cy="106070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64992" y="4517136"/>
            <a:ext cx="548640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SAM   $1.42B by 2030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5705855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Pure-play governance software and third-party auditing, our planning basis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58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35.7% CAGR · Grand View Research [M-04]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6473951"/>
            <a:ext cx="1051560" cy="1060704"/>
          </a:xfrm>
          <a:prstGeom prst="rect">
            <a:avLst/>
          </a:prstGeom>
          <a:solidFill>
            <a:srgbClr val="E6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7672" y="6473951"/>
            <a:ext cx="548640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SOM   $5–8M ARR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7662671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Year-3 target: 120–180 accounts at blended ACV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58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0.35–0.56% of the 2030 pure-play estimate [model]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8522207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808080"/>
                </a:solidFill>
                <a:latin typeface="Arial"/>
                <a:ea typeface="Arial"/>
                <a:cs typeface="Arial"/>
              </a:rPr>
              <a:t>SOM bar shown at minimum visible width; TAM and SAM bars are to scale.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018520" y="2560320"/>
            <a:ext cx="6574536" cy="314553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182880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WHY THE TWO ESTIMATES DIFFER 4.08×</a:t>
            </a:r>
          </a:p>
          <a:p>
            <a:pPr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Definitional, not a disagreement about growth. The broader figure absorbs adjacent developer tooling; the narrower one counts pure-play governance only.</a:t>
            </a:r>
          </a:p>
          <a:p>
            <a:pPr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 quote both and plan on the narrower. Both agree on a mid-thirties-percent-plus CAGR through the end of the decade.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9015984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Sources: MarketsandMarkets, Jan 2025 and Grand View Research, Sep 2024 [M-04] · serviceable segment: NASSCOM / MeitY GCC reporting, Nov 2025 [M-09] · SOM is [model]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38911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68981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Nobody occupies the converged, pre-delivery quadrant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700784"/>
            <a:ext cx="1417320" cy="502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46120" y="2487168"/>
            <a:ext cx="12435839" cy="5394959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464040" y="2487168"/>
            <a:ext cx="6217919" cy="269747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3246120" y="5184648"/>
            <a:ext cx="1243583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464040" y="2487168"/>
            <a:ext cx="0" cy="5394959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46120" y="8156448"/>
            <a:ext cx="12435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Post-hoc observation          →          Pre-delivery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87168"/>
            <a:ext cx="2331720" cy="539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Converged governance</a:t>
            </a:r>
            <a:br/>
            <a:r>
              <a:rPr sz="172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↑</a:t>
            </a:r>
            <a:br/>
            <a:r>
              <a:rPr sz="172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Single-plane point tool</a:t>
            </a:r>
          </a:p>
        </p:txBody>
      </p:sp>
      <p:sp>
        <p:nvSpPr>
          <p:cNvPr id="11" name="Oval 10"/>
          <p:cNvSpPr/>
          <p:nvPr/>
        </p:nvSpPr>
        <p:spPr>
          <a:xfrm>
            <a:off x="5655564" y="3164738"/>
            <a:ext cx="155448" cy="155448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2451" y="3105302"/>
            <a:ext cx="81113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Datadog</a:t>
            </a:r>
          </a:p>
        </p:txBody>
      </p:sp>
      <p:sp>
        <p:nvSpPr>
          <p:cNvPr id="13" name="Oval 12"/>
          <p:cNvSpPr/>
          <p:nvPr/>
        </p:nvSpPr>
        <p:spPr>
          <a:xfrm>
            <a:off x="4536338" y="3812133"/>
            <a:ext cx="155448" cy="155448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3226" y="3752697"/>
            <a:ext cx="510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Arize</a:t>
            </a:r>
          </a:p>
        </p:txBody>
      </p:sp>
      <p:sp>
        <p:nvSpPr>
          <p:cNvPr id="15" name="Oval 14"/>
          <p:cNvSpPr/>
          <p:nvPr/>
        </p:nvSpPr>
        <p:spPr>
          <a:xfrm>
            <a:off x="4287621" y="4567428"/>
            <a:ext cx="155448" cy="155448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4509" y="4507992"/>
            <a:ext cx="87793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Langfuse</a:t>
            </a:r>
          </a:p>
        </p:txBody>
      </p:sp>
      <p:sp>
        <p:nvSpPr>
          <p:cNvPr id="17" name="Oval 16"/>
          <p:cNvSpPr/>
          <p:nvPr/>
        </p:nvSpPr>
        <p:spPr>
          <a:xfrm>
            <a:off x="5033772" y="5538520"/>
            <a:ext cx="155448" cy="155448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0659" y="5479084"/>
            <a:ext cx="101117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LangSmith</a:t>
            </a:r>
          </a:p>
        </p:txBody>
      </p:sp>
      <p:sp>
        <p:nvSpPr>
          <p:cNvPr id="19" name="Oval 18"/>
          <p:cNvSpPr/>
          <p:nvPr/>
        </p:nvSpPr>
        <p:spPr>
          <a:xfrm>
            <a:off x="9635032" y="6617512"/>
            <a:ext cx="155448" cy="155448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81920" y="6558076"/>
            <a:ext cx="76649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LiteLLM</a:t>
            </a:r>
          </a:p>
        </p:txBody>
      </p:sp>
      <p:sp>
        <p:nvSpPr>
          <p:cNvPr id="21" name="Oval 20"/>
          <p:cNvSpPr/>
          <p:nvPr/>
        </p:nvSpPr>
        <p:spPr>
          <a:xfrm>
            <a:off x="11002975" y="5538520"/>
            <a:ext cx="155448" cy="155448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78539" y="5479084"/>
            <a:ext cx="732995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Portkey</a:t>
            </a:r>
          </a:p>
        </p:txBody>
      </p:sp>
      <p:sp>
        <p:nvSpPr>
          <p:cNvPr id="23" name="Oval 22"/>
          <p:cNvSpPr/>
          <p:nvPr/>
        </p:nvSpPr>
        <p:spPr>
          <a:xfrm>
            <a:off x="11873483" y="6185916"/>
            <a:ext cx="155448" cy="155448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81549" y="6126479"/>
            <a:ext cx="160049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Kong AI Gateway</a:t>
            </a:r>
          </a:p>
        </p:txBody>
      </p:sp>
      <p:sp>
        <p:nvSpPr>
          <p:cNvPr id="25" name="Oval 24"/>
          <p:cNvSpPr/>
          <p:nvPr/>
        </p:nvSpPr>
        <p:spPr>
          <a:xfrm>
            <a:off x="11376050" y="7264907"/>
            <a:ext cx="155448" cy="155448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17885" y="7205471"/>
            <a:ext cx="15667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NeMo Guardrails</a:t>
            </a:r>
          </a:p>
        </p:txBody>
      </p:sp>
      <p:sp>
        <p:nvSpPr>
          <p:cNvPr id="27" name="Oval 26"/>
          <p:cNvSpPr/>
          <p:nvPr/>
        </p:nvSpPr>
        <p:spPr>
          <a:xfrm>
            <a:off x="12992709" y="6887260"/>
            <a:ext cx="155448" cy="155448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34316" y="6827824"/>
            <a:ext cx="17669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Bedrock Guardrails</a:t>
            </a:r>
          </a:p>
        </p:txBody>
      </p:sp>
      <p:sp>
        <p:nvSpPr>
          <p:cNvPr id="29" name="Oval 28"/>
          <p:cNvSpPr/>
          <p:nvPr/>
        </p:nvSpPr>
        <p:spPr>
          <a:xfrm>
            <a:off x="14360651" y="6347764"/>
            <a:ext cx="155448" cy="155448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13000" y="6288328"/>
            <a:ext cx="195621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Azure Content Safety</a:t>
            </a:r>
          </a:p>
        </p:txBody>
      </p:sp>
      <p:sp>
        <p:nvSpPr>
          <p:cNvPr id="31" name="Oval 30"/>
          <p:cNvSpPr/>
          <p:nvPr/>
        </p:nvSpPr>
        <p:spPr>
          <a:xfrm>
            <a:off x="14982443" y="5646420"/>
            <a:ext cx="155448" cy="155448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224516" y="5586983"/>
            <a:ext cx="66648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Lakera</a:t>
            </a:r>
          </a:p>
        </p:txBody>
      </p:sp>
      <p:sp>
        <p:nvSpPr>
          <p:cNvPr id="33" name="Oval 32"/>
          <p:cNvSpPr/>
          <p:nvPr/>
        </p:nvSpPr>
        <p:spPr>
          <a:xfrm>
            <a:off x="7894015" y="7210958"/>
            <a:ext cx="155448" cy="155448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40903" y="7151522"/>
            <a:ext cx="7775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Presidio</a:t>
            </a:r>
          </a:p>
        </p:txBody>
      </p:sp>
      <p:sp>
        <p:nvSpPr>
          <p:cNvPr id="35" name="Oval 34"/>
          <p:cNvSpPr/>
          <p:nvPr/>
        </p:nvSpPr>
        <p:spPr>
          <a:xfrm>
            <a:off x="6899147" y="7588605"/>
            <a:ext cx="155448" cy="155448"/>
          </a:xfrm>
          <a:prstGeom prst="ellipse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46035" y="7529169"/>
            <a:ext cx="114457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Google DLP</a:t>
            </a:r>
          </a:p>
        </p:txBody>
      </p:sp>
      <p:sp>
        <p:nvSpPr>
          <p:cNvPr id="37" name="5-Point Star 36"/>
          <p:cNvSpPr/>
          <p:nvPr/>
        </p:nvSpPr>
        <p:spPr>
          <a:xfrm>
            <a:off x="13516660" y="3085642"/>
            <a:ext cx="475488" cy="475488"/>
          </a:xfrm>
          <a:prstGeom prst="star5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22484" y="3012490"/>
            <a:ext cx="36118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ControlPlane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8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converged, pre-delivery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83496" y="2670048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THE EMPTY QUADRANT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" y="9015984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Sources: Tracxn, Crunchbase, and AWS / Microsoft / NVIDIA official documentation, Feb 2026 [M-07] · Presidio baseline arXiv:2608.02616v1 [M-08]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38911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POSITIONING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68981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claim we withdrew when the evidence contradicted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700784"/>
            <a:ext cx="1417320" cy="502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4944" y="2212848"/>
            <a:ext cx="16898111" cy="1883664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10896" rIns="310896" tIns="182880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RETRACTED</a:t>
            </a:r>
          </a:p>
          <a:p>
            <a:pPr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 earlier draft claimed that per-use-case policy configuration and configurable fail-open/fail-closed posture were unique to ControlPlane.</a:t>
            </a:r>
          </a:p>
          <a:p>
            <a:pPr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0" i="0">
                <a:solidFill>
                  <a:srgbClr val="E6BFFF"/>
                </a:solidFill>
                <a:latin typeface="Arial"/>
                <a:ea typeface="Arial"/>
                <a:cs typeface="Arial"/>
              </a:rPr>
              <a:t>Primary-source research showed that claim to be false: AWS Bedrock Guardrails, Azure AI Content Safety and NVIDIA NeMo Guardrails all document both capabilities [M-07]. We removed the claim, three weeks before anyone would have checked.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4315968"/>
            <a:ext cx="168981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THE FIVE DIFFERENTIATORS THAT SURVIVE THE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4736592"/>
            <a:ext cx="1689811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80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1.  </a:t>
            </a:r>
            <a:r>
              <a:rPr sz="180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Convergence across three planes into one verdict.  </a:t>
            </a: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hyperscaler engines are content-safety systems. None converges quality, cost and responsibility into a single accountable decision per response.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5541264"/>
            <a:ext cx="16898111" cy="74980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80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2.  </a:t>
            </a:r>
            <a:r>
              <a:rPr sz="180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Multi-label overlapping risk.  </a:t>
            </a: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signal carrying both a hallucination and a privacy label, resolved by the engine rather than by filter order.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" y="6345936"/>
            <a:ext cx="1689811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80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3.  </a:t>
            </a:r>
            <a:r>
              <a:rPr sz="180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Provider and deployment neutrality.  </a:t>
            </a: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Cross-provider by construction, including fully local and air-gapped operation which is structurally unavailable from a cloud-native guardrail service.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7150607"/>
            <a:ext cx="16898111" cy="74980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80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4.  </a:t>
            </a:r>
            <a:r>
              <a:rPr sz="180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Evidence as a product surface.  </a:t>
            </a: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Frozen corpus, blind-first measurement, published misses, claim-to-command map. No competitor in our research publishes an auditable accuracy claim about its own detectors.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" y="7955279"/>
            <a:ext cx="1689811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80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5.  </a:t>
            </a:r>
            <a:r>
              <a:rPr sz="180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A process record that cannot be reconstructed retroactively.  </a:t>
            </a: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adjudication ledger accrues in the order it was created.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8796528"/>
            <a:ext cx="168981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We would rather present five defensible differentiators than six, one of which fails on inspection.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9144000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Source: proposal §6.4 · competitor capability evidence [M-07]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38911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TARGET USERS AND BUYERS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68981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Who feels the pain, and who signs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700784"/>
            <a:ext cx="1417320" cy="502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" y="2286000"/>
          <a:ext cx="16898109" cy="57607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99720"/>
                <a:gridCol w="4599485"/>
                <a:gridCol w="5599374"/>
                <a:gridCol w="419953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Persona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Pain today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ControlPlane provides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of pain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Head of Platform /</a:t>
                      </a:r>
                      <a:br/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AI Engineering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Every new use case re-solves oversight; N apps × M providers × ad-hoc guardrails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One gateway, one policy schema; a new pipeline is one YAML file and one header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5.0 production and ~211 documented use cases per large enterprise [M-03]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CISO / DPO /</a:t>
                      </a:r>
                      <a:br/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Compliance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Cannot evidence AI oversight to auditors; direct statutory exposure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Append-only audit trail, per-jurisdiction policy packs, HITL decision lineage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₹250 crore DPDP exposure [M-02]; €35M / 7% EU exposure [M-01]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Risk / model</a:t>
                      </a:r>
                      <a:br/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governance (BFSI)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Regulator expects demonstrable human-in-the-loop supervision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Escalation queue, fail-closed posture, versioned policy diffs as change evidence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18% of AI systems high-risk, 40% unclassified [M-12]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FinOps /</a:t>
                      </a:r>
                      <a:br/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engineering finance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Inference spend unattributed and unmanaged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Per-pipeline budget policy and tiered routing (enforcement in P1)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15–25× flagship-to-mini price premium [M-06]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  <a:tr h="106070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Head of AI</a:t>
                      </a:r>
                      <a:br/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programme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Pilots stall before production; projects cancelled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Governance as a precondition rather than an afterthought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80%+ pilot failure [M-03]; 40% cancellation without governance [M-12]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94944" y="7882127"/>
            <a:ext cx="16898111" cy="10058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88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Initial ideal customer profile.  </a:t>
            </a: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Mid-to-large enterprises running three or more production genAI use cases in regulated or brand-sensitive contexts (BFSI, healthcare, telecommunications), and India's Global Capability Centers, where 1,600+ centres [M-09] sit at the intersection of DPDP obligations [M-02] and their parents' EU/US obligations [M-01].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9034272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Sources: McKinsey / Gartner [M-03] · DPDP [M-02] · EU AI Act [M-01] · appliedAI [M-12] · OpenAI published pricing [M-06] · NASSCOM [M-09]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38911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68981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number, with its 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700784"/>
            <a:ext cx="1417320" cy="502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194560"/>
            <a:ext cx="8732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DETECTION QUALITY: INCLUDING WHAT WE MISSED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4944" y="2615184"/>
          <a:ext cx="8732519" cy="40050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754983"/>
                <a:gridCol w="1746504"/>
                <a:gridCol w="1746504"/>
                <a:gridCol w="1484528"/>
              </a:tblGrid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Detector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Blind</a:t>
                      </a:r>
                      <a:br/>
                      <a:r>
                        <a:rPr sz="158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(first contact)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After disclosed</a:t>
                      </a:r>
                      <a:br/>
                      <a:r>
                        <a:rPr sz="158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revision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Tier-1 PII recall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0.836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0.885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0.95 (MISSED)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Tier-1 PII precision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none set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Unsourced numeric claims precision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0.267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0.857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none set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Prompt injection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 1.000 / R 0.150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 tuned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none set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Toxicity, high band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 0.400 / R 0.250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not tuned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none set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End-to-end verdict accuracy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n/a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0.825–0.851</a:t>
                      </a:r>
                      <a:br/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over 194 cases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none set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710928" y="2194560"/>
            <a:ext cx="7882127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LATENCY: INCLUDING THE PUBLISHED BREACH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710928" y="2615184"/>
          <a:ext cx="7882125" cy="40279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32884"/>
                <a:gridCol w="1466442"/>
                <a:gridCol w="1099831"/>
                <a:gridCol w="2382968"/>
              </a:tblGrid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Series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Measured (P99)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Verdict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Input hold (perceived)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27.49 ms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&lt; 50 ms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Sentence hold (perceived)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39.59 ms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&lt; 100 ms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tier1_blocklist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0.020 ms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 ms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tier1_pii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0.133 ms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 ms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numeric_claims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0.277 ms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 ms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tier2_toxicity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23.741 ms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 ms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Met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tier2_injection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25.348 ms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 ms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BREACH (published)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4944" y="6949440"/>
            <a:ext cx="87325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DECISION LAYER AND RELIABILITY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7351775"/>
            <a:ext cx="2093976" cy="1481328"/>
          </a:xfrm>
          <a:prstGeom prst="rect">
            <a:avLst/>
          </a:prstGeom>
          <a:solidFill>
            <a:srgbClr val="EC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840/840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4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verdicts correct, 280 cases × 3 policies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50" b="1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[B-01]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07791" y="7351775"/>
            <a:ext cx="2093976" cy="1481328"/>
          </a:xfrm>
          <a:prstGeom prst="rect">
            <a:avLst/>
          </a:prstGeom>
          <a:solidFill>
            <a:srgbClr val="EC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7/7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4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injected defects caught by the harness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50" b="1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[B-01]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7351775"/>
            <a:ext cx="2093976" cy="1481328"/>
          </a:xfrm>
          <a:prstGeom prst="rect">
            <a:avLst/>
          </a:prstGeom>
          <a:solidFill>
            <a:srgbClr val="EC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39/39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4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fault assertions, 5 quiet-host runs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50" b="1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[B-07]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33488" y="7351775"/>
            <a:ext cx="2093976" cy="1481328"/>
          </a:xfrm>
          <a:prstGeom prst="rect">
            <a:avLst/>
          </a:prstGeom>
          <a:solidFill>
            <a:srgbClr val="EC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4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raw PII in audit evidence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50" b="1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[B-11]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0928" y="6949440"/>
            <a:ext cx="7882127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ENGINEERING 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10928" y="7351775"/>
            <a:ext cx="1874519" cy="1481328"/>
          </a:xfrm>
          <a:prstGeom prst="rect">
            <a:avLst/>
          </a:prstGeom>
          <a:solidFill>
            <a:srgbClr val="EC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1,200+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4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tests green, two machines and CI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50" b="1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[B-09]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713463" y="7351775"/>
            <a:ext cx="1874519" cy="1481328"/>
          </a:xfrm>
          <a:prstGeom prst="rect">
            <a:avLst/>
          </a:prstGeom>
          <a:solidFill>
            <a:srgbClr val="EC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280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4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frozen corpus cases, digest-verified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50" b="1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[B-09]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5999" y="7351775"/>
            <a:ext cx="1874519" cy="1481328"/>
          </a:xfrm>
          <a:prstGeom prst="rect">
            <a:avLst/>
          </a:prstGeom>
          <a:solidFill>
            <a:srgbClr val="EC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36 / 32 / 9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4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ADRs / deviations / limitations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50" b="1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[B-09]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718535" y="7351775"/>
            <a:ext cx="1874519" cy="1481328"/>
          </a:xfrm>
          <a:prstGeom prst="rect">
            <a:avLst/>
          </a:prstGeom>
          <a:solidFill>
            <a:srgbClr val="EC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72/72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4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figures re-derived from source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50" b="1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[B-09]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9107424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Source: reports/eval_report.md · reproduce: python -m eval.run_all  ·  Source: reports/latency_report.md · reproduce: python -m eval.bench_latency --check  ·  python -m eval.fault_injection --reps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38911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MEASUREMENT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68981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the misses are the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700784"/>
            <a:ext cx="1417320" cy="502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011680"/>
            <a:ext cx="16898111" cy="6846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rule, adopted at the start and not broken under deadline pressure: no number ships unless a command in the repository reproduces it, and no unflattering number is removed once measured.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3246120"/>
            <a:ext cx="4059936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54864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The PII target was missed and the target did not move.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Recall 0.885 against a 0.95 target. All seven residual misses fall into one documented scope exclusion. The blind figure of 0.836 ships permanently next to the revised one. [B-02]</a:t>
            </a:r>
          </a:p>
        </p:txBody>
      </p:sp>
      <p:sp>
        <p:nvSpPr>
          <p:cNvPr id="7" name="Rectangle 6"/>
          <p:cNvSpPr/>
          <p:nvPr/>
        </p:nvSpPr>
        <p:spPr>
          <a:xfrm>
            <a:off x="4974336" y="3246120"/>
            <a:ext cx="4059936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54864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Injection recall of 0.150 is weak, and we publish it.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first-contact number for an untuned model layer sitting behind a pattern layer that already stops overt attacks. Given prompt injection's OWASP #1 status [M-05], this is our most important P1 work. [B-04]</a:t>
            </a:r>
          </a:p>
        </p:txBody>
      </p:sp>
      <p:sp>
        <p:nvSpPr>
          <p:cNvPr id="8" name="Rectangle 7"/>
          <p:cNvSpPr/>
          <p:nvPr/>
        </p:nvSpPr>
        <p:spPr>
          <a:xfrm>
            <a:off x="9253728" y="3246120"/>
            <a:ext cx="4059936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54864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The end-to-end score fell as coverage rose.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From 0.981 over 159 cases to 0.825–0.851 over 194. The system did not get worse; the measurement got broader, admitting the hardest classes. Reporting the improvement without the coverage change would have misled. [B-10]</a:t>
            </a:r>
          </a:p>
        </p:txBody>
      </p:sp>
      <p:sp>
        <p:nvSpPr>
          <p:cNvPr id="9" name="Rectangle 8"/>
          <p:cNvSpPr/>
          <p:nvPr/>
        </p:nvSpPr>
        <p:spPr>
          <a:xfrm>
            <a:off x="13533120" y="3246120"/>
            <a:ext cx="4059936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19456" tIns="201168" bIns="54864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Our calibration procedure inverted on our own data.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conformal threshold band inverted at every α tried, across 5 seeds. We did not re-pick α to force a clean result: selecting a parameter after seeing it fail is tuning toward an outcome. [B-12]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6656832"/>
            <a:ext cx="16898111" cy="129844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54864" bIns="54864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governance product whose own claims cannot be audited is a contradiction. The corpus was frozen before any detector was tuned; first measurements were taken blind.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8156448"/>
            <a:ext cx="16898111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Two external comparisons make the figures legible: Microsoft Presidio benchmarks at 0.431 span recall on AI4Privacy and fine-tuned transformers reach 0.855 [M-08]. Different corpus, so a like-for-like head-to-head is a P1 commitment.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9070848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Source: reports/eval_report.md · reproduce: python -m eval.run_all · proposal §2.2, §8.2 and §9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10287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3246120"/>
            <a:ext cx="54864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440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5257800"/>
            <a:ext cx="12801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Business and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6446520"/>
            <a:ext cx="11887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E6BFFF"/>
                </a:solidFill>
                <a:latin typeface="Arial"/>
                <a:ea typeface="Arial"/>
                <a:cs typeface="Arial"/>
              </a:rPr>
              <a:t>Open core, partner-led distribution, and a roadmap that is our limitations register.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9D9D9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9D9D9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38911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68981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 core: the gateway is free, the compliance surface is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700784"/>
            <a:ext cx="1417320" cy="502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" y="2304288"/>
          <a:ext cx="16898110" cy="43525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0234"/>
                <a:gridCol w="9499478"/>
                <a:gridCol w="4658398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Tier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is included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Price posture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</a:tr>
              <a:tr h="12984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Open source</a:t>
                      </a:r>
                      <a:br/>
                      <a:r>
                        <a:rPr sz="1800" b="1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(Apache-2.0)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Gateway, policy engine, detectors, audit schema, evaluation harness: the full prototype lineage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Free: adoption,</a:t>
                      </a:r>
                      <a:br/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community, credibility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12984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Team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Governance Console (hardened), SSO, retention, alerting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US$500–1,000 per production</a:t>
                      </a:r>
                      <a:br/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pipeline per month  [model]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  <a:tr h="129844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Enterprise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Compliance policy packs (EU AI Act, DPDP, RBI/SEBI, HIPAA), audit export, air-gapped and local-model deployment, SLAs, calibration on customer traffic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US$40,000–120,000 ACV</a:t>
                      </a:r>
                      <a:br/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[model]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94944" y="6583680"/>
            <a:ext cx="16898111" cy="96926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88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Per-pipeline pricing means revenue tracks the customer's own AI adoption curve, </a:t>
            </a: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currently averaging 5.0 production use cases and growing 101% year over year [M-03].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7790688"/>
            <a:ext cx="16898111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WHY THE FREE TIER IS NOT CANNIBALISATION</a:t>
            </a:r>
          </a:p>
          <a:p>
            <a:pPr algn="l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paid surfaces are the ones enterprises cannot self-serve: compliance policy packs, audit retention, per-customer calibration, SLAs. The gateway being free is what drives the adoption we monetise.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9034272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Source: proposal §10.1 and §9 risk 9 · pricing is [model]; adoption growth from McKinsey / Gartner [M-03]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38911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68981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Unit economics and a three-year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700784"/>
            <a:ext cx="1417320" cy="502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212848"/>
            <a:ext cx="93268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UNIT ECONOMICS  [model]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4944" y="2633472"/>
          <a:ext cx="9326880" cy="40965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3108960"/>
                <a:gridCol w="4023360"/>
              </a:tblGrid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Assumption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Basis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Blended ACV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US$35,000–50,000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One enterprise logo ≈ 3–5 paid pipelines plus pack/SLA uplift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Gross margin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~85%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Software plus thin sampling; the customer pays their own model spend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CAC (partner-led)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US$10,000–18,000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SI-attached deals and OSS inbound; no outbound sales team in years 1–2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Payback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&lt; 6 months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ACV ÷ CAC at the above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Expansion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 pipeline → 4–6 in 12–18 months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Tracks documented enterprise use-case growth [M-03]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351008" y="2212848"/>
            <a:ext cx="724204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THREE-YEAR OUTLINE  [model]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51008" y="2633472"/>
            <a:ext cx="7242048" cy="1170432"/>
          </a:xfrm>
          <a:prstGeom prst="rect">
            <a:avLst/>
          </a:prstGeom>
          <a:solidFill>
            <a:srgbClr val="E6B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72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Year 1     </a:t>
            </a:r>
            <a:r>
              <a:rPr sz="300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US$150–250k ARR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720" b="0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4–6 pilot conversions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351008" y="3913631"/>
            <a:ext cx="7242048" cy="117043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72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Year 2     </a:t>
            </a: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US$1–1.5M ARR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7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Partner-led repeatability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51008" y="5193792"/>
            <a:ext cx="7242048" cy="1170432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r>
              <a:rPr sz="172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Year 3     </a:t>
            </a: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US$5–8M ARR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7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120–180 accounts at blended ACV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51008" y="6492240"/>
            <a:ext cx="7242048" cy="1389888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64592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A DELIBERATELY MODEST SHARE ASSUMPTION</a:t>
            </a:r>
          </a:p>
          <a:p>
            <a:pPr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Year-3 figure is between 0.35% and 0.56% of the narrower analyst estimate for 2030 [M-04].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" y="6492240"/>
            <a:ext cx="9326880" cy="1700784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164592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ON COST SAVINGS, WE PUBLISH NO ABSOLUTE FIGURE</a:t>
            </a:r>
          </a:p>
          <a:p>
            <a:pPr algn="l">
              <a:lnSpc>
                <a:spcPct val="106000"/>
              </a:lnSpc>
              <a:spcBef>
                <a:spcPts val="600"/>
              </a:spcBef>
              <a:spcAft>
                <a:spcPts val="0"/>
              </a:spcAft>
            </a:pPr>
            <a:r>
              <a:rPr sz="17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Published pricing shows a 15–25× flagship-to-mini premium [M-06]; our own demo configuration runs a 2.0× tier gap, so savings are reported as relative and scale with the deployment's own ratio [B-13]. Cost-plane enforcement is P1: claiming a dollar number we have not measured would violate the principle this deck is built 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9015984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Source: proposal §10.2–10.3 · [model] figures are assumptions, labelled as such · tier pricing in config/gateway.yaml [B-13]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38911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68981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 source in, systems integrators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700784"/>
            <a:ext cx="1417320" cy="502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4944" y="2286000"/>
            <a:ext cx="5413248" cy="3931920"/>
          </a:xfrm>
          <a:prstGeom prst="rect">
            <a:avLst/>
          </a:prstGeom>
          <a:solidFill>
            <a:srgbClr val="E6B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LAUNCH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72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0–3 months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0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Open-source release plus the build-in-public story: the adjudication ledger and blind-measurement discipline are genuinely distinctive developer content; conference submissions on “AI built under AI oversight”.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PROOF POINT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720" b="0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Top-of-funnel attention; inbound design-partner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37376" y="2286000"/>
            <a:ext cx="5413248" cy="3931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PARTNERS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72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2–6 months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3–5 pilots across Indian BFSI and GCCs [M-09] plus one EU-exposed SaaS [M-01]. Success is one pipeline in production with audit evidence accepted by the partner's risk function.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PROOF POINT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7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Reference architecture; first case studies; calibration playbook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79808" y="2286000"/>
            <a:ext cx="5413248" cy="393192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PARTNER-LED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72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6–18 months</a:t>
            </a:r>
          </a:p>
          <a:p>
            <a:pPr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Systems-integrator channel. Accenture alone has committed US$3 billion over three years to Data &amp; AI and doubled its practice to 80,000 specialists with Responsible AI frameworks across 19 industries [M-10].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PROOF POINT</a:t>
            </a:r>
          </a:p>
          <a:p>
            <a:pPr algn="l">
              <a:lnSpc>
                <a:spcPct val="106000"/>
              </a:lnSpc>
              <a:spcBef>
                <a:spcPts val="200"/>
              </a:spcBef>
              <a:spcAft>
                <a:spcPts val="0"/>
              </a:spcAft>
            </a:pPr>
            <a:r>
              <a:rPr sz="17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Repeatable SI-attached deals; first US$1M ARR [model]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6547104"/>
            <a:ext cx="16898111" cy="1225296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The flywheel</a:t>
            </a:r>
          </a:p>
          <a:p>
            <a:pPr algn="l">
              <a:lnSpc>
                <a:spcPct val="106000"/>
              </a:lnSpc>
              <a:spcBef>
                <a:spcPts val="400"/>
              </a:spcBef>
              <a:spcAft>
                <a:spcPts val="0"/>
              </a:spcAft>
            </a:pPr>
            <a:r>
              <a:rPr sz="188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Open-source adoption produces policy patterns and calibration data  →  patterns become packaged compliance packs  →  packs make SI deployments faster  →  SI deployments produce references that pull further adoption.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8997696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Sources: proposal §10.5 · NASSCOM GCC reporting [M-09] · EU AI Act [M-01] · Accenture Newsroom, programme confirmed active in 2025 releases [M-10]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38911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68981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changes for the enterprise buyer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700784"/>
            <a:ext cx="1417320" cy="502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" y="2286000"/>
          <a:ext cx="16898110" cy="5943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927669"/>
                <a:gridCol w="7307291"/>
                <a:gridCol w="566315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Benefit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Mechanism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Supporting evidence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Prevent incidents rather than discover them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Verdicts are issued before delivery; a flagged sentence never partially reaches the user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840/840 conformance [B-01]; sentence-buffered interception [B-06]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The provider never sees regulated data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Input-lane PII redaction happens pre-dispatch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Live behaviour; 0 raw values in audit evidence [B-11]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Evidence for the regulator, as a by-product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Append-only records, categories not values, HITL lineage, policy version stamped per record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Direct response to AI Act oversight duties [M-01] and DPDP safeguards [M-02]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Governance without redeployment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Policies are versioned YAML, hot-reloadable, per pipeline and per jurisdiction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Three pipelines diverge with zero code difference [B-01]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Failure has a defined posture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Fail-open versus fail-closed is a policy field; fail-closed escalates to a human and never silently blocks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39/39 fault assertions across 5 runs [B-07]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 cloud lock-in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Provider-neutral, including fully local and air-gapped operation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Demonstrated against both a cloud provider and a local model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94944" y="7973568"/>
            <a:ext cx="16898111" cy="9144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54864" bIns="54864"/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2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clocks are running at once: regulatory (fines already active), market (35–45% CAGR), operational (80%+ of pilots stalled). The window for a converged governance layer is open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9034272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Source: proposal §14 · Source: reports/eval_report.md · reproduce: python -m eval.run_all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38911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68981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P0 is done. P1 closes the gaps we measured.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700784"/>
            <a:ext cx="1417320" cy="502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69264" y="5349240"/>
            <a:ext cx="16349471" cy="0"/>
          </a:xfrm>
          <a:prstGeom prst="line">
            <a:avLst/>
          </a:prstGeom>
          <a:ln w="254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866644" y="5202936"/>
            <a:ext cx="292608" cy="292608"/>
          </a:xfrm>
          <a:prstGeom prst="ellipse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432" y="2779775"/>
            <a:ext cx="3685031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P0 · Prototype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58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DONE: this submission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 Gateway, six live detectors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 Policy engine, audit + HITL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 Console, demo, evidence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2948" y="4928616"/>
            <a:ext cx="0" cy="256032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954011" y="5202936"/>
            <a:ext cx="292608" cy="292608"/>
          </a:xfrm>
          <a:prstGeom prst="ellipse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57799" y="5769864"/>
            <a:ext cx="3685031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P1 · Pilot-ready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58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0–3 months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 Cost-plane enforcement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 Indic PII locales; scorer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 Presidio head-to-head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 Partner-traffic tuning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100315" y="5513831"/>
            <a:ext cx="0" cy="256033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1041380" y="5202936"/>
            <a:ext cx="292608" cy="292608"/>
          </a:xfrm>
          <a:prstGeom prst="ellipse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45168" y="2779775"/>
            <a:ext cx="3685031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P2 · Product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58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3–9 months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 Console GA; policy packs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 Compiled data plane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 Multi-tenant isolation; SOC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187684" y="4928616"/>
            <a:ext cx="0" cy="256032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5128748" y="5202936"/>
            <a:ext cx="292608" cy="292608"/>
          </a:xfrm>
          <a:prstGeom prst="ellipse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432536" y="5769864"/>
            <a:ext cx="3685031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P3 · Scale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58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9–18 months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 K8s sidecar and service mesh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 Agent-action gating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6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  Marketplace listings; SI packs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5275052" y="5513831"/>
            <a:ext cx="0" cy="256033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4944" y="8686800"/>
            <a:ext cx="1689811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Our roadmap is our limitations register: each P1 item closes a numbered standing limitation published in the repository.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9015984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Source: proposal §11 · exit criteria: P1 recall ≥ 0.95 on the expanded corpus or a documented explanation, 3 pilots live · P2 first paid conversions · P3 partner-led 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38911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RISK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68981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Risks, led by our own weakest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700784"/>
            <a:ext cx="1417320" cy="502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4944" y="2231136"/>
          <a:ext cx="16898109" cy="66934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6705"/>
                <a:gridCol w="2922916"/>
                <a:gridCol w="4841080"/>
                <a:gridCol w="8677408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Honest reality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Mitigation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Detection quality is incomplete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Injection recall 0.150 blind; toxicity high-band recall 0.250 [B-04]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Deterministic patterns already stop overt attacks at microsecond cost [B-05]. Thresholds are designed to be tuned on real traffic, which is the paid enterprise motion.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Calibration failed on our own data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The conformal threshold procedure inverted at every α tried, across 5 seeds [B-12]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The harness worked: it detected that the grounding signal does not yet separate classes on a synthetic corpus. Real-traffic calibration in P1.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Hyperscaler bundling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AWS, Azure and NVIDIA ship guardrail engines with per-use-case policies and fail posture [M-07]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Compete on convergence, neutrality and evidence, not on features they already have. Cross-provider and air-gapped operation is structurally unavailable to them.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Latency objections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One detector breaches its budget at P99 [B-05]; full-coverage windowing costs more on long inputs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Deterministic tier is three orders of magnitude inside budget [B-05]; user-perceived holds meet published expectations [M-11]. Compiled data plane in P2.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Synthetic-corpus overfit critique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Fair for any self-built evaluation. Our corpus is ours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Frozen before tuning; blind-first protocol; independently reviewed. P1 commits to a Presidio head-to-head [M-08] and calibration on partner traffic.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Provider churn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 model tier we depended on was deprecated 11 days before this submission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It failed loudly, not silently. Provenance-classed providers and the accounting canary are shipped features that exist because of this class of event.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Market timing / category risk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Analyst estimates diverge 4.08× on market size [M-04]; consolidation is under way [M-07]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Consolidation validates the category. Open-core distribution reduces dependence on any single forecast; both estimates agree on 35%+ CAGR.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Team capacity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Three third-year undergraduates, no enterprise delivery history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8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 complete public delivery record most professional teams cannot produce [B-09]. The SI channel [M-10] supplies deployment scale.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" y="9107424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Source: proposal §9 (nine risks; the ninth, open-core cannibalisation, is addressed on the business-model slide) · Source: reports/eval_report.md · reproduce: python -m eval.run_all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38911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QUALIFICATIONS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68981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this team: the delivery record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700784"/>
            <a:ext cx="1417320" cy="502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011680"/>
            <a:ext cx="16898111" cy="6846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 have no enterprise track record to present. In place of one, we offer a complete public engineering record: a reviewer can inspect our judgement directly rather than infer it from a résumé.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3072384"/>
            <a:ext cx="2697480" cy="1700784"/>
          </a:xfrm>
          <a:prstGeom prst="rect">
            <a:avLst/>
          </a:prstGeom>
          <a:solidFill>
            <a:srgbClr val="EC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36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architecture decision records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50" b="1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[B-09]</a:t>
            </a:r>
          </a:p>
        </p:txBody>
      </p:sp>
      <p:sp>
        <p:nvSpPr>
          <p:cNvPr id="7" name="Rectangle 6"/>
          <p:cNvSpPr/>
          <p:nvPr/>
        </p:nvSpPr>
        <p:spPr>
          <a:xfrm>
            <a:off x="3511296" y="3072384"/>
            <a:ext cx="2697480" cy="1700784"/>
          </a:xfrm>
          <a:prstGeom prst="rect">
            <a:avLst/>
          </a:prstGeom>
          <a:solidFill>
            <a:srgbClr val="EC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32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deviations filed and all closed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50" b="1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[B-09]</a:t>
            </a:r>
          </a:p>
        </p:txBody>
      </p:sp>
      <p:sp>
        <p:nvSpPr>
          <p:cNvPr id="8" name="Rectangle 7"/>
          <p:cNvSpPr/>
          <p:nvPr/>
        </p:nvSpPr>
        <p:spPr>
          <a:xfrm>
            <a:off x="6327648" y="3072384"/>
            <a:ext cx="2697480" cy="1700784"/>
          </a:xfrm>
          <a:prstGeom prst="rect">
            <a:avLst/>
          </a:prstGeom>
          <a:solidFill>
            <a:srgbClr val="EC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61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minor resolutions logged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50" b="1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[B-09]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0" y="3072384"/>
            <a:ext cx="2697480" cy="1700784"/>
          </a:xfrm>
          <a:prstGeom prst="rect">
            <a:avLst/>
          </a:prstGeom>
          <a:solidFill>
            <a:srgbClr val="EC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9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standing limitations published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50" b="1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[B-09]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960352" y="3072384"/>
            <a:ext cx="2697480" cy="1700784"/>
          </a:xfrm>
          <a:prstGeom prst="rect">
            <a:avLst/>
          </a:prstGeom>
          <a:solidFill>
            <a:srgbClr val="EC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4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times the AI reviewer blocked the build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50" b="1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[B-09]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776704" y="3072384"/>
            <a:ext cx="2697480" cy="1700784"/>
          </a:xfrm>
          <a:prstGeom prst="rect">
            <a:avLst/>
          </a:prstGeom>
          <a:solidFill>
            <a:srgbClr val="ECC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54864" bIns="54864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72/72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figures re-derived from source artifacts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50" b="1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[B-09]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5138928"/>
            <a:ext cx="1689811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WHAT WE DID WHEN THINGS WENT WRONG: ON THE RECORD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94944" y="5559552"/>
          <a:ext cx="16898109" cy="33284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5663150"/>
                <a:gridCol w="5663150"/>
                <a:gridCol w="5571809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Incident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Resolution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Product consequence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</a:tr>
              <a:tr h="9692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 third-party gateway silently injected ~5,000 hidden prompt tokens per request, corrupting every cost measurement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Detected by a boot-time canary comparing provider accounting against a local estimate [B-14]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Provenance-classed providers and the accounting canary became shipped features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Wall-clock budget enforcement manufactured spurious detector faults under load, enough to flip a verdict in a fail-closed pipeline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Rebuilt enforcement around detector-attributable CPU time; spurious faults 2/30 → 0/30 [B-08]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Attribution-correct enforcement, now a differentiator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  <a:tr h="96926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Market research contradicted our own differentiation claim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Claim retracted, positioning rebuilt on ground that survives the evidence [M-07]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 more defensible five-point differentiation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94944" y="8558784"/>
            <a:ext cx="16898111" cy="64008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a company whose product is trust in AI systems, a timestamped record of how we behave when we are wrong is the qualification.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9272015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Source: proposal §12–13 · docs/03-decisions.md, docs/08-open-questions.md · python -m eval.check_derivations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10287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3246120"/>
            <a:ext cx="54864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</a:pPr>
            <a:r>
              <a:rPr sz="1440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5257800"/>
            <a:ext cx="12801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6446520"/>
            <a:ext cx="11887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E6BFFF"/>
                </a:solidFill>
                <a:latin typeface="Arial"/>
                <a:ea typeface="Arial"/>
                <a:cs typeface="Arial"/>
              </a:rPr>
              <a:t>What we want, what it buys, and how you can check every number in this deck.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9D9D9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9D9D9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944" y="438911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749808"/>
            <a:ext cx="1689811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ask: INR 1.6 crore for 12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700784"/>
            <a:ext cx="1417320" cy="5029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011680"/>
            <a:ext cx="16898111" cy="360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Indicative pre-seed of INR 1.6 crore (~US$190,000), to convert this prototype into three design-partner pilots within two quarters. [model]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" y="3246120"/>
            <a:ext cx="10138867" cy="141732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4901183"/>
            <a:ext cx="101388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Founding team + one senior engineer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33811" y="3246120"/>
            <a:ext cx="3379622" cy="1417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3811" y="4901183"/>
            <a:ext cx="337962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Pilot infrastructure and compliance advisory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213433" y="3246120"/>
            <a:ext cx="3379622" cy="1417320"/>
          </a:xfrm>
          <a:prstGeom prst="rect">
            <a:avLst/>
          </a:prstGeom>
          <a:solidFill>
            <a:srgbClr val="E6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13433" y="4901183"/>
            <a:ext cx="337962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2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GTM, developer relations, open-source community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833811" y="3246120"/>
            <a:ext cx="0" cy="141732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4213433" y="3246120"/>
            <a:ext cx="0" cy="141732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94944" y="5760720"/>
            <a:ext cx="1689811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460073"/>
                </a:solidFill>
                <a:latin typeface="Arial"/>
                <a:ea typeface="Arial"/>
                <a:cs typeface="Arial"/>
              </a:rPr>
              <a:t>MILESTONE GATES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94944" y="6181344"/>
          <a:ext cx="16898110" cy="25420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599"/>
                <a:gridCol w="15526511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Quarter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20" b="1" i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Milestone gate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46007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Q1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Open-source launch; 3 design-partner pilots signed; Console GA track scoped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Q2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 pilots live; first partner-traffic calibration cycles; expanded-corpus recall target met or explained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Q3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Threshold and quality targets met on partner traffic; first paid conversions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Q4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SOC 2 kickoff; repeatable SI-attached deal template; year-2 plan grounded in pilot data</a:t>
                      </a:r>
                    </a:p>
                  </a:txBody>
                  <a:tcPr marL="109728" marR="109728" marT="45720" marB="45720" anchor="ctr">
                    <a:lnB w="9525" cap="flat">
                      <a:solidFill>
                        <a:srgbClr val="D9D9D9"/>
                      </a:solidFill>
                    </a:lnB>
                    <a:lnT w="9525" cap="flat">
                      <a:solidFill>
                        <a:srgbClr val="D9D9D9"/>
                      </a:solidFill>
                    </a:lnT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94944" y="9107424"/>
            <a:ext cx="16898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Source: proposal §10.4 · the funding figure and allocation are [model] assumptions, stated as such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08080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10287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1691640"/>
            <a:ext cx="14264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 built the supervision layer,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510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and it runs.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3931920"/>
            <a:ext cx="27889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840/840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986783"/>
            <a:ext cx="78638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verdicts correct on a frozen corpus [B-01]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4535424"/>
            <a:ext cx="27889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0.133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590288"/>
            <a:ext cx="78638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deterministic detection at P99 [B-05]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5138928"/>
            <a:ext cx="27889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1,200+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5193792"/>
            <a:ext cx="78638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tests on two machines and CI [B-09]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5742432"/>
            <a:ext cx="27889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5797296"/>
            <a:ext cx="78638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published limitations, documented rather than hidden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6675120"/>
            <a:ext cx="6035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E6BFFF"/>
                </a:solidFill>
                <a:latin typeface="Arial"/>
                <a:ea typeface="Arial"/>
                <a:cs typeface="Arial"/>
              </a:rPr>
              <a:t>WHAT WE ASK OF THIS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7114032"/>
            <a:ext cx="457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2304" y="7114032"/>
            <a:ext cx="103327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 ControlPlane to advance in the Accenture Innovation Challenge 2026.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7845552"/>
            <a:ext cx="457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2304" y="7845552"/>
            <a:ext cx="103327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the design-partner conversation inside Accenture's responsible-AI practice backed by US$3 billion and 80,000 specialists [M-10].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8577072"/>
            <a:ext cx="457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A100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2304" y="8577072"/>
            <a:ext cx="103327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Consider the indicative pre-seed of INR 1.6 crore to convert this prototype into three live pilots within two quarters.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121640" y="3931920"/>
            <a:ext cx="3429000" cy="2788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37744" rIns="237744" tIns="219456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TEST WE INVITE</a:t>
            </a:r>
          </a:p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Clone the repository, run one command, and check any number in this deck.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72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-m eval.run_all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720" b="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built it so that you could.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9189720"/>
            <a:ext cx="1426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ControlPlane: oversight for AI, built under oversight.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51408" y="9646920"/>
            <a:ext cx="35935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9D9D9"/>
                </a:solidFill>
                <a:latin typeface="Arial"/>
                <a:ea typeface="Arial"/>
                <a:cs typeface="Arial"/>
              </a:rPr>
              <a:t>Copyright © 2026 Accenture. All rights reserved.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55312" y="9646920"/>
            <a:ext cx="548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9D9D9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DAHSS0okNvM</dc:identifier>
  <dcterms:modified xsi:type="dcterms:W3CDTF">2011-08-01T06:04:30Z</dcterms:modified>
  <cp:revision>1</cp:revision>
  <dc:title>AIC_Talent-Brand_PPT-Template (1).pptx</dc:title>
</cp:coreProperties>
</file>