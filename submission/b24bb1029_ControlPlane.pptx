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3"/>
  </p:notesMasterIdLst>
  <p:sldIdLst>
    <p:sldId id="256" r:id="rId6"/>
    <p:sldId id="258" r:id="rId8"/>
    <p:sldId id="263" r:id="rId19"/>
    <p:sldId id="264" r:id="rId20"/>
    <p:sldId id="259" r:id="rId9"/>
    <p:sldId id="265" r:id="rId21"/>
    <p:sldId id="266" r:id="rId22"/>
    <p:sldId id="267" r:id="rId23"/>
    <p:sldId id="260" r:id="rId10"/>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286" r:id="rId42"/>
    <p:sldId id="261" r:id="rId11"/>
    <p:sldId id="262" r:id="rId12"/>
  </p:sldIdLst>
  <p:sldSz cx="18288000" cy="10287000"/>
  <p:notesSz cx="6858000" cy="9144000"/>
  <p:embeddedFontLst>
    <p:embeddedFont>
      <p:font typeface="Arimo" charset="1" panose="020B0604020202020204"/>
      <p:regular r:id="rId16"/>
    </p:embeddedFont>
    <p:embeddedFont>
      <p:font typeface="Arimo Bold" charset="1" panose="020B0704020202020204"/>
      <p:regular r:id="rId17"/>
    </p:embeddedFont>
    <p:embeddedFont>
      <p:font typeface="Arimo Bold Italics" charset="1" panose="020B0704020202090204"/>
      <p:regular r:id="rId18"/>
    </p:embeddedFont>
  </p:embeddedFontLst>
  <p:defaultTextStyle>
    <a:defPPr>
      <a:defRPr lang="en-US"/>
    </a:defPPr>
    <a:lvl1pPr marL="0" algn="l" defTabSz="914400" rtl="0" eaLnBrk="1" latinLnBrk="0" hangingPunct="1">
      <a:defRPr sz="1800" kern="1200">
        <a:solidFill>
          <a:schemeClr val="tx1"/>
        </a:solidFill>
        <a:latin typeface="Arial"/>
        <a:ea typeface="Arial"/>
        <a:cs typeface="Arial"/>
      </a:defRPr>
    </a:lvl1pPr>
    <a:lvl2pPr marL="457200" algn="l" defTabSz="914400" rtl="0" eaLnBrk="1" latinLnBrk="0" hangingPunct="1">
      <a:defRPr sz="1800" kern="1200">
        <a:solidFill>
          <a:schemeClr val="tx1"/>
        </a:solidFill>
        <a:latin typeface="Arial"/>
        <a:ea typeface="Arial"/>
        <a:cs typeface="Arial"/>
      </a:defRPr>
    </a:lvl2pPr>
    <a:lvl3pPr marL="914400" algn="l" defTabSz="914400" rtl="0" eaLnBrk="1" latinLnBrk="0" hangingPunct="1">
      <a:defRPr sz="1800" kern="1200">
        <a:solidFill>
          <a:schemeClr val="tx1"/>
        </a:solidFill>
        <a:latin typeface="Arial"/>
        <a:ea typeface="Arial"/>
        <a:cs typeface="Arial"/>
      </a:defRPr>
    </a:lvl3pPr>
    <a:lvl4pPr marL="1371600" algn="l" defTabSz="914400" rtl="0" eaLnBrk="1" latinLnBrk="0" hangingPunct="1">
      <a:defRPr sz="1800" kern="1200">
        <a:solidFill>
          <a:schemeClr val="tx1"/>
        </a:solidFill>
        <a:latin typeface="Arial"/>
        <a:ea typeface="Arial"/>
        <a:cs typeface="Arial"/>
      </a:defRPr>
    </a:lvl4pPr>
    <a:lvl5pPr marL="1828800" algn="l" defTabSz="914400" rtl="0" eaLnBrk="1" latinLnBrk="0" hangingPunct="1">
      <a:defRPr sz="1800" kern="1200">
        <a:solidFill>
          <a:schemeClr val="tx1"/>
        </a:solidFill>
        <a:latin typeface="Arial"/>
        <a:ea typeface="Arial"/>
        <a:cs typeface="Arial"/>
      </a:defRPr>
    </a:lvl5pPr>
    <a:lvl6pPr marL="2286000" algn="l" defTabSz="914400" rtl="0" eaLnBrk="1" latinLnBrk="0" hangingPunct="1">
      <a:defRPr sz="1800" kern="1200">
        <a:solidFill>
          <a:schemeClr val="tx1"/>
        </a:solidFill>
        <a:latin typeface="Arial"/>
        <a:ea typeface="Arial"/>
        <a:cs typeface="Arial"/>
      </a:defRPr>
    </a:lvl6pPr>
    <a:lvl7pPr marL="2743200" algn="l" defTabSz="914400" rtl="0" eaLnBrk="1" latinLnBrk="0" hangingPunct="1">
      <a:defRPr sz="1800" kern="1200">
        <a:solidFill>
          <a:schemeClr val="tx1"/>
        </a:solidFill>
        <a:latin typeface="Arial"/>
        <a:ea typeface="Arial"/>
        <a:cs typeface="Arial"/>
      </a:defRPr>
    </a:lvl7pPr>
    <a:lvl8pPr marL="3200400" algn="l" defTabSz="914400" rtl="0" eaLnBrk="1" latinLnBrk="0" hangingPunct="1">
      <a:defRPr sz="1800" kern="1200">
        <a:solidFill>
          <a:schemeClr val="tx1"/>
        </a:solidFill>
        <a:latin typeface="Arial"/>
        <a:ea typeface="Arial"/>
        <a:cs typeface="Arial"/>
      </a:defRPr>
    </a:lvl8pPr>
    <a:lvl9pPr marL="3657600" algn="l" defTabSz="914400" rtl="0" eaLnBrk="1" latinLnBrk="0" hangingPunct="1">
      <a:defRPr sz="1800" kern="1200">
        <a:solidFill>
          <a:schemeClr val="tx1"/>
        </a:solidFill>
        <a:latin typeface="Arial"/>
        <a:ea typeface="Arial"/>
        <a:cs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notesMaster" Target="notesMasters/notesMaster1.xml"/><Relationship Id="rId14" Type="http://schemas.openxmlformats.org/officeDocument/2006/relationships/theme" Target="theme/theme2.xml"/><Relationship Id="rId15" Type="http://schemas.openxmlformats.org/officeDocument/2006/relationships/notesSlide" Target="notesSlides/notesSlide1.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font" Target="fonts/font18.fntdata"/><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a:ea typeface="Arial"/>
        <a:cs typeface="Arial"/>
      </a:defRPr>
    </a:lvl1pPr>
    <a:lvl2pPr marL="457200" algn="l" defTabSz="914400" rtl="0" eaLnBrk="1" latinLnBrk="0" hangingPunct="1">
      <a:defRPr sz="1200" kern="1200">
        <a:solidFill>
          <a:schemeClr val="tx1"/>
        </a:solidFill>
        <a:latin typeface="Arial"/>
        <a:ea typeface="Arial"/>
        <a:cs typeface="Arial"/>
      </a:defRPr>
    </a:lvl2pPr>
    <a:lvl3pPr marL="914400" algn="l" defTabSz="914400" rtl="0" eaLnBrk="1" latinLnBrk="0" hangingPunct="1">
      <a:defRPr sz="1200" kern="1200">
        <a:solidFill>
          <a:schemeClr val="tx1"/>
        </a:solidFill>
        <a:latin typeface="Arial"/>
        <a:ea typeface="Arial"/>
        <a:cs typeface="Arial"/>
      </a:defRPr>
    </a:lvl3pPr>
    <a:lvl4pPr marL="1371600" algn="l" defTabSz="914400" rtl="0" eaLnBrk="1" latinLnBrk="0" hangingPunct="1">
      <a:defRPr sz="1200" kern="1200">
        <a:solidFill>
          <a:schemeClr val="tx1"/>
        </a:solidFill>
        <a:latin typeface="Arial"/>
        <a:ea typeface="Arial"/>
        <a:cs typeface="Arial"/>
      </a:defRPr>
    </a:lvl4pPr>
    <a:lvl5pPr marL="1828800" algn="l" defTabSz="914400" rtl="0" eaLnBrk="1" latinLnBrk="0" hangingPunct="1">
      <a:defRPr sz="1200" kern="1200">
        <a:solidFill>
          <a:schemeClr val="tx1"/>
        </a:solidFill>
        <a:latin typeface="Arial"/>
        <a:ea typeface="Arial"/>
        <a:cs typeface="Arial"/>
      </a:defRPr>
    </a:lvl5pPr>
    <a:lvl6pPr marL="2286000" algn="l" defTabSz="914400" rtl="0" eaLnBrk="1" latinLnBrk="0" hangingPunct="1">
      <a:defRPr sz="1200" kern="1200">
        <a:solidFill>
          <a:schemeClr val="tx1"/>
        </a:solidFill>
        <a:latin typeface="Arial"/>
        <a:ea typeface="Arial"/>
        <a:cs typeface="Arial"/>
      </a:defRPr>
    </a:lvl6pPr>
    <a:lvl7pPr marL="2743200" algn="l" defTabSz="914400" rtl="0" eaLnBrk="1" latinLnBrk="0" hangingPunct="1">
      <a:defRPr sz="1200" kern="1200">
        <a:solidFill>
          <a:schemeClr val="tx1"/>
        </a:solidFill>
        <a:latin typeface="Arial"/>
        <a:ea typeface="Arial"/>
        <a:cs typeface="Arial"/>
      </a:defRPr>
    </a:lvl7pPr>
    <a:lvl8pPr marL="3200400" algn="l" defTabSz="914400" rtl="0" eaLnBrk="1" latinLnBrk="0" hangingPunct="1">
      <a:defRPr sz="1200" kern="1200">
        <a:solidFill>
          <a:schemeClr val="tx1"/>
        </a:solidFill>
        <a:latin typeface="Arial"/>
        <a:ea typeface="Arial"/>
        <a:cs typeface="Arial"/>
      </a:defRPr>
    </a:lvl8pPr>
    <a:lvl9pPr marL="3657600" algn="l" defTabSz="914400" rtl="0" eaLnBrk="1" latinLnBrk="0" hangingPunct="1">
      <a:defRPr sz="1200" kern="1200">
        <a:solidFill>
          <a:schemeClr val="tx1"/>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Arial"/>
          <a:ea typeface="Arial"/>
          <a:cs typeface="Arial"/>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a:ea typeface="Arial"/>
          <a:cs typeface="Arial"/>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a:ea typeface="Arial"/>
          <a:cs typeface="Arial"/>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a:ea typeface="Arial"/>
          <a:cs typeface="Arial"/>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Arial"/>
          <a:ea typeface="Arial"/>
          <a:cs typeface="Arial"/>
        </a:defRPr>
      </a:lvl9pPr>
    </p:bodyStyle>
    <p:otherStyle>
      <a:defPPr>
        <a:defRPr lang="en-US"/>
      </a:defPPr>
      <a:lvl1pPr marL="0" algn="l" defTabSz="914400" rtl="0" eaLnBrk="1" latinLnBrk="0" hangingPunct="1">
        <a:defRPr sz="1800" kern="1200">
          <a:solidFill>
            <a:schemeClr val="tx1"/>
          </a:solidFill>
          <a:latin typeface="Arial"/>
          <a:ea typeface="Arial"/>
          <a:cs typeface="Arial"/>
        </a:defRPr>
      </a:lvl1pPr>
      <a:lvl2pPr marL="457200" algn="l" defTabSz="914400" rtl="0" eaLnBrk="1" latinLnBrk="0" hangingPunct="1">
        <a:defRPr sz="1800" kern="1200">
          <a:solidFill>
            <a:schemeClr val="tx1"/>
          </a:solidFill>
          <a:latin typeface="Arial"/>
          <a:ea typeface="Arial"/>
          <a:cs typeface="Arial"/>
        </a:defRPr>
      </a:lvl2pPr>
      <a:lvl3pPr marL="914400" algn="l" defTabSz="914400" rtl="0" eaLnBrk="1" latinLnBrk="0" hangingPunct="1">
        <a:defRPr sz="1800" kern="1200">
          <a:solidFill>
            <a:schemeClr val="tx1"/>
          </a:solidFill>
          <a:latin typeface="Arial"/>
          <a:ea typeface="Arial"/>
          <a:cs typeface="Arial"/>
        </a:defRPr>
      </a:lvl3pPr>
      <a:lvl4pPr marL="1371600" algn="l" defTabSz="914400" rtl="0" eaLnBrk="1" latinLnBrk="0" hangingPunct="1">
        <a:defRPr sz="1800" kern="1200">
          <a:solidFill>
            <a:schemeClr val="tx1"/>
          </a:solidFill>
          <a:latin typeface="Arial"/>
          <a:ea typeface="Arial"/>
          <a:cs typeface="Arial"/>
        </a:defRPr>
      </a:lvl4pPr>
      <a:lvl5pPr marL="1828800" algn="l" defTabSz="914400" rtl="0" eaLnBrk="1" latinLnBrk="0" hangingPunct="1">
        <a:defRPr sz="1800" kern="1200">
          <a:solidFill>
            <a:schemeClr val="tx1"/>
          </a:solidFill>
          <a:latin typeface="Arial"/>
          <a:ea typeface="Arial"/>
          <a:cs typeface="Arial"/>
        </a:defRPr>
      </a:lvl5pPr>
      <a:lvl6pPr marL="2286000" algn="l" defTabSz="914400" rtl="0" eaLnBrk="1" latinLnBrk="0" hangingPunct="1">
        <a:defRPr sz="1800" kern="1200">
          <a:solidFill>
            <a:schemeClr val="tx1"/>
          </a:solidFill>
          <a:latin typeface="Arial"/>
          <a:ea typeface="Arial"/>
          <a:cs typeface="Arial"/>
        </a:defRPr>
      </a:lvl6pPr>
      <a:lvl7pPr marL="2743200" algn="l" defTabSz="914400" rtl="0" eaLnBrk="1" latinLnBrk="0" hangingPunct="1">
        <a:defRPr sz="1800" kern="1200">
          <a:solidFill>
            <a:schemeClr val="tx1"/>
          </a:solidFill>
          <a:latin typeface="Arial"/>
          <a:ea typeface="Arial"/>
          <a:cs typeface="Arial"/>
        </a:defRPr>
      </a:lvl7pPr>
      <a:lvl8pPr marL="3200400" algn="l" defTabSz="914400" rtl="0" eaLnBrk="1" latinLnBrk="0" hangingPunct="1">
        <a:defRPr sz="1800" kern="1200">
          <a:solidFill>
            <a:schemeClr val="tx1"/>
          </a:solidFill>
          <a:latin typeface="Arial"/>
          <a:ea typeface="Arial"/>
          <a:cs typeface="Arial"/>
        </a:defRPr>
      </a:lvl8pPr>
      <a:lvl9pPr marL="3657600" algn="l" defTabSz="914400" rtl="0" eaLnBrk="1" latinLnBrk="0" hangingPunct="1">
        <a:defRPr sz="1800" kern="1200">
          <a:solidFill>
            <a:schemeClr val="tx1"/>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eg"/><Relationship Id="rId5" Type="http://schemas.openxmlformats.org/officeDocument/2006/relationships/image" Target="../media/image3.png"/><Relationship Id="rId6" Type="http://schemas.openxmlformats.org/officeDocument/2006/relationships/image" Target="../media/image4.jpe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 Id="rId3"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13547865" y="9644777"/>
            <a:ext cx="3597135" cy="184671"/>
            <a:chOff x="0" y="0"/>
            <a:chExt cx="4796180" cy="246228"/>
          </a:xfrm>
        </p:grpSpPr>
        <p:sp>
          <p:nvSpPr>
            <p:cNvPr name="Freeform 4" id="4"/>
            <p:cNvSpPr/>
            <p:nvPr/>
          </p:nvSpPr>
          <p:spPr>
            <a:xfrm flipH="false" flipV="false" rot="0">
              <a:off x="0" y="0"/>
              <a:ext cx="4796184" cy="246222"/>
            </a:xfrm>
            <a:custGeom>
              <a:avLst/>
              <a:gdLst/>
              <a:ahLst/>
              <a:cxnLst/>
              <a:rect r="r" b="b" t="t" l="l"/>
              <a:pathLst>
                <a:path h="246222" w="4796184">
                  <a:moveTo>
                    <a:pt x="0" y="0"/>
                  </a:moveTo>
                  <a:lnTo>
                    <a:pt x="4796184" y="0"/>
                  </a:lnTo>
                  <a:lnTo>
                    <a:pt x="4796184" y="246222"/>
                  </a:lnTo>
                  <a:lnTo>
                    <a:pt x="0" y="246222"/>
                  </a:lnTo>
                  <a:close/>
                </a:path>
              </a:pathLst>
            </a:custGeom>
            <a:blipFill>
              <a:blip r:embed="rId4">
                <a:alphaModFix amt="0"/>
              </a:blip>
              <a:stretch>
                <a:fillRect l="0" t="-329549" r="0" b="-329551"/>
              </a:stretch>
            </a:blipFill>
          </p:spPr>
          <p:txBody>
            <a:bodyPr/>
            <a:p/>
          </p:txBody>
        </p:sp>
        <p:sp>
          <p:nvSpPr>
            <p:cNvPr name="TextBox 5" id="5"/>
            <p:cNvSpPr txBox="true"/>
            <p:nvPr/>
          </p:nvSpPr>
          <p:spPr>
            <a:xfrm>
              <a:off x="0" y="-19050"/>
              <a:ext cx="4796180" cy="265278"/>
            </a:xfrm>
            <a:prstGeom prst="rect">
              <a:avLst/>
            </a:prstGeom>
          </p:spPr>
          <p:txBody>
            <a:bodyPr anchor="ctr" rtlCol="false" tIns="0" lIns="0" bIns="0" rIns="0" wrap="square"/>
            <a:lstStyle/>
            <a:p>
              <a:pPr algn="r">
                <a:lnSpc>
                  <a:spcPts val="1439"/>
                </a:lnSpc>
              </a:pPr>
              <a:r>
                <a:rPr sz="1200" b="0" i="0">
                  <a:solidFill>
                    <a:srgbClr val="808080"/>
                  </a:solidFill>
                  <a:latin typeface="Arial"/>
                  <a:ea typeface="Arial"/>
                  <a:cs typeface="Arial"/>
                </a:rPr>
                <a:t>Copyright © 2026 Accenture. All rights reserved.</a:t>
              </a:r>
            </a:p>
          </p:txBody>
        </p:sp>
      </p:grpSp>
      <p:grpSp>
        <p:nvGrpSpPr>
          <p:cNvPr name="Group 6" id="6"/>
          <p:cNvGrpSpPr/>
          <p:nvPr/>
        </p:nvGrpSpPr>
        <p:grpSpPr>
          <a:xfrm rot="0">
            <a:off x="17528943" y="9644777"/>
            <a:ext cx="187557" cy="184671"/>
            <a:chOff x="0" y="0"/>
            <a:chExt cx="250076" cy="246228"/>
          </a:xfrm>
        </p:grpSpPr>
        <p:sp>
          <p:nvSpPr>
            <p:cNvPr name="Freeform 7" id="7"/>
            <p:cNvSpPr/>
            <p:nvPr/>
          </p:nvSpPr>
          <p:spPr>
            <a:xfrm flipH="false" flipV="false" rot="0">
              <a:off x="0" y="0"/>
              <a:ext cx="250070" cy="246222"/>
            </a:xfrm>
            <a:custGeom>
              <a:avLst/>
              <a:gdLst/>
              <a:ahLst/>
              <a:cxnLst/>
              <a:rect r="r" b="b" t="t" l="l"/>
              <a:pathLst>
                <a:path h="246222" w="250070">
                  <a:moveTo>
                    <a:pt x="0" y="0"/>
                  </a:moveTo>
                  <a:lnTo>
                    <a:pt x="250070" y="0"/>
                  </a:lnTo>
                  <a:lnTo>
                    <a:pt x="250070" y="246222"/>
                  </a:lnTo>
                  <a:lnTo>
                    <a:pt x="0" y="246222"/>
                  </a:lnTo>
                  <a:close/>
                </a:path>
              </a:pathLst>
            </a:custGeom>
            <a:blipFill>
              <a:blip r:embed="rId4">
                <a:alphaModFix amt="0"/>
              </a:blip>
              <a:stretch>
                <a:fillRect l="-76331" t="0" r="-76333" b="-2"/>
              </a:stretch>
            </a:blipFill>
          </p:spPr>
          <p:txBody>
            <a:bodyPr/>
            <a:p/>
          </p:txBody>
        </p:sp>
        <p:sp>
          <p:nvSpPr>
            <p:cNvPr name="TextBox 8" id="8"/>
            <p:cNvSpPr txBox="true"/>
            <p:nvPr/>
          </p:nvSpPr>
          <p:spPr>
            <a:xfrm>
              <a:off x="0" y="-19050"/>
              <a:ext cx="250076" cy="265278"/>
            </a:xfrm>
            <a:prstGeom prst="rect">
              <a:avLst/>
            </a:prstGeom>
          </p:spPr>
          <p:txBody>
            <a:bodyPr anchor="ctr" rtlCol="false" tIns="0" lIns="0" bIns="0" rIns="0" wrap="square"/>
            <a:lstStyle/>
            <a:p>
              <a:pPr algn="r">
                <a:lnSpc>
                  <a:spcPts val="1439"/>
                </a:lnSpc>
              </a:pPr>
              <a:r>
                <a:rPr sz="1200" b="0" i="0">
                  <a:solidFill>
                    <a:srgbClr val="808080"/>
                  </a:solidFill>
                  <a:latin typeface="Arial"/>
                  <a:ea typeface="Arial"/>
                  <a:cs typeface="Arial"/>
                </a:rPr>
                <a:t>1</a:t>
              </a:r>
            </a:p>
          </p:txBody>
        </p:sp>
      </p:grpSp>
      <p:grpSp>
        <p:nvGrpSpPr>
          <p:cNvPr name="Group 9" id="9"/>
          <p:cNvGrpSpPr/>
          <p:nvPr/>
        </p:nvGrpSpPr>
        <p:grpSpPr>
          <a:xfrm rot="0">
            <a:off x="829761" y="9586236"/>
            <a:ext cx="274806" cy="301752"/>
            <a:chOff x="0" y="0"/>
            <a:chExt cx="366408" cy="402336"/>
          </a:xfrm>
        </p:grpSpPr>
        <p:sp>
          <p:nvSpPr>
            <p:cNvPr name="Freeform 10" id="10"/>
            <p:cNvSpPr/>
            <p:nvPr/>
          </p:nvSpPr>
          <p:spPr>
            <a:xfrm flipH="false" flipV="false" rot="0">
              <a:off x="0" y="0"/>
              <a:ext cx="366395" cy="402336"/>
            </a:xfrm>
            <a:custGeom>
              <a:avLst/>
              <a:gdLst/>
              <a:ahLst/>
              <a:cxnLst/>
              <a:rect r="r" b="b" t="t" l="l"/>
              <a:pathLst>
                <a:path h="402336" w="366395">
                  <a:moveTo>
                    <a:pt x="0" y="402336"/>
                  </a:moveTo>
                  <a:lnTo>
                    <a:pt x="366395" y="253619"/>
                  </a:lnTo>
                  <a:lnTo>
                    <a:pt x="366395" y="148717"/>
                  </a:lnTo>
                  <a:lnTo>
                    <a:pt x="0" y="0"/>
                  </a:lnTo>
                  <a:lnTo>
                    <a:pt x="0" y="105029"/>
                  </a:lnTo>
                  <a:lnTo>
                    <a:pt x="236855" y="201168"/>
                  </a:lnTo>
                  <a:lnTo>
                    <a:pt x="0" y="297307"/>
                  </a:lnTo>
                  <a:lnTo>
                    <a:pt x="0" y="402336"/>
                  </a:lnTo>
                  <a:close/>
                </a:path>
              </a:pathLst>
            </a:custGeom>
            <a:solidFill>
              <a:srgbClr val="A100FF"/>
            </a:solidFill>
          </p:spPr>
          <p:txBody>
            <a:bodyPr/>
            <a:p/>
          </p:txBody>
        </p:sp>
      </p:grpSp>
      <p:grpSp>
        <p:nvGrpSpPr>
          <p:cNvPr name="Group 11" id="11"/>
          <p:cNvGrpSpPr/>
          <p:nvPr/>
        </p:nvGrpSpPr>
        <p:grpSpPr>
          <a:xfrm rot="0">
            <a:off x="1757924" y="836381"/>
            <a:ext cx="1865728" cy="492766"/>
            <a:chOff x="0" y="0"/>
            <a:chExt cx="2487638" cy="657022"/>
          </a:xfrm>
        </p:grpSpPr>
        <p:sp>
          <p:nvSpPr>
            <p:cNvPr name="Freeform 12" id="12" descr="accenture logo"/>
            <p:cNvSpPr/>
            <p:nvPr/>
          </p:nvSpPr>
          <p:spPr>
            <a:xfrm flipH="false" flipV="false" rot="0">
              <a:off x="0" y="0"/>
              <a:ext cx="2487676" cy="656971"/>
            </a:xfrm>
            <a:custGeom>
              <a:avLst/>
              <a:gdLst/>
              <a:ahLst/>
              <a:cxnLst/>
              <a:rect r="r" b="b" t="t" l="l"/>
              <a:pathLst>
                <a:path h="656971" w="2487676">
                  <a:moveTo>
                    <a:pt x="0" y="0"/>
                  </a:moveTo>
                  <a:lnTo>
                    <a:pt x="2487676" y="0"/>
                  </a:lnTo>
                  <a:lnTo>
                    <a:pt x="2487676" y="656971"/>
                  </a:lnTo>
                  <a:lnTo>
                    <a:pt x="0" y="656971"/>
                  </a:lnTo>
                  <a:lnTo>
                    <a:pt x="0" y="0"/>
                  </a:lnTo>
                  <a:close/>
                </a:path>
              </a:pathLst>
            </a:custGeom>
            <a:blipFill>
              <a:blip r:embed="rId5"/>
              <a:stretch>
                <a:fillRect l="0" t="-112" r="1" b="-119"/>
              </a:stretch>
            </a:blipFill>
          </p:spPr>
          <p:txBody>
            <a:bodyPr/>
            <a:p/>
          </p:txBody>
        </p:sp>
      </p:grpSp>
      <p:grpSp>
        <p:nvGrpSpPr>
          <p:cNvPr name="Group 13" id="13"/>
          <p:cNvGrpSpPr/>
          <p:nvPr/>
        </p:nvGrpSpPr>
        <p:grpSpPr>
          <a:xfrm rot="0">
            <a:off x="29" y="1924"/>
            <a:ext cx="18287971" cy="10285076"/>
            <a:chOff x="0" y="0"/>
            <a:chExt cx="24383962" cy="13713435"/>
          </a:xfrm>
        </p:grpSpPr>
        <p:sp>
          <p:nvSpPr>
            <p:cNvPr name="Freeform 14" id="14"/>
            <p:cNvSpPr/>
            <p:nvPr/>
          </p:nvSpPr>
          <p:spPr>
            <a:xfrm flipH="false" flipV="false" rot="0">
              <a:off x="0" y="0"/>
              <a:ext cx="24384000" cy="13713461"/>
            </a:xfrm>
            <a:custGeom>
              <a:avLst/>
              <a:gdLst/>
              <a:ahLst/>
              <a:cxnLst/>
              <a:rect r="r" b="b" t="t" l="l"/>
              <a:pathLst>
                <a:path h="13713461" w="24384000">
                  <a:moveTo>
                    <a:pt x="0" y="0"/>
                  </a:moveTo>
                  <a:lnTo>
                    <a:pt x="24384000" y="0"/>
                  </a:lnTo>
                  <a:lnTo>
                    <a:pt x="24384000" y="13713461"/>
                  </a:lnTo>
                  <a:lnTo>
                    <a:pt x="0" y="13713461"/>
                  </a:lnTo>
                  <a:lnTo>
                    <a:pt x="0" y="0"/>
                  </a:lnTo>
                  <a:close/>
                </a:path>
              </a:pathLst>
            </a:custGeom>
            <a:blipFill>
              <a:blip r:embed="rId6"/>
              <a:stretch>
                <a:fillRect l="0" t="0" r="-210" b="-3129"/>
              </a:stretch>
            </a:blipFill>
          </p:spPr>
          <p:txBody>
            <a:bodyPr/>
            <a:p/>
          </p:txBody>
        </p:sp>
      </p:grpSp>
      <p:sp>
        <p:nvSpPr>
          <p:cNvPr name="TextBox 15" id="15"/>
          <p:cNvSpPr txBox="true"/>
          <p:nvPr/>
        </p:nvSpPr>
        <p:spPr>
          <a:xfrm rot="0">
            <a:off x="2286000" y="5687568"/>
            <a:ext cx="13716000" cy="1207008"/>
          </a:xfrm>
          <a:prstGeom prst="rect">
            <a:avLst/>
          </a:prstGeom>
        </p:spPr>
        <p:txBody>
          <a:bodyPr anchor="t" rtlCol="false" tIns="0" lIns="0" bIns="0" rIns="0" wrap="square">
            <a:spAutoFit/>
          </a:bodyPr>
          <a:lstStyle/>
          <a:p>
            <a:pPr algn="ctr">
              <a:lnSpc>
                <a:spcPts val="5580"/>
              </a:lnSpc>
            </a:pPr>
            <a:r>
              <a:rPr sz="7200" b="1" i="0">
                <a:solidFill>
                  <a:srgbClr val="FFFFFF"/>
                </a:solidFill>
                <a:latin typeface="Arial"/>
                <a:ea typeface="Arial"/>
                <a:cs typeface="Arial"/>
              </a:rPr>
              <a:t>ControlPlane</a:t>
            </a:r>
          </a:p>
        </p:txBody>
      </p:sp>
      <p:grpSp>
        <p:nvGrpSpPr>
          <p:cNvPr name="Group 16" id="16"/>
          <p:cNvGrpSpPr/>
          <p:nvPr/>
        </p:nvGrpSpPr>
        <p:grpSpPr>
          <a:xfrm rot="0">
            <a:off x="5788114" y="8985714"/>
            <a:ext cx="6711772" cy="528971"/>
            <a:chOff x="0" y="0"/>
            <a:chExt cx="8949030" cy="705294"/>
          </a:xfrm>
        </p:grpSpPr>
        <p:sp>
          <p:nvSpPr>
            <p:cNvPr name="Freeform 17" id="17"/>
            <p:cNvSpPr/>
            <p:nvPr/>
          </p:nvSpPr>
          <p:spPr>
            <a:xfrm flipH="false" flipV="false" rot="0">
              <a:off x="0" y="0"/>
              <a:ext cx="8949055" cy="705231"/>
            </a:xfrm>
            <a:custGeom>
              <a:avLst/>
              <a:gdLst/>
              <a:ahLst/>
              <a:cxnLst/>
              <a:rect r="r" b="b" t="t" l="l"/>
              <a:pathLst>
                <a:path h="705231" w="8949055">
                  <a:moveTo>
                    <a:pt x="0" y="0"/>
                  </a:moveTo>
                  <a:lnTo>
                    <a:pt x="8949055" y="0"/>
                  </a:lnTo>
                  <a:lnTo>
                    <a:pt x="8949055" y="705231"/>
                  </a:lnTo>
                  <a:lnTo>
                    <a:pt x="0" y="705231"/>
                  </a:lnTo>
                  <a:close/>
                </a:path>
              </a:pathLst>
            </a:custGeom>
            <a:solidFill>
              <a:srgbClr val="A100FF"/>
            </a:solidFill>
          </p:spPr>
          <p:txBody>
            <a:bodyPr/>
            <a:p/>
          </p:txBody>
        </p:sp>
      </p:grpSp>
      <p:sp>
        <p:nvSpPr>
          <p:cNvPr name="TextBox 18" id="18"/>
          <p:cNvSpPr txBox="true"/>
          <p:nvPr/>
        </p:nvSpPr>
        <p:spPr>
          <a:xfrm rot="0">
            <a:off x="5879554" y="8985494"/>
            <a:ext cx="6528892" cy="481613"/>
          </a:xfrm>
          <a:prstGeom prst="rect">
            <a:avLst/>
          </a:prstGeom>
        </p:spPr>
        <p:txBody>
          <a:bodyPr anchor="t" rtlCol="false" tIns="0" lIns="0" bIns="0" rIns="0">
            <a:spAutoFit/>
          </a:bodyPr>
          <a:lstStyle/>
          <a:p>
            <a:pPr algn="ctr">
              <a:lnSpc>
                <a:spcPts val="3240"/>
              </a:lnSpc>
            </a:pPr>
            <a:r>
              <a:rPr lang="en-US" sz="2700">
                <a:solidFill>
                  <a:srgbClr val="FFFFFF"/>
                </a:solidFill>
                <a:latin typeface="Arial"/>
                <a:ea typeface="Arial"/>
                <a:cs typeface="Arial"/>
                <a:sym typeface="Arial"/>
              </a:rPr>
              <a:t>Accenture Innovation Challenge 2026</a:t>
            </a:r>
          </a:p>
        </p:txBody>
      </p:sp>
      <p:grpSp>
        <p:nvGrpSpPr>
          <p:cNvPr name="Group 19" id="19"/>
          <p:cNvGrpSpPr/>
          <p:nvPr/>
        </p:nvGrpSpPr>
        <p:grpSpPr>
          <a:xfrm rot="0">
            <a:off x="1015336" y="1000592"/>
            <a:ext cx="1876844" cy="495700"/>
            <a:chOff x="0" y="0"/>
            <a:chExt cx="2502459" cy="660933"/>
          </a:xfrm>
        </p:grpSpPr>
        <p:sp>
          <p:nvSpPr>
            <p:cNvPr name="Freeform 20" id="20"/>
            <p:cNvSpPr/>
            <p:nvPr/>
          </p:nvSpPr>
          <p:spPr>
            <a:xfrm flipH="false" flipV="false" rot="0">
              <a:off x="0" y="0"/>
              <a:ext cx="2502408" cy="660908"/>
            </a:xfrm>
            <a:custGeom>
              <a:avLst/>
              <a:gdLst/>
              <a:ahLst/>
              <a:cxnLst/>
              <a:rect r="r" b="b" t="t" l="l"/>
              <a:pathLst>
                <a:path h="660908" w="2502408">
                  <a:moveTo>
                    <a:pt x="0" y="0"/>
                  </a:moveTo>
                  <a:lnTo>
                    <a:pt x="2502408" y="0"/>
                  </a:lnTo>
                  <a:lnTo>
                    <a:pt x="2502408" y="660908"/>
                  </a:lnTo>
                  <a:lnTo>
                    <a:pt x="0" y="660908"/>
                  </a:lnTo>
                  <a:lnTo>
                    <a:pt x="0" y="0"/>
                  </a:lnTo>
                  <a:close/>
                </a:path>
              </a:pathLst>
            </a:custGeom>
            <a:blipFill>
              <a:blip r:embed="rId7"/>
              <a:stretch>
                <a:fillRect l="0" t="0" r="-2" b="-3"/>
              </a:stretch>
            </a:blipFill>
          </p:spPr>
          <p:txBody>
            <a:bodyPr/>
            <a:p/>
          </p:txBody>
        </p:sp>
      </p:grpSp>
      <p:sp>
        <p:nvSpPr>
          <p:cNvPr id="21" name="TextBox 20"/>
          <p:cNvSpPr txBox="1"/>
          <p:nvPr/>
        </p:nvSpPr>
        <p:spPr>
          <a:xfrm>
            <a:off x="2286000" y="6949440"/>
            <a:ext cx="13716000" cy="1389888"/>
          </a:xfrm>
          <a:prstGeom prst="rect">
            <a:avLst/>
          </a:prstGeom>
          <a:noFill/>
        </p:spPr>
        <p:txBody>
          <a:bodyPr wrap="square" anchor="t" lIns="0" rIns="0" tIns="0" bIns="0">
            <a:spAutoFit/>
          </a:bodyPr>
          <a:lstStyle/>
          <a:p>
            <a:pPr algn="ctr">
              <a:spcBef>
                <a:spcPts val="0"/>
              </a:spcBef>
              <a:spcAft>
                <a:spcPts val="0"/>
              </a:spcAft>
            </a:pPr>
            <a:r>
              <a:rPr sz="3300" b="0" i="0">
                <a:solidFill>
                  <a:srgbClr val="FFFFFF"/>
                </a:solidFill>
                <a:latin typeface="Arial"/>
                <a:ea typeface="Arial"/>
                <a:cs typeface="Arial"/>
              </a:rPr>
              <a:t>The real-time oversight gateway for enterprise AI</a:t>
            </a:r>
          </a:p>
          <a:p>
            <a:pPr algn="ctr">
              <a:lnSpc>
                <a:spcPct val="110000"/>
              </a:lnSpc>
              <a:spcBef>
                <a:spcPts val="800"/>
              </a:spcBef>
              <a:spcAft>
                <a:spcPts val="0"/>
              </a:spcAft>
            </a:pPr>
            <a:r>
              <a:rPr sz="1950" b="0" i="0">
                <a:solidFill>
                  <a:srgbClr val="E6BFFF"/>
                </a:solidFill>
                <a:latin typeface="Arial"/>
                <a:ea typeface="Arial"/>
                <a:cs typeface="Arial"/>
              </a:rPr>
              <a:t>One URL change. Every response checked across performance, cost and responsibility, and one accountable verdict before delivery.</a:t>
            </a:r>
          </a:p>
        </p:txBody>
      </p:sp>
      <p:sp>
        <p:nvSpPr>
          <p:cNvPr id="22" name="TextBox 21"/>
          <p:cNvSpPr txBox="1"/>
          <p:nvPr/>
        </p:nvSpPr>
        <p:spPr>
          <a:xfrm>
            <a:off x="2286000" y="8449056"/>
            <a:ext cx="13716000" cy="384048"/>
          </a:xfrm>
          <a:prstGeom prst="rect">
            <a:avLst/>
          </a:prstGeom>
          <a:noFill/>
        </p:spPr>
        <p:txBody>
          <a:bodyPr wrap="square" anchor="t" lIns="0" rIns="0" tIns="0" bIns="0">
            <a:spAutoFit/>
          </a:bodyPr>
          <a:lstStyle/>
          <a:p>
            <a:pPr algn="ctr">
              <a:spcBef>
                <a:spcPts val="0"/>
              </a:spcBef>
              <a:spcAft>
                <a:spcPts val="0"/>
              </a:spcAft>
            </a:pPr>
            <a:r>
              <a:rPr sz="1800" b="0" i="0">
                <a:solidFill>
                  <a:srgbClr val="FFFFFF"/>
                </a:solidFill>
                <a:latin typeface="Arial"/>
                <a:ea typeface="Arial"/>
                <a:cs typeface="Arial"/>
              </a:rPr>
              <a:t>Team b24bb1029 · Priyanshu Pandey · Harshit Saini · Jayant Soni · Indian Institute of Technology Jodhpur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1500" y="9723777"/>
            <a:ext cx="288036" cy="303495"/>
            <a:chOff x="0" y="0"/>
            <a:chExt cx="384048" cy="404660"/>
          </a:xfrm>
        </p:grpSpPr>
        <p:sp>
          <p:nvSpPr>
            <p:cNvPr name="Freeform 3" id="3" descr="A picture containing drawing, clock  Description automatically generated"/>
            <p:cNvSpPr/>
            <p:nvPr/>
          </p:nvSpPr>
          <p:spPr>
            <a:xfrm flipH="false" flipV="false" rot="0">
              <a:off x="0" y="0"/>
              <a:ext cx="384048" cy="404622"/>
            </a:xfrm>
            <a:custGeom>
              <a:avLst/>
              <a:gdLst/>
              <a:ahLst/>
              <a:cxnLst/>
              <a:rect r="r" b="b" t="t" l="l"/>
              <a:pathLst>
                <a:path h="404622" w="384048">
                  <a:moveTo>
                    <a:pt x="0" y="0"/>
                  </a:moveTo>
                  <a:lnTo>
                    <a:pt x="384048" y="0"/>
                  </a:lnTo>
                  <a:lnTo>
                    <a:pt x="384048" y="404622"/>
                  </a:lnTo>
                  <a:lnTo>
                    <a:pt x="0" y="404622"/>
                  </a:lnTo>
                  <a:lnTo>
                    <a:pt x="0" y="0"/>
                  </a:lnTo>
                  <a:close/>
                </a:path>
              </a:pathLst>
            </a:custGeom>
            <a:blipFill>
              <a:blip r:embed="rId2"/>
              <a:stretch>
                <a:fillRect l="-175" t="0" r="-171" b="-9"/>
              </a:stretch>
            </a:blipFill>
          </p:spPr>
        </p:sp>
      </p:grpSp>
      <p:sp>
        <p:nvSpPr>
          <p:cNvPr name="TextBox 4" id="4"/>
          <p:cNvSpPr txBox="true"/>
          <p:nvPr/>
        </p:nvSpPr>
        <p:spPr>
          <a:xfrm rot="0">
            <a:off x="677799" y="799548"/>
            <a:ext cx="17145000" cy="1692802"/>
          </a:xfrm>
          <a:prstGeom prst="rect">
            <a:avLst/>
          </a:prstGeom>
        </p:spPr>
        <p:txBody>
          <a:bodyPr anchor="t" rtlCol="false" tIns="0" lIns="0" bIns="0" rIns="0">
            <a:spAutoFit/>
          </a:bodyPr>
          <a:lstStyle/>
          <a:p>
            <a:pPr algn="l">
              <a:lnSpc>
                <a:spcPts val="5184"/>
              </a:lnSpc>
            </a:pPr>
            <a:r>
              <a:rPr lang="en-US" sz="5400" b="true">
                <a:solidFill>
                  <a:srgbClr val="000000"/>
                </a:solidFill>
                <a:latin typeface="Arimo Bold"/>
                <a:ea typeface="Arimo Bold"/>
                <a:cs typeface="Arimo Bold"/>
                <a:sym typeface="Arimo Bold"/>
              </a:rPr>
              <a:t>Instructions</a:t>
            </a:r>
          </a:p>
          <a:p>
            <a:pPr algn="l">
              <a:lnSpc>
                <a:spcPts val="3456"/>
              </a:lnSpc>
            </a:pPr>
            <a:r>
              <a:rPr lang="en-US" b="true" sz="3600" i="true">
                <a:solidFill>
                  <a:srgbClr val="A100FF"/>
                </a:solidFill>
                <a:latin typeface="Arimo Bold Italics"/>
                <a:ea typeface="Arimo Bold Italics"/>
                <a:cs typeface="Arimo Bold Italics"/>
                <a:sym typeface="Arimo Bold Italics"/>
              </a:rPr>
              <a:t>Reference slide– Remove before submission</a:t>
            </a:r>
          </a:p>
        </p:txBody>
      </p:sp>
      <p:grpSp>
        <p:nvGrpSpPr>
          <p:cNvPr name="Group 5" id="5"/>
          <p:cNvGrpSpPr/>
          <p:nvPr/>
        </p:nvGrpSpPr>
        <p:grpSpPr>
          <a:xfrm rot="0">
            <a:off x="556422" y="2412816"/>
            <a:ext cx="16069485" cy="876205"/>
            <a:chOff x="0" y="0"/>
            <a:chExt cx="21425980" cy="1168273"/>
          </a:xfrm>
        </p:grpSpPr>
        <p:sp>
          <p:nvSpPr>
            <p:cNvPr name="Freeform 6" id="6"/>
            <p:cNvSpPr/>
            <p:nvPr/>
          </p:nvSpPr>
          <p:spPr>
            <a:xfrm flipH="false" flipV="false" rot="0">
              <a:off x="0" y="0"/>
              <a:ext cx="21426043" cy="1168273"/>
            </a:xfrm>
            <a:custGeom>
              <a:avLst/>
              <a:gdLst/>
              <a:ahLst/>
              <a:cxnLst/>
              <a:rect r="r" b="b" t="t" l="l"/>
              <a:pathLst>
                <a:path h="1168273" w="21426043">
                  <a:moveTo>
                    <a:pt x="0" y="70866"/>
                  </a:moveTo>
                  <a:cubicBezTo>
                    <a:pt x="0" y="31750"/>
                    <a:pt x="31750" y="0"/>
                    <a:pt x="70866" y="0"/>
                  </a:cubicBezTo>
                  <a:lnTo>
                    <a:pt x="21355177" y="0"/>
                  </a:lnTo>
                  <a:cubicBezTo>
                    <a:pt x="21394293" y="0"/>
                    <a:pt x="21426043" y="31750"/>
                    <a:pt x="21426043" y="70866"/>
                  </a:cubicBezTo>
                  <a:lnTo>
                    <a:pt x="21426043" y="1097407"/>
                  </a:lnTo>
                  <a:cubicBezTo>
                    <a:pt x="21426043" y="1136523"/>
                    <a:pt x="21394293" y="1168273"/>
                    <a:pt x="21355177" y="1168273"/>
                  </a:cubicBezTo>
                  <a:lnTo>
                    <a:pt x="70866" y="1168273"/>
                  </a:lnTo>
                  <a:cubicBezTo>
                    <a:pt x="31750" y="1168273"/>
                    <a:pt x="0" y="1136523"/>
                    <a:pt x="0" y="1097407"/>
                  </a:cubicBezTo>
                  <a:close/>
                </a:path>
              </a:pathLst>
            </a:custGeom>
            <a:solidFill>
              <a:srgbClr val="F2F2F2"/>
            </a:solidFill>
          </p:spPr>
        </p:sp>
        <p:sp>
          <p:nvSpPr>
            <p:cNvPr name="TextBox 7" id="7"/>
            <p:cNvSpPr txBox="true"/>
            <p:nvPr/>
          </p:nvSpPr>
          <p:spPr>
            <a:xfrm>
              <a:off x="0" y="-9525"/>
              <a:ext cx="21425980" cy="1177798"/>
            </a:xfrm>
            <a:prstGeom prst="rect">
              <a:avLst/>
            </a:prstGeom>
          </p:spPr>
          <p:txBody>
            <a:bodyPr anchor="ctr" rtlCol="false" tIns="50800" lIns="50800" bIns="50800" rIns="50800"/>
            <a:lstStyle/>
            <a:p>
              <a:pPr algn="l" marL="434340" indent="-217170" lvl="1">
                <a:lnSpc>
                  <a:spcPts val="2879"/>
                </a:lnSpc>
                <a:buAutoNum type="arabicPeriod" startAt="1"/>
              </a:pPr>
              <a:r>
                <a:rPr lang="en-US" sz="2400">
                  <a:solidFill>
                    <a:srgbClr val="000000"/>
                  </a:solidFill>
                  <a:latin typeface="Arimo"/>
                  <a:ea typeface="Arimo"/>
                  <a:cs typeface="Arimo"/>
                  <a:sym typeface="Arimo"/>
                </a:rPr>
                <a:t>Use the given template for your idea submission.</a:t>
              </a:r>
            </a:p>
          </p:txBody>
        </p:sp>
      </p:grpSp>
      <p:grpSp>
        <p:nvGrpSpPr>
          <p:cNvPr name="Group 8" id="8"/>
          <p:cNvGrpSpPr/>
          <p:nvPr/>
        </p:nvGrpSpPr>
        <p:grpSpPr>
          <a:xfrm rot="0">
            <a:off x="556422" y="3494856"/>
            <a:ext cx="16069485" cy="950976"/>
            <a:chOff x="0" y="0"/>
            <a:chExt cx="21425980" cy="1267968"/>
          </a:xfrm>
        </p:grpSpPr>
        <p:sp>
          <p:nvSpPr>
            <p:cNvPr name="Freeform 9" id="9"/>
            <p:cNvSpPr/>
            <p:nvPr/>
          </p:nvSpPr>
          <p:spPr>
            <a:xfrm flipH="false" flipV="false" rot="0">
              <a:off x="0" y="0"/>
              <a:ext cx="21425917" cy="1267968"/>
            </a:xfrm>
            <a:custGeom>
              <a:avLst/>
              <a:gdLst/>
              <a:ahLst/>
              <a:cxnLst/>
              <a:rect r="r" b="b" t="t" l="l"/>
              <a:pathLst>
                <a:path h="1267968" w="21425917">
                  <a:moveTo>
                    <a:pt x="0" y="76835"/>
                  </a:moveTo>
                  <a:cubicBezTo>
                    <a:pt x="0" y="34417"/>
                    <a:pt x="34417" y="0"/>
                    <a:pt x="76835" y="0"/>
                  </a:cubicBezTo>
                  <a:lnTo>
                    <a:pt x="21349081" y="0"/>
                  </a:lnTo>
                  <a:cubicBezTo>
                    <a:pt x="21391499" y="0"/>
                    <a:pt x="21425917" y="34417"/>
                    <a:pt x="21425917" y="76835"/>
                  </a:cubicBezTo>
                  <a:lnTo>
                    <a:pt x="21425917" y="1191133"/>
                  </a:lnTo>
                  <a:cubicBezTo>
                    <a:pt x="21425917" y="1233551"/>
                    <a:pt x="21391499" y="1267968"/>
                    <a:pt x="21349081" y="1267968"/>
                  </a:cubicBezTo>
                  <a:lnTo>
                    <a:pt x="76835" y="1267968"/>
                  </a:lnTo>
                  <a:cubicBezTo>
                    <a:pt x="34417" y="1267968"/>
                    <a:pt x="0" y="1233551"/>
                    <a:pt x="0" y="1191133"/>
                  </a:cubicBezTo>
                  <a:close/>
                </a:path>
              </a:pathLst>
            </a:custGeom>
            <a:solidFill>
              <a:srgbClr val="F2F2F2"/>
            </a:solidFill>
          </p:spPr>
        </p:sp>
        <p:sp>
          <p:nvSpPr>
            <p:cNvPr name="TextBox 10" id="10"/>
            <p:cNvSpPr txBox="true"/>
            <p:nvPr/>
          </p:nvSpPr>
          <p:spPr>
            <a:xfrm>
              <a:off x="0" y="-9525"/>
              <a:ext cx="21425980" cy="1277493"/>
            </a:xfrm>
            <a:prstGeom prst="rect">
              <a:avLst/>
            </a:prstGeom>
          </p:spPr>
          <p:txBody>
            <a:bodyPr anchor="ctr" rtlCol="false" tIns="50800" lIns="50800" bIns="50800" rIns="50800"/>
            <a:lstStyle/>
            <a:p>
              <a:pPr algn="l" marL="434340" indent="-217170" lvl="1">
                <a:lnSpc>
                  <a:spcPts val="2879"/>
                </a:lnSpc>
                <a:buAutoNum type="arabicPeriod" startAt="1"/>
              </a:pPr>
              <a:r>
                <a:rPr lang="en-US" sz="2400">
                  <a:solidFill>
                    <a:srgbClr val="000000"/>
                  </a:solidFill>
                  <a:latin typeface="Arimo"/>
                  <a:ea typeface="Arimo"/>
                  <a:cs typeface="Arimo"/>
                  <a:sym typeface="Arimo"/>
                </a:rPr>
                <a:t>Follow file naming format: Team name_Idea Name.pptx</a:t>
              </a:r>
            </a:p>
          </p:txBody>
        </p:sp>
      </p:grpSp>
      <p:grpSp>
        <p:nvGrpSpPr>
          <p:cNvPr name="Group 11" id="11"/>
          <p:cNvGrpSpPr/>
          <p:nvPr/>
        </p:nvGrpSpPr>
        <p:grpSpPr>
          <a:xfrm rot="0">
            <a:off x="556431" y="4646066"/>
            <a:ext cx="16069475" cy="876205"/>
            <a:chOff x="0" y="0"/>
            <a:chExt cx="21425967" cy="1168273"/>
          </a:xfrm>
        </p:grpSpPr>
        <p:sp>
          <p:nvSpPr>
            <p:cNvPr name="Freeform 12" id="12"/>
            <p:cNvSpPr/>
            <p:nvPr/>
          </p:nvSpPr>
          <p:spPr>
            <a:xfrm flipH="false" flipV="false" rot="0">
              <a:off x="0" y="0"/>
              <a:ext cx="21426043" cy="1168273"/>
            </a:xfrm>
            <a:custGeom>
              <a:avLst/>
              <a:gdLst/>
              <a:ahLst/>
              <a:cxnLst/>
              <a:rect r="r" b="b" t="t" l="l"/>
              <a:pathLst>
                <a:path h="1168273" w="21426043">
                  <a:moveTo>
                    <a:pt x="0" y="70866"/>
                  </a:moveTo>
                  <a:cubicBezTo>
                    <a:pt x="0" y="31750"/>
                    <a:pt x="31750" y="0"/>
                    <a:pt x="70866" y="0"/>
                  </a:cubicBezTo>
                  <a:lnTo>
                    <a:pt x="21355177" y="0"/>
                  </a:lnTo>
                  <a:cubicBezTo>
                    <a:pt x="21394293" y="0"/>
                    <a:pt x="21426043" y="31750"/>
                    <a:pt x="21426043" y="70866"/>
                  </a:cubicBezTo>
                  <a:lnTo>
                    <a:pt x="21426043" y="1097407"/>
                  </a:lnTo>
                  <a:cubicBezTo>
                    <a:pt x="21426043" y="1136523"/>
                    <a:pt x="21394293" y="1168273"/>
                    <a:pt x="21355177" y="1168273"/>
                  </a:cubicBezTo>
                  <a:lnTo>
                    <a:pt x="70866" y="1168273"/>
                  </a:lnTo>
                  <a:cubicBezTo>
                    <a:pt x="31750" y="1168273"/>
                    <a:pt x="0" y="1136523"/>
                    <a:pt x="0" y="1097407"/>
                  </a:cubicBezTo>
                  <a:close/>
                </a:path>
              </a:pathLst>
            </a:custGeom>
            <a:solidFill>
              <a:srgbClr val="F2F2F2"/>
            </a:solidFill>
          </p:spPr>
        </p:sp>
        <p:sp>
          <p:nvSpPr>
            <p:cNvPr name="TextBox 13" id="13"/>
            <p:cNvSpPr txBox="true"/>
            <p:nvPr/>
          </p:nvSpPr>
          <p:spPr>
            <a:xfrm>
              <a:off x="0" y="-9525"/>
              <a:ext cx="21425967" cy="1177798"/>
            </a:xfrm>
            <a:prstGeom prst="rect">
              <a:avLst/>
            </a:prstGeom>
          </p:spPr>
          <p:txBody>
            <a:bodyPr anchor="ctr" rtlCol="false" tIns="50800" lIns="50800" bIns="50800" rIns="50800"/>
            <a:lstStyle/>
            <a:p>
              <a:pPr algn="l" marL="434340" indent="-217170" lvl="1">
                <a:lnSpc>
                  <a:spcPts val="2879"/>
                </a:lnSpc>
                <a:buAutoNum type="arabicPeriod" startAt="1"/>
              </a:pPr>
              <a:r>
                <a:rPr lang="en-US" sz="2400">
                  <a:solidFill>
                    <a:srgbClr val="000000"/>
                  </a:solidFill>
                  <a:latin typeface="Arimo"/>
                  <a:ea typeface="Arimo"/>
                  <a:cs typeface="Arimo"/>
                  <a:sym typeface="Arimo"/>
                </a:rPr>
                <a:t>Ensure the spell check is done before submitting</a:t>
              </a:r>
            </a:p>
          </p:txBody>
        </p:sp>
      </p:grpSp>
      <p:grpSp>
        <p:nvGrpSpPr>
          <p:cNvPr name="Group 14" id="14"/>
          <p:cNvGrpSpPr/>
          <p:nvPr/>
        </p:nvGrpSpPr>
        <p:grpSpPr>
          <a:xfrm rot="0">
            <a:off x="556422" y="5762692"/>
            <a:ext cx="16069475" cy="876205"/>
            <a:chOff x="0" y="0"/>
            <a:chExt cx="21425967" cy="1168273"/>
          </a:xfrm>
        </p:grpSpPr>
        <p:sp>
          <p:nvSpPr>
            <p:cNvPr name="Freeform 15" id="15"/>
            <p:cNvSpPr/>
            <p:nvPr/>
          </p:nvSpPr>
          <p:spPr>
            <a:xfrm flipH="false" flipV="false" rot="0">
              <a:off x="0" y="0"/>
              <a:ext cx="21426043" cy="1168273"/>
            </a:xfrm>
            <a:custGeom>
              <a:avLst/>
              <a:gdLst/>
              <a:ahLst/>
              <a:cxnLst/>
              <a:rect r="r" b="b" t="t" l="l"/>
              <a:pathLst>
                <a:path h="1168273" w="21426043">
                  <a:moveTo>
                    <a:pt x="0" y="70866"/>
                  </a:moveTo>
                  <a:cubicBezTo>
                    <a:pt x="0" y="31750"/>
                    <a:pt x="31750" y="0"/>
                    <a:pt x="70866" y="0"/>
                  </a:cubicBezTo>
                  <a:lnTo>
                    <a:pt x="21355177" y="0"/>
                  </a:lnTo>
                  <a:cubicBezTo>
                    <a:pt x="21394293" y="0"/>
                    <a:pt x="21426043" y="31750"/>
                    <a:pt x="21426043" y="70866"/>
                  </a:cubicBezTo>
                  <a:lnTo>
                    <a:pt x="21426043" y="1097407"/>
                  </a:lnTo>
                  <a:cubicBezTo>
                    <a:pt x="21426043" y="1136523"/>
                    <a:pt x="21394293" y="1168273"/>
                    <a:pt x="21355177" y="1168273"/>
                  </a:cubicBezTo>
                  <a:lnTo>
                    <a:pt x="70866" y="1168273"/>
                  </a:lnTo>
                  <a:cubicBezTo>
                    <a:pt x="31750" y="1168273"/>
                    <a:pt x="0" y="1136523"/>
                    <a:pt x="0" y="1097407"/>
                  </a:cubicBezTo>
                  <a:close/>
                </a:path>
              </a:pathLst>
            </a:custGeom>
            <a:solidFill>
              <a:srgbClr val="F2F2F2"/>
            </a:solidFill>
          </p:spPr>
        </p:sp>
        <p:sp>
          <p:nvSpPr>
            <p:cNvPr name="TextBox 16" id="16"/>
            <p:cNvSpPr txBox="true"/>
            <p:nvPr/>
          </p:nvSpPr>
          <p:spPr>
            <a:xfrm>
              <a:off x="0" y="-9525"/>
              <a:ext cx="21425967" cy="1177798"/>
            </a:xfrm>
            <a:prstGeom prst="rect">
              <a:avLst/>
            </a:prstGeom>
          </p:spPr>
          <p:txBody>
            <a:bodyPr anchor="ctr" rtlCol="false" tIns="50800" lIns="50800" bIns="50800" rIns="50800"/>
            <a:lstStyle/>
            <a:p>
              <a:pPr algn="l" marL="434340" indent="-217170" lvl="1">
                <a:lnSpc>
                  <a:spcPts val="2879"/>
                </a:lnSpc>
                <a:buAutoNum type="arabicPeriod" startAt="1"/>
              </a:pPr>
              <a:r>
                <a:rPr lang="en-US" sz="2400">
                  <a:solidFill>
                    <a:srgbClr val="000000"/>
                  </a:solidFill>
                  <a:latin typeface="Arimo"/>
                  <a:ea typeface="Arimo"/>
                  <a:cs typeface="Arimo"/>
                  <a:sym typeface="Arimo"/>
                </a:rPr>
                <a:t>Use standard Arial font, alignment and relevant images (as required)</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078023" y="3757746"/>
            <a:ext cx="2165490" cy="2206981"/>
            <a:chOff x="0" y="0"/>
            <a:chExt cx="2887320" cy="2942641"/>
          </a:xfrm>
        </p:grpSpPr>
        <p:sp>
          <p:nvSpPr>
            <p:cNvPr name="Freeform 3" id="3"/>
            <p:cNvSpPr/>
            <p:nvPr/>
          </p:nvSpPr>
          <p:spPr>
            <a:xfrm flipH="false" flipV="false" rot="0">
              <a:off x="0" y="0"/>
              <a:ext cx="2887345" cy="2942590"/>
            </a:xfrm>
            <a:custGeom>
              <a:avLst/>
              <a:gdLst/>
              <a:ahLst/>
              <a:cxnLst/>
              <a:rect r="r" b="b" t="t" l="l"/>
              <a:pathLst>
                <a:path h="2942590" w="2887345">
                  <a:moveTo>
                    <a:pt x="0" y="0"/>
                  </a:moveTo>
                  <a:lnTo>
                    <a:pt x="2887345" y="0"/>
                  </a:lnTo>
                  <a:lnTo>
                    <a:pt x="2887345" y="2942590"/>
                  </a:lnTo>
                  <a:lnTo>
                    <a:pt x="0" y="2942590"/>
                  </a:lnTo>
                  <a:close/>
                </a:path>
              </a:pathLst>
            </a:custGeom>
            <a:solidFill>
              <a:srgbClr val="A100FF"/>
            </a:solidFill>
          </p:spPr>
        </p:sp>
      </p:grpSp>
      <p:grpSp>
        <p:nvGrpSpPr>
          <p:cNvPr name="Group 4" id="4"/>
          <p:cNvGrpSpPr/>
          <p:nvPr/>
        </p:nvGrpSpPr>
        <p:grpSpPr>
          <a:xfrm rot="0">
            <a:off x="1279074" y="3759870"/>
            <a:ext cx="2165490" cy="2206981"/>
            <a:chOff x="0" y="0"/>
            <a:chExt cx="2887320" cy="2942641"/>
          </a:xfrm>
        </p:grpSpPr>
        <p:sp>
          <p:nvSpPr>
            <p:cNvPr name="Freeform 5" id="5"/>
            <p:cNvSpPr/>
            <p:nvPr/>
          </p:nvSpPr>
          <p:spPr>
            <a:xfrm flipH="false" flipV="false" rot="0">
              <a:off x="0" y="0"/>
              <a:ext cx="2887345" cy="2942590"/>
            </a:xfrm>
            <a:custGeom>
              <a:avLst/>
              <a:gdLst/>
              <a:ahLst/>
              <a:cxnLst/>
              <a:rect r="r" b="b" t="t" l="l"/>
              <a:pathLst>
                <a:path h="2942590" w="2887345">
                  <a:moveTo>
                    <a:pt x="0" y="0"/>
                  </a:moveTo>
                  <a:lnTo>
                    <a:pt x="2887345" y="0"/>
                  </a:lnTo>
                  <a:lnTo>
                    <a:pt x="2887345" y="2942590"/>
                  </a:lnTo>
                  <a:lnTo>
                    <a:pt x="0" y="2942590"/>
                  </a:lnTo>
                  <a:close/>
                </a:path>
              </a:pathLst>
            </a:custGeom>
            <a:solidFill>
              <a:srgbClr val="A100FF"/>
            </a:solidFill>
          </p:spPr>
        </p:sp>
      </p:grpSp>
      <p:sp>
        <p:nvSpPr>
          <p:cNvPr name="TextBox 6" id="6"/>
          <p:cNvSpPr txBox="true"/>
          <p:nvPr/>
        </p:nvSpPr>
        <p:spPr>
          <a:xfrm rot="0">
            <a:off x="692868" y="928554"/>
            <a:ext cx="17145000" cy="948690"/>
          </a:xfrm>
          <a:prstGeom prst="rect">
            <a:avLst/>
          </a:prstGeom>
        </p:spPr>
        <p:txBody>
          <a:bodyPr anchor="t" rtlCol="false" tIns="0" lIns="0" bIns="0" rIns="0">
            <a:spAutoFit/>
          </a:bodyPr>
          <a:lstStyle/>
          <a:p>
            <a:pPr algn="l">
              <a:lnSpc>
                <a:spcPts val="5184"/>
              </a:lnSpc>
            </a:pPr>
            <a:r>
              <a:rPr lang="en-US" sz="5400" b="true">
                <a:solidFill>
                  <a:srgbClr val="000000"/>
                </a:solidFill>
                <a:latin typeface="Arial"/>
                <a:ea typeface="Arial"/>
                <a:cs typeface="Arial"/>
                <a:sym typeface="Arial"/>
              </a:rPr>
              <a:t>Team details</a:t>
            </a:r>
          </a:p>
        </p:txBody>
      </p:sp>
      <p:sp>
        <p:nvSpPr>
          <p:cNvPr name="TextBox 7" id="7"/>
          <p:cNvSpPr txBox="true"/>
          <p:nvPr/>
        </p:nvSpPr>
        <p:spPr>
          <a:xfrm rot="0">
            <a:off x="17350740" y="9805187"/>
            <a:ext cx="395688" cy="237172"/>
          </a:xfrm>
          <a:prstGeom prst="rect">
            <a:avLst/>
          </a:prstGeom>
        </p:spPr>
        <p:txBody>
          <a:bodyPr anchor="t" rtlCol="false" tIns="0" lIns="0" bIns="0" rIns="0" wrap="square">
            <a:spAutoFit/>
          </a:bodyPr>
          <a:lstStyle/>
          <a:p>
            <a:pPr algn="r">
              <a:lnSpc>
                <a:spcPts val="1439"/>
              </a:lnSpc>
            </a:pPr>
            <a:r>
              <a:rPr sz="1200" b="0" i="0">
                <a:solidFill>
                  <a:srgbClr val="808080"/>
                </a:solidFill>
                <a:latin typeface="Arial"/>
                <a:ea typeface="Arial"/>
                <a:cs typeface="Arial"/>
              </a:rPr>
              <a:t>2</a:t>
            </a:r>
          </a:p>
        </p:txBody>
      </p:sp>
      <p:grpSp>
        <p:nvGrpSpPr>
          <p:cNvPr name="Group 8" id="8"/>
          <p:cNvGrpSpPr/>
          <p:nvPr/>
        </p:nvGrpSpPr>
        <p:grpSpPr>
          <a:xfrm rot="0">
            <a:off x="1133989" y="3608661"/>
            <a:ext cx="2151326" cy="2206981"/>
            <a:chOff x="0" y="0"/>
            <a:chExt cx="2868435" cy="2942641"/>
          </a:xfrm>
        </p:grpSpPr>
        <p:sp>
          <p:nvSpPr>
            <p:cNvPr name="Freeform 9" id="9"/>
            <p:cNvSpPr/>
            <p:nvPr/>
          </p:nvSpPr>
          <p:spPr>
            <a:xfrm flipH="false" flipV="false" rot="0">
              <a:off x="0" y="0"/>
              <a:ext cx="2868422" cy="2942590"/>
            </a:xfrm>
            <a:custGeom>
              <a:avLst/>
              <a:gdLst/>
              <a:ahLst/>
              <a:cxnLst/>
              <a:rect r="r" b="b" t="t" l="l"/>
              <a:pathLst>
                <a:path h="2942590" w="2868422">
                  <a:moveTo>
                    <a:pt x="0" y="0"/>
                  </a:moveTo>
                  <a:lnTo>
                    <a:pt x="2868422" y="0"/>
                  </a:lnTo>
                  <a:lnTo>
                    <a:pt x="2868422" y="2942590"/>
                  </a:lnTo>
                  <a:lnTo>
                    <a:pt x="0" y="2942590"/>
                  </a:lnTo>
                  <a:lnTo>
                    <a:pt x="0" y="0"/>
                  </a:lnTo>
                  <a:close/>
                </a:path>
              </a:pathLst>
            </a:custGeom>
            <a:blipFill>
              <a:blip r:embed="rId2"/>
              <a:stretch>
                <a:fillRect l="0" t="0" r="0" b="-79"/>
              </a:stretch>
            </a:blipFill>
          </p:spPr>
        </p:sp>
      </p:grpSp>
      <p:grpSp>
        <p:nvGrpSpPr>
          <p:cNvPr name="Group 10" id="10"/>
          <p:cNvGrpSpPr/>
          <p:nvPr/>
        </p:nvGrpSpPr>
        <p:grpSpPr>
          <a:xfrm rot="0">
            <a:off x="3956428" y="3148374"/>
            <a:ext cx="4765510" cy="1216743"/>
            <a:chOff x="0" y="0"/>
            <a:chExt cx="6354013" cy="1622323"/>
          </a:xfrm>
        </p:grpSpPr>
        <p:sp>
          <p:nvSpPr>
            <p:cNvPr name="Freeform 11" id="11"/>
            <p:cNvSpPr/>
            <p:nvPr/>
          </p:nvSpPr>
          <p:spPr>
            <a:xfrm flipH="false" flipV="false" rot="0">
              <a:off x="0" y="0"/>
              <a:ext cx="6354014" cy="1622322"/>
            </a:xfrm>
            <a:custGeom>
              <a:avLst/>
              <a:gdLst/>
              <a:ahLst/>
              <a:cxnLst/>
              <a:rect r="r" b="b" t="t" l="l"/>
              <a:pathLst>
                <a:path h="1622322" w="6354014">
                  <a:moveTo>
                    <a:pt x="0" y="0"/>
                  </a:moveTo>
                  <a:lnTo>
                    <a:pt x="6354014" y="0"/>
                  </a:lnTo>
                  <a:lnTo>
                    <a:pt x="6354014" y="1622322"/>
                  </a:lnTo>
                  <a:lnTo>
                    <a:pt x="0" y="1622322"/>
                  </a:lnTo>
                  <a:close/>
                </a:path>
              </a:pathLst>
            </a:custGeom>
            <a:blipFill>
              <a:blip r:embed="rId3">
                <a:alphaModFix amt="0"/>
              </a:blip>
              <a:stretch>
                <a:fillRect l="0" t="-26315" r="0" b="-26315"/>
              </a:stretch>
            </a:blipFill>
          </p:spPr>
        </p:sp>
        <p:sp>
          <p:nvSpPr>
            <p:cNvPr name="TextBox 12" id="12"/>
            <p:cNvSpPr txBox="true"/>
            <p:nvPr/>
          </p:nvSpPr>
          <p:spPr>
            <a:xfrm>
              <a:off x="0" y="85725"/>
              <a:ext cx="6354013" cy="1536598"/>
            </a:xfrm>
            <a:prstGeom prst="rect">
              <a:avLst/>
            </a:prstGeom>
          </p:spPr>
          <p:txBody>
            <a:bodyPr anchor="b" rtlCol="false" tIns="0" lIns="0" bIns="0" rIns="0" wrap="square"/>
            <a:lstStyle/>
            <a:p>
              <a:pPr algn="l">
                <a:lnSpc>
                  <a:spcPts val="4855"/>
                </a:lnSpc>
              </a:pPr>
              <a:r>
                <a:rPr sz="2600" b="1" i="0">
                  <a:solidFill>
                    <a:srgbClr val="000000"/>
                  </a:solidFill>
                  <a:latin typeface="Arial"/>
                  <a:ea typeface="Arial"/>
                  <a:cs typeface="Arial"/>
                </a:rPr>
                <a:t>Priyanshu Pandey</a:t>
              </a:r>
            </a:p>
            <a:p>
              <a:r>
                <a:rPr sz="1400" b="0" i="0">
                  <a:solidFill>
                    <a:srgbClr val="000000"/>
                  </a:solidFill>
                  <a:latin typeface="Arial"/>
                  <a:ea typeface="Arial"/>
                  <a:cs typeface="Arial"/>
                </a:rPr>
                <a:t> </a:t>
              </a:r>
            </a:p>
          </p:txBody>
        </p:sp>
      </p:grpSp>
      <p:sp>
        <p:nvSpPr>
          <p:cNvPr name="TextBox 13" id="13"/>
          <p:cNvSpPr txBox="true"/>
          <p:nvPr/>
        </p:nvSpPr>
        <p:spPr>
          <a:xfrm rot="0">
            <a:off x="474888" y="9588617"/>
            <a:ext cx="9881464" cy="298961"/>
          </a:xfrm>
          <a:prstGeom prst="rect">
            <a:avLst/>
          </a:prstGeom>
        </p:spPr>
        <p:txBody>
          <a:bodyPr anchor="t" rtlCol="false" tIns="0" lIns="0" bIns="0" rIns="0">
            <a:spAutoFit/>
          </a:bodyPr>
          <a:lstStyle/>
          <a:p>
            <a:pPr algn="l">
              <a:lnSpc>
                <a:spcPts val="1889"/>
              </a:lnSpc>
            </a:pPr>
            <a:r>
              <a:rPr lang="en-US" b="true" sz="1575" i="true">
                <a:solidFill>
                  <a:srgbClr val="000000"/>
                </a:solidFill>
                <a:latin typeface="Arial"/>
                <a:ea typeface="Arial"/>
                <a:cs typeface="Arial"/>
                <a:sym typeface="Arial"/>
              </a:rPr>
              <a:t>All fields are mandatory</a:t>
            </a:r>
          </a:p>
        </p:txBody>
      </p:sp>
      <p:grpSp>
        <p:nvGrpSpPr>
          <p:cNvPr name="Group 14" id="14"/>
          <p:cNvGrpSpPr/>
          <p:nvPr/>
        </p:nvGrpSpPr>
        <p:grpSpPr>
          <a:xfrm rot="0">
            <a:off x="1279074" y="6695713"/>
            <a:ext cx="2221859" cy="2206981"/>
            <a:chOff x="0" y="0"/>
            <a:chExt cx="2962478" cy="2942641"/>
          </a:xfrm>
        </p:grpSpPr>
        <p:sp>
          <p:nvSpPr>
            <p:cNvPr name="Freeform 15" id="15"/>
            <p:cNvSpPr/>
            <p:nvPr/>
          </p:nvSpPr>
          <p:spPr>
            <a:xfrm flipH="false" flipV="false" rot="0">
              <a:off x="0" y="0"/>
              <a:ext cx="2962529" cy="2942590"/>
            </a:xfrm>
            <a:custGeom>
              <a:avLst/>
              <a:gdLst/>
              <a:ahLst/>
              <a:cxnLst/>
              <a:rect r="r" b="b" t="t" l="l"/>
              <a:pathLst>
                <a:path h="2942590" w="2962529">
                  <a:moveTo>
                    <a:pt x="0" y="0"/>
                  </a:moveTo>
                  <a:lnTo>
                    <a:pt x="2962529" y="0"/>
                  </a:lnTo>
                  <a:lnTo>
                    <a:pt x="2962529" y="2942590"/>
                  </a:lnTo>
                  <a:lnTo>
                    <a:pt x="0" y="2942590"/>
                  </a:lnTo>
                  <a:close/>
                </a:path>
              </a:pathLst>
            </a:custGeom>
            <a:solidFill>
              <a:srgbClr val="A100FF"/>
            </a:solidFill>
          </p:spPr>
        </p:sp>
        <p:sp>
          <p:nvSpPr>
            <p:cNvPr name="TextBox 16" id="16"/>
            <p:cNvSpPr txBox="true"/>
            <p:nvPr/>
          </p:nvSpPr>
          <p:spPr>
            <a:xfrm>
              <a:off x="0" y="-19050"/>
              <a:ext cx="2962478" cy="2961691"/>
            </a:xfrm>
            <a:prstGeom prst="rect">
              <a:avLst/>
            </a:prstGeom>
          </p:spPr>
          <p:txBody>
            <a:bodyPr anchor="ctr" rtlCol="false" tIns="50800" lIns="50800" bIns="50800" rIns="50800"/>
            <a:lstStyle/>
            <a:p>
              <a:pPr algn="ctr">
                <a:lnSpc>
                  <a:spcPts val="3240"/>
                </a:lnSpc>
              </a:pPr>
              <a:r>
                <a:rPr lang="en-US" sz="2700">
                  <a:solidFill>
                    <a:srgbClr val="FFFFFF"/>
                  </a:solidFill>
                  <a:latin typeface="Arial"/>
                  <a:ea typeface="Arial"/>
                  <a:cs typeface="Arial"/>
                  <a:sym typeface="Arial"/>
                </a:rPr>
                <a:t>Photo</a:t>
              </a:r>
            </a:p>
          </p:txBody>
        </p:sp>
      </p:grpSp>
      <p:sp>
        <p:nvSpPr>
          <p:cNvPr name="AutoShape 17" id="17"/>
          <p:cNvSpPr/>
          <p:nvPr/>
        </p:nvSpPr>
        <p:spPr>
          <a:xfrm rot="5395200">
            <a:off x="5746442" y="5669880"/>
            <a:ext cx="6795116" cy="0"/>
          </a:xfrm>
          <a:prstGeom prst="line">
            <a:avLst/>
          </a:prstGeom>
          <a:ln cap="rnd" w="9525">
            <a:solidFill>
              <a:srgbClr val="460073"/>
            </a:solidFill>
            <a:prstDash val="solid"/>
            <a:headEnd type="none" len="sm" w="sm"/>
            <a:tailEnd type="none" len="sm" w="sm"/>
          </a:ln>
        </p:spPr>
        <p:txBody>
          <a:bodyPr/>
          <a:p/>
        </p:txBody>
      </p:sp>
      <p:sp>
        <p:nvSpPr>
          <p:cNvPr name="AutoShape 18" id="18"/>
          <p:cNvSpPr/>
          <p:nvPr/>
        </p:nvSpPr>
        <p:spPr>
          <a:xfrm rot="12660">
            <a:off x="3930072" y="4510688"/>
            <a:ext cx="2586552" cy="0"/>
          </a:xfrm>
          <a:prstGeom prst="line">
            <a:avLst/>
          </a:prstGeom>
          <a:ln cap="rnd" w="9525">
            <a:solidFill>
              <a:srgbClr val="460073"/>
            </a:solidFill>
            <a:prstDash val="solid"/>
            <a:headEnd type="none" len="sm" w="sm"/>
            <a:tailEnd type="none" len="sm" w="sm"/>
          </a:ln>
        </p:spPr>
        <p:txBody>
          <a:bodyPr/>
          <a:p/>
        </p:txBody>
      </p:sp>
      <p:grpSp>
        <p:nvGrpSpPr>
          <p:cNvPr name="Group 19" id="19"/>
          <p:cNvGrpSpPr/>
          <p:nvPr/>
        </p:nvGrpSpPr>
        <p:grpSpPr>
          <a:xfrm rot="0">
            <a:off x="4127116" y="6305026"/>
            <a:ext cx="2212057" cy="1216743"/>
            <a:chOff x="0" y="0"/>
            <a:chExt cx="2949410" cy="1622323"/>
          </a:xfrm>
        </p:grpSpPr>
        <p:sp>
          <p:nvSpPr>
            <p:cNvPr name="Freeform 20" id="20"/>
            <p:cNvSpPr/>
            <p:nvPr/>
          </p:nvSpPr>
          <p:spPr>
            <a:xfrm flipH="false" flipV="false" rot="0">
              <a:off x="0" y="0"/>
              <a:ext cx="2949414" cy="1622322"/>
            </a:xfrm>
            <a:custGeom>
              <a:avLst/>
              <a:gdLst/>
              <a:ahLst/>
              <a:cxnLst/>
              <a:rect r="r" b="b" t="t" l="l"/>
              <a:pathLst>
                <a:path h="1622322" w="2949414">
                  <a:moveTo>
                    <a:pt x="0" y="0"/>
                  </a:moveTo>
                  <a:lnTo>
                    <a:pt x="2949414" y="0"/>
                  </a:lnTo>
                  <a:lnTo>
                    <a:pt x="2949414" y="1622322"/>
                  </a:lnTo>
                  <a:lnTo>
                    <a:pt x="0" y="1622322"/>
                  </a:lnTo>
                  <a:close/>
                </a:path>
              </a:pathLst>
            </a:custGeom>
            <a:blipFill>
              <a:blip r:embed="rId3">
                <a:alphaModFix amt="0"/>
              </a:blip>
              <a:stretch>
                <a:fillRect l="-20573" t="0" r="-20573" b="0"/>
              </a:stretch>
            </a:blipFill>
          </p:spPr>
        </p:sp>
        <p:sp>
          <p:nvSpPr>
            <p:cNvPr name="TextBox 21" id="21"/>
            <p:cNvSpPr txBox="true"/>
            <p:nvPr/>
          </p:nvSpPr>
          <p:spPr>
            <a:xfrm>
              <a:off x="0" y="28575"/>
              <a:ext cx="2949410" cy="1593748"/>
            </a:xfrm>
            <a:prstGeom prst="rect">
              <a:avLst/>
            </a:prstGeom>
          </p:spPr>
          <p:txBody>
            <a:bodyPr anchor="b" rtlCol="false" tIns="0" lIns="0" bIns="0" rIns="0" wrap="square"/>
            <a:lstStyle/>
            <a:p>
              <a:pPr algn="l">
                <a:lnSpc>
                  <a:spcPts val="5832"/>
                </a:lnSpc>
              </a:pPr>
              <a:r>
                <a:rPr sz="2600" b="1" i="0">
                  <a:solidFill>
                    <a:srgbClr val="000000"/>
                  </a:solidFill>
                  <a:latin typeface="Arial"/>
                  <a:ea typeface="Arial"/>
                  <a:cs typeface="Arial"/>
                </a:rPr>
                <a:t>Harshit Saini</a:t>
              </a:r>
            </a:p>
            <a:p>
              <a:r>
                <a:rPr sz="1400" b="0" i="0">
                  <a:solidFill>
                    <a:srgbClr val="000000"/>
                  </a:solidFill>
                  <a:latin typeface="Arial"/>
                  <a:ea typeface="Arial"/>
                  <a:cs typeface="Arial"/>
                </a:rPr>
                <a:t> </a:t>
              </a:r>
            </a:p>
          </p:txBody>
        </p:sp>
      </p:grpSp>
      <p:sp>
        <p:nvSpPr>
          <p:cNvPr name="AutoShape 22" id="22"/>
          <p:cNvSpPr/>
          <p:nvPr/>
        </p:nvSpPr>
        <p:spPr>
          <a:xfrm rot="12660">
            <a:off x="4122344" y="7647975"/>
            <a:ext cx="2586552" cy="0"/>
          </a:xfrm>
          <a:prstGeom prst="line">
            <a:avLst/>
          </a:prstGeom>
          <a:ln cap="rnd" w="9525">
            <a:solidFill>
              <a:srgbClr val="460073"/>
            </a:solidFill>
            <a:prstDash val="solid"/>
            <a:headEnd type="none" len="sm" w="sm"/>
            <a:tailEnd type="none" len="sm" w="sm"/>
          </a:ln>
        </p:spPr>
        <p:txBody>
          <a:bodyPr/>
          <a:p/>
        </p:txBody>
      </p:sp>
      <p:grpSp>
        <p:nvGrpSpPr>
          <p:cNvPr name="Group 23" id="23"/>
          <p:cNvGrpSpPr/>
          <p:nvPr/>
        </p:nvGrpSpPr>
        <p:grpSpPr>
          <a:xfrm rot="0">
            <a:off x="10926023" y="3608661"/>
            <a:ext cx="2151326" cy="2206981"/>
            <a:chOff x="0" y="0"/>
            <a:chExt cx="2868435" cy="2942641"/>
          </a:xfrm>
        </p:grpSpPr>
        <p:sp>
          <p:nvSpPr>
            <p:cNvPr name="Freeform 24" id="24"/>
            <p:cNvSpPr/>
            <p:nvPr/>
          </p:nvSpPr>
          <p:spPr>
            <a:xfrm flipH="false" flipV="false" rot="0">
              <a:off x="0" y="0"/>
              <a:ext cx="2868422" cy="2942590"/>
            </a:xfrm>
            <a:custGeom>
              <a:avLst/>
              <a:gdLst/>
              <a:ahLst/>
              <a:cxnLst/>
              <a:rect r="r" b="b" t="t" l="l"/>
              <a:pathLst>
                <a:path h="2942590" w="2868422">
                  <a:moveTo>
                    <a:pt x="0" y="0"/>
                  </a:moveTo>
                  <a:lnTo>
                    <a:pt x="2868422" y="0"/>
                  </a:lnTo>
                  <a:lnTo>
                    <a:pt x="2868422" y="2942590"/>
                  </a:lnTo>
                  <a:lnTo>
                    <a:pt x="0" y="2942590"/>
                  </a:lnTo>
                  <a:lnTo>
                    <a:pt x="0" y="0"/>
                  </a:lnTo>
                  <a:close/>
                </a:path>
              </a:pathLst>
            </a:custGeom>
            <a:blipFill>
              <a:blip r:embed="rId2"/>
              <a:stretch>
                <a:fillRect l="0" t="0" r="0" b="-79"/>
              </a:stretch>
            </a:blipFill>
          </p:spPr>
        </p:sp>
      </p:grpSp>
      <p:grpSp>
        <p:nvGrpSpPr>
          <p:cNvPr name="Group 25" id="25"/>
          <p:cNvGrpSpPr/>
          <p:nvPr/>
        </p:nvGrpSpPr>
        <p:grpSpPr>
          <a:xfrm rot="0">
            <a:off x="13748461" y="3148374"/>
            <a:ext cx="2155946" cy="1216743"/>
            <a:chOff x="0" y="0"/>
            <a:chExt cx="2874594" cy="1622323"/>
          </a:xfrm>
        </p:grpSpPr>
        <p:sp>
          <p:nvSpPr>
            <p:cNvPr name="Freeform 26" id="26"/>
            <p:cNvSpPr/>
            <p:nvPr/>
          </p:nvSpPr>
          <p:spPr>
            <a:xfrm flipH="false" flipV="false" rot="0">
              <a:off x="0" y="0"/>
              <a:ext cx="2874594" cy="1622322"/>
            </a:xfrm>
            <a:custGeom>
              <a:avLst/>
              <a:gdLst/>
              <a:ahLst/>
              <a:cxnLst/>
              <a:rect r="r" b="b" t="t" l="l"/>
              <a:pathLst>
                <a:path h="1622322" w="2874594">
                  <a:moveTo>
                    <a:pt x="0" y="0"/>
                  </a:moveTo>
                  <a:lnTo>
                    <a:pt x="2874594" y="0"/>
                  </a:lnTo>
                  <a:lnTo>
                    <a:pt x="2874594" y="1622322"/>
                  </a:lnTo>
                  <a:lnTo>
                    <a:pt x="0" y="1622322"/>
                  </a:lnTo>
                  <a:close/>
                </a:path>
              </a:pathLst>
            </a:custGeom>
            <a:blipFill>
              <a:blip r:embed="rId3">
                <a:alphaModFix amt="0"/>
              </a:blip>
              <a:stretch>
                <a:fillRect l="-22410" t="0" r="-22410" b="0"/>
              </a:stretch>
            </a:blipFill>
          </p:spPr>
        </p:sp>
        <p:sp>
          <p:nvSpPr>
            <p:cNvPr name="TextBox 27" id="27"/>
            <p:cNvSpPr txBox="true"/>
            <p:nvPr/>
          </p:nvSpPr>
          <p:spPr>
            <a:xfrm>
              <a:off x="0" y="28575"/>
              <a:ext cx="2874594" cy="1593748"/>
            </a:xfrm>
            <a:prstGeom prst="rect">
              <a:avLst/>
            </a:prstGeom>
          </p:spPr>
          <p:txBody>
            <a:bodyPr anchor="b" rtlCol="false" tIns="0" lIns="0" bIns="0" rIns="0" wrap="square"/>
            <a:lstStyle/>
            <a:p>
              <a:pPr algn="l">
                <a:lnSpc>
                  <a:spcPts val="5832"/>
                </a:lnSpc>
              </a:pPr>
              <a:r>
                <a:rPr sz="2600" b="1" i="0">
                  <a:solidFill>
                    <a:srgbClr val="000000"/>
                  </a:solidFill>
                  <a:latin typeface="Arial"/>
                  <a:ea typeface="Arial"/>
                  <a:cs typeface="Arial"/>
                </a:rPr>
                <a:t>Jayant Soni</a:t>
              </a:r>
            </a:p>
            <a:p>
              <a:r>
                <a:rPr sz="1400" b="0" i="0">
                  <a:solidFill>
                    <a:srgbClr val="000000"/>
                  </a:solidFill>
                  <a:latin typeface="Arial"/>
                  <a:ea typeface="Arial"/>
                  <a:cs typeface="Arial"/>
                </a:rPr>
                <a:t> </a:t>
              </a:r>
            </a:p>
          </p:txBody>
        </p:sp>
      </p:grpSp>
      <p:sp>
        <p:nvSpPr>
          <p:cNvPr name="AutoShape 28" id="28"/>
          <p:cNvSpPr/>
          <p:nvPr/>
        </p:nvSpPr>
        <p:spPr>
          <a:xfrm rot="12660">
            <a:off x="13722115" y="4510688"/>
            <a:ext cx="2586552" cy="0"/>
          </a:xfrm>
          <a:prstGeom prst="line">
            <a:avLst/>
          </a:prstGeom>
          <a:ln cap="rnd" w="9525">
            <a:solidFill>
              <a:srgbClr val="460073"/>
            </a:solidFill>
            <a:prstDash val="solid"/>
            <a:headEnd type="none" len="sm" w="sm"/>
            <a:tailEnd type="none" len="sm" w="sm"/>
          </a:ln>
        </p:spPr>
        <p:txBody>
          <a:bodyPr/>
          <a:p/>
        </p:txBody>
      </p:sp>
      <p:graphicFrame>
        <p:nvGraphicFramePr>
          <p:cNvPr name="Table 29" id="29"/>
          <p:cNvGraphicFramePr>
            <a:graphicFrameLocks noGrp="true"/>
          </p:cNvGraphicFramePr>
          <p:nvPr/>
        </p:nvGraphicFramePr>
        <p:xfrm>
          <a:off x="692870" y="1759536"/>
          <a:ext cx="17411700" cy="552450"/>
        </p:xfrm>
        <a:graphic>
          <a:graphicData uri="http://schemas.openxmlformats.org/drawingml/2006/table">
            <a:tbl>
              <a:tblPr/>
              <a:tblGrid>
                <a:gridCol w="6572574"/>
                <a:gridCol w="10839126"/>
              </a:tblGrid>
              <a:tr h="552450">
                <a:tc>
                  <a:txBody>
                    <a:bodyPr anchor="t" rtlCol="false" wrap="square"/>
                    <a:lstStyle/>
                    <a:p>
                      <a:pPr algn="l">
                        <a:lnSpc>
                          <a:spcPts val="2520"/>
                        </a:lnSpc>
                        <a:defRPr/>
                      </a:pPr>
                      <a:r>
                        <a:rPr sz="2000" b="1" i="0">
                          <a:solidFill>
                            <a:srgbClr val="000000"/>
                          </a:solidFill>
                          <a:latin typeface="Arial"/>
                          <a:ea typeface="Arial"/>
                          <a:cs typeface="Arial"/>
                        </a:rPr>
                        <a:t>TEAM NAME:  b24bb1029</a:t>
                      </a:r>
                      <a:endParaRPr lang="en-US" sz="1100"/>
                    </a:p>
                  </a:txBody>
                  <a:tcPr marL="91440" marR="91440" marT="91440" marB="91440" anchor="t">
                    <a:lnL cmpd="sng" algn="ctr" cap="flat" w="6350">
                      <a:solidFill>
                        <a:srgbClr val="E6BFFF"/>
                      </a:solidFill>
                      <a:prstDash val="solid"/>
                      <a:round/>
                      <a:headEnd type="none" w="med" len="med"/>
                      <a:tailEnd type="none" w="med" len="med"/>
                    </a:lnL>
                    <a:lnR cmpd="sng" algn="ctr" cap="flat" w="6350">
                      <a:solidFill>
                        <a:srgbClr val="ECCCFF"/>
                      </a:solidFill>
                      <a:prstDash val="solid"/>
                      <a:round/>
                      <a:headEnd type="none" w="med" len="med"/>
                      <a:tailEnd type="none" w="med" len="med"/>
                    </a:lnR>
                    <a:lnT cmpd="sng" algn="ctr" cap="flat" w="6350">
                      <a:solidFill>
                        <a:srgbClr val="E6BFFF"/>
                      </a:solidFill>
                      <a:prstDash val="solid"/>
                      <a:round/>
                      <a:headEnd type="none" w="med" len="med"/>
                      <a:tailEnd type="none" w="med" len="med"/>
                    </a:lnT>
                    <a:lnB cmpd="sng" algn="ctr" cap="flat" w="6350">
                      <a:solidFill>
                        <a:srgbClr val="ECCCFF"/>
                      </a:solidFill>
                      <a:prstDash val="solid"/>
                      <a:round/>
                      <a:headEnd type="none" w="med" len="med"/>
                      <a:tailEnd type="none" w="med" len="med"/>
                    </a:lnB>
                    <a:solidFill>
                      <a:srgbClr val="EAEAEA"/>
                    </a:solidFill>
                  </a:tcPr>
                </a:tc>
                <a:tc>
                  <a:txBody>
                    <a:bodyPr anchor="t" rtlCol="false" wrap="square"/>
                    <a:lstStyle/>
                    <a:p>
                      <a:pPr algn="l">
                        <a:lnSpc>
                          <a:spcPts val="1679"/>
                        </a:lnSpc>
                        <a:defRPr/>
                      </a:pPr>
                      <a:r>
                        <a:rPr sz="2000" b="1" i="0">
                          <a:solidFill>
                            <a:srgbClr val="000000"/>
                          </a:solidFill>
                          <a:latin typeface="Arial"/>
                          <a:ea typeface="Arial"/>
                          <a:cs typeface="Arial"/>
                        </a:rPr>
                        <a:t>Indian Institute of Technology Jodhpur</a:t>
                      </a:r>
                      <a:endParaRPr lang="en-US" sz="1100"/>
                    </a:p>
                  </a:txBody>
                  <a:tcPr marL="91440" marR="91440" marT="91440" marB="91440" anchor="t">
                    <a:lnL cmpd="sng" algn="ctr" cap="flat" w="6350">
                      <a:solidFill>
                        <a:srgbClr val="ECCCFF"/>
                      </a:solidFill>
                      <a:prstDash val="solid"/>
                      <a:round/>
                      <a:headEnd type="none" w="med" len="med"/>
                      <a:tailEnd type="none" w="med" len="med"/>
                    </a:lnL>
                    <a:lnR cmpd="sng" algn="ctr" cap="flat" w="6350">
                      <a:solidFill>
                        <a:srgbClr val="E6BFFF"/>
                      </a:solidFill>
                      <a:prstDash val="solid"/>
                      <a:round/>
                      <a:headEnd type="none" w="med" len="med"/>
                      <a:tailEnd type="none" w="med" len="med"/>
                    </a:lnR>
                    <a:lnT cmpd="sng" algn="ctr" cap="flat" w="6350">
                      <a:solidFill>
                        <a:srgbClr val="E6BFFF"/>
                      </a:solidFill>
                      <a:prstDash val="solid"/>
                      <a:round/>
                      <a:headEnd type="none" w="med" len="med"/>
                      <a:tailEnd type="none" w="med" len="med"/>
                    </a:lnT>
                    <a:lnB cmpd="sng" algn="ctr" cap="flat" w="6350">
                      <a:solidFill>
                        <a:srgbClr val="D5D5D5"/>
                      </a:solidFill>
                      <a:prstDash val="solid"/>
                      <a:round/>
                      <a:headEnd type="none" w="med" len="med"/>
                      <a:tailEnd type="none" w="med" len="med"/>
                    </a:lnB>
                    <a:solidFill>
                      <a:srgbClr val="EAEAEA"/>
                    </a:solidFill>
                  </a:tcPr>
                </a:tc>
              </a:tr>
            </a:tbl>
          </a:graphicData>
        </a:graphic>
      </p:graphicFrame>
      <p:sp>
        <p:nvSpPr>
          <p:cNvPr name="TextBox 30" id="30"/>
          <p:cNvSpPr txBox="true"/>
          <p:nvPr/>
        </p:nvSpPr>
        <p:spPr>
          <a:xfrm rot="0">
            <a:off x="4026284" y="4738821"/>
            <a:ext cx="4206240" cy="914400"/>
          </a:xfrm>
          <a:prstGeom prst="rect">
            <a:avLst/>
          </a:prstGeom>
        </p:spPr>
        <p:txBody>
          <a:bodyPr anchor="t" rtlCol="false" tIns="0" lIns="0" bIns="0" rIns="0" wrap="square">
            <a:spAutoFit/>
          </a:bodyPr>
          <a:lstStyle/>
          <a:p>
            <a:pPr algn="l">
              <a:lnSpc>
                <a:spcPts val="2160"/>
              </a:lnSpc>
            </a:pPr>
            <a:r>
              <a:rPr sz="1400" b="1" i="0">
                <a:solidFill>
                  <a:srgbClr val="A100FF"/>
                </a:solidFill>
                <a:latin typeface="Arial"/>
                <a:ea typeface="Arial"/>
                <a:cs typeface="Arial"/>
              </a:rPr>
              <a:t>B24BB1029  ·  TEAM LEADER</a:t>
            </a:r>
          </a:p>
          <a:p>
            <a:r>
              <a:rPr sz="1500" b="0" i="0">
                <a:solidFill>
                  <a:srgbClr val="000000"/>
                </a:solidFill>
                <a:latin typeface="Arial"/>
                <a:ea typeface="Arial"/>
                <a:cs typeface="Arial"/>
              </a:rPr>
              <a:t>College: Indian Institute of Technology Jodhpur</a:t>
            </a:r>
          </a:p>
          <a:p>
            <a:r>
              <a:rPr sz="1500" b="0" i="0">
                <a:solidFill>
                  <a:srgbClr val="000000"/>
                </a:solidFill>
                <a:latin typeface="Arial"/>
                <a:ea typeface="Arial"/>
                <a:cs typeface="Arial"/>
              </a:rPr>
              <a:t>Stream: Bioengineering</a:t>
            </a:r>
          </a:p>
          <a:p>
            <a:r>
              <a:rPr sz="1500" b="0" i="0">
                <a:solidFill>
                  <a:srgbClr val="000000"/>
                </a:solidFill>
                <a:latin typeface="Arial"/>
                <a:ea typeface="Arial"/>
                <a:cs typeface="Arial"/>
              </a:rPr>
              <a:t>Year of graduation: 2028</a:t>
            </a:r>
          </a:p>
        </p:txBody>
      </p:sp>
      <p:sp>
        <p:nvSpPr>
          <p:cNvPr name="TextBox 31" id="31"/>
          <p:cNvSpPr txBox="true"/>
          <p:nvPr/>
        </p:nvSpPr>
        <p:spPr>
          <a:xfrm rot="0">
            <a:off x="4047868" y="7880737"/>
            <a:ext cx="4206240" cy="914400"/>
          </a:xfrm>
          <a:prstGeom prst="rect">
            <a:avLst/>
          </a:prstGeom>
        </p:spPr>
        <p:txBody>
          <a:bodyPr anchor="t" rtlCol="false" tIns="0" lIns="0" bIns="0" rIns="0" wrap="square">
            <a:spAutoFit/>
          </a:bodyPr>
          <a:lstStyle/>
          <a:p>
            <a:pPr algn="l">
              <a:lnSpc>
                <a:spcPts val="2160"/>
              </a:lnSpc>
            </a:pPr>
            <a:r>
              <a:rPr sz="1400" b="1" i="0">
                <a:solidFill>
                  <a:srgbClr val="000000"/>
                </a:solidFill>
                <a:latin typeface="Arial"/>
                <a:ea typeface="Arial"/>
                <a:cs typeface="Arial"/>
              </a:rPr>
              <a:t>B24CS1031</a:t>
            </a:r>
          </a:p>
          <a:p>
            <a:r>
              <a:rPr sz="1500" b="0" i="0">
                <a:solidFill>
                  <a:srgbClr val="000000"/>
                </a:solidFill>
                <a:latin typeface="Arial"/>
                <a:ea typeface="Arial"/>
                <a:cs typeface="Arial"/>
              </a:rPr>
              <a:t>College: Indian Institute of Technology Jodhpur</a:t>
            </a:r>
          </a:p>
          <a:p>
            <a:r>
              <a:rPr sz="1500" b="0" i="0">
                <a:solidFill>
                  <a:srgbClr val="000000"/>
                </a:solidFill>
                <a:latin typeface="Arial"/>
                <a:ea typeface="Arial"/>
                <a:cs typeface="Arial"/>
              </a:rPr>
              <a:t>Stream: Computer Science</a:t>
            </a:r>
          </a:p>
          <a:p>
            <a:r>
              <a:rPr sz="1500" b="0" i="0">
                <a:solidFill>
                  <a:srgbClr val="000000"/>
                </a:solidFill>
                <a:latin typeface="Arial"/>
                <a:ea typeface="Arial"/>
                <a:cs typeface="Arial"/>
              </a:rPr>
              <a:t>Year of graduation: 2028</a:t>
            </a:r>
          </a:p>
        </p:txBody>
      </p:sp>
      <p:sp>
        <p:nvSpPr>
          <p:cNvPr name="TextBox 32" id="32"/>
          <p:cNvSpPr txBox="true"/>
          <p:nvPr/>
        </p:nvSpPr>
        <p:spPr>
          <a:xfrm rot="0">
            <a:off x="13775522" y="4738821"/>
            <a:ext cx="4206240" cy="914400"/>
          </a:xfrm>
          <a:prstGeom prst="rect">
            <a:avLst/>
          </a:prstGeom>
        </p:spPr>
        <p:txBody>
          <a:bodyPr anchor="t" rtlCol="false" tIns="0" lIns="0" bIns="0" rIns="0" wrap="square">
            <a:spAutoFit/>
          </a:bodyPr>
          <a:lstStyle/>
          <a:p>
            <a:pPr algn="l">
              <a:lnSpc>
                <a:spcPts val="2160"/>
              </a:lnSpc>
            </a:pPr>
            <a:r>
              <a:rPr sz="1400" b="1" i="0">
                <a:solidFill>
                  <a:srgbClr val="000000"/>
                </a:solidFill>
                <a:latin typeface="Arial"/>
                <a:ea typeface="Arial"/>
                <a:cs typeface="Arial"/>
              </a:rPr>
              <a:t>B24CM1033</a:t>
            </a:r>
          </a:p>
          <a:p>
            <a:r>
              <a:rPr sz="1500" b="0" i="0">
                <a:solidFill>
                  <a:srgbClr val="000000"/>
                </a:solidFill>
                <a:latin typeface="Arial"/>
                <a:ea typeface="Arial"/>
                <a:cs typeface="Arial"/>
              </a:rPr>
              <a:t>College: Indian Institute of Technology Jodhpur</a:t>
            </a:r>
          </a:p>
          <a:p>
            <a:r>
              <a:rPr sz="1500" b="0" i="0">
                <a:solidFill>
                  <a:srgbClr val="000000"/>
                </a:solidFill>
                <a:latin typeface="Arial"/>
                <a:ea typeface="Arial"/>
                <a:cs typeface="Arial"/>
              </a:rPr>
              <a:t>Stream: Artificial Intelligence &amp; Data Science</a:t>
            </a:r>
          </a:p>
          <a:p>
            <a:r>
              <a:rPr sz="1500" b="0" i="0">
                <a:solidFill>
                  <a:srgbClr val="000000"/>
                </a:solidFill>
                <a:latin typeface="Arial"/>
                <a:ea typeface="Arial"/>
                <a:cs typeface="Arial"/>
              </a:rPr>
              <a:t>Year of graduation: 2028</a:t>
            </a:r>
          </a:p>
        </p:txBody>
      </p:sp>
      <p:grpSp>
        <p:nvGrpSpPr>
          <p:cNvPr name="Group 33" id="33"/>
          <p:cNvGrpSpPr/>
          <p:nvPr/>
        </p:nvGrpSpPr>
        <p:grpSpPr>
          <a:xfrm rot="0">
            <a:off x="1164955" y="6542303"/>
            <a:ext cx="2151326" cy="2206981"/>
            <a:chOff x="0" y="0"/>
            <a:chExt cx="2868435" cy="2942641"/>
          </a:xfrm>
        </p:grpSpPr>
        <p:sp>
          <p:nvSpPr>
            <p:cNvPr name="Freeform 34" id="34"/>
            <p:cNvSpPr/>
            <p:nvPr/>
          </p:nvSpPr>
          <p:spPr>
            <a:xfrm flipH="false" flipV="false" rot="0">
              <a:off x="0" y="0"/>
              <a:ext cx="2868422" cy="2942590"/>
            </a:xfrm>
            <a:custGeom>
              <a:avLst/>
              <a:gdLst/>
              <a:ahLst/>
              <a:cxnLst/>
              <a:rect r="r" b="b" t="t" l="l"/>
              <a:pathLst>
                <a:path h="2942590" w="2868422">
                  <a:moveTo>
                    <a:pt x="0" y="0"/>
                  </a:moveTo>
                  <a:lnTo>
                    <a:pt x="2868422" y="0"/>
                  </a:lnTo>
                  <a:lnTo>
                    <a:pt x="2868422" y="2942590"/>
                  </a:lnTo>
                  <a:lnTo>
                    <a:pt x="0" y="2942590"/>
                  </a:lnTo>
                  <a:lnTo>
                    <a:pt x="0" y="0"/>
                  </a:lnTo>
                  <a:close/>
                </a:path>
              </a:pathLst>
            </a:custGeom>
            <a:blipFill>
              <a:blip r:embed="rId2"/>
              <a:stretch>
                <a:fillRect l="0" t="0" r="0" b="-79"/>
              </a:stretch>
            </a:blipFill>
          </p:spPr>
        </p:sp>
      </p:grpSp>
      <p:sp>
        <p:nvSpPr>
          <p:cNvPr id="35" name="TextBox 34"/>
          <p:cNvSpPr txBox="1"/>
          <p:nvPr/>
        </p:nvSpPr>
        <p:spPr>
          <a:xfrm>
            <a:off x="1280160" y="3758184"/>
            <a:ext cx="2167128" cy="2203704"/>
          </a:xfrm>
          <a:prstGeom prst="rect">
            <a:avLst/>
          </a:prstGeom>
          <a:noFill/>
        </p:spPr>
        <p:txBody>
          <a:bodyPr wrap="square" anchor="ctr" lIns="0" rIns="0" tIns="0" bIns="0">
            <a:spAutoFit/>
          </a:bodyPr>
          <a:lstStyle/>
          <a:p>
            <a:pPr algn="ctr">
              <a:spcBef>
                <a:spcPts val="0"/>
              </a:spcBef>
              <a:spcAft>
                <a:spcPts val="0"/>
              </a:spcAft>
            </a:pPr>
            <a:r>
              <a:rPr sz="2700" b="0" i="0">
                <a:solidFill>
                  <a:srgbClr val="FFFFFF"/>
                </a:solidFill>
                <a:latin typeface="Arial"/>
                <a:ea typeface="Arial"/>
                <a:cs typeface="Arial"/>
              </a:rPr>
              <a:t>Photo</a:t>
            </a:r>
          </a:p>
        </p:txBody>
      </p:sp>
      <p:sp>
        <p:nvSpPr>
          <p:cNvPr id="36" name="TextBox 35"/>
          <p:cNvSpPr txBox="1"/>
          <p:nvPr/>
        </p:nvSpPr>
        <p:spPr>
          <a:xfrm>
            <a:off x="11082528" y="3758184"/>
            <a:ext cx="2167128" cy="2203704"/>
          </a:xfrm>
          <a:prstGeom prst="rect">
            <a:avLst/>
          </a:prstGeom>
          <a:noFill/>
        </p:spPr>
        <p:txBody>
          <a:bodyPr wrap="square" anchor="ctr" lIns="0" rIns="0" tIns="0" bIns="0">
            <a:spAutoFit/>
          </a:bodyPr>
          <a:lstStyle/>
          <a:p>
            <a:pPr algn="ctr">
              <a:spcBef>
                <a:spcPts val="0"/>
              </a:spcBef>
              <a:spcAft>
                <a:spcPts val="0"/>
              </a:spcAft>
            </a:pPr>
            <a:r>
              <a:rPr sz="2700" b="0" i="0">
                <a:solidFill>
                  <a:srgbClr val="FFFFFF"/>
                </a:solidFill>
                <a:latin typeface="Arial"/>
                <a:ea typeface="Arial"/>
                <a:cs typeface="Arial"/>
              </a:rPr>
              <a:t>Photo</a:t>
            </a:r>
          </a:p>
        </p:txBody>
      </p:sp>
      <p:sp>
        <p:nvSpPr>
          <p:cNvPr id="37" name="TextBox 36"/>
          <p:cNvSpPr txBox="1"/>
          <p:nvPr/>
        </p:nvSpPr>
        <p:spPr>
          <a:xfrm>
            <a:off x="13551408" y="9646920"/>
            <a:ext cx="3593592" cy="219456"/>
          </a:xfrm>
          <a:prstGeom prst="rect">
            <a:avLst/>
          </a:prstGeom>
          <a:noFill/>
        </p:spPr>
        <p:txBody>
          <a:bodyPr wrap="square" anchor="t" lIns="0" rIns="0" tIns="0" bIns="0">
            <a:spAutoFit/>
          </a:bodyPr>
          <a:lstStyle/>
          <a:p>
            <a:pPr algn="l">
              <a:spcBef>
                <a:spcPts val="0"/>
              </a:spcBef>
              <a:spcAft>
                <a:spcPts val="0"/>
              </a:spcAft>
            </a:pPr>
            <a:r>
              <a:rPr sz="1200" b="0" i="0">
                <a:solidFill>
                  <a:srgbClr val="808080"/>
                </a:solidFill>
                <a:latin typeface="Arial"/>
                <a:ea typeface="Arial"/>
                <a:cs typeface="Arial"/>
              </a:rPr>
              <a:t>Copyright © 2026 Accenture. All rights reserved.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42192" y="579501"/>
            <a:ext cx="16924191" cy="706374"/>
            <a:chOff x="0" y="0"/>
            <a:chExt cx="22565589" cy="941832"/>
          </a:xfrm>
        </p:grpSpPr>
        <p:sp>
          <p:nvSpPr>
            <p:cNvPr name="Freeform 3" id="3"/>
            <p:cNvSpPr/>
            <p:nvPr/>
          </p:nvSpPr>
          <p:spPr>
            <a:xfrm flipH="false" flipV="false" rot="0">
              <a:off x="0" y="0"/>
              <a:ext cx="22565592" cy="941838"/>
            </a:xfrm>
            <a:custGeom>
              <a:avLst/>
              <a:gdLst/>
              <a:ahLst/>
              <a:cxnLst/>
              <a:rect r="r" b="b" t="t" l="l"/>
              <a:pathLst>
                <a:path h="941838" w="22565592">
                  <a:moveTo>
                    <a:pt x="0" y="0"/>
                  </a:moveTo>
                  <a:lnTo>
                    <a:pt x="22565592" y="0"/>
                  </a:lnTo>
                  <a:lnTo>
                    <a:pt x="22565592" y="941838"/>
                  </a:lnTo>
                  <a:lnTo>
                    <a:pt x="0" y="941838"/>
                  </a:lnTo>
                  <a:close/>
                </a:path>
              </a:pathLst>
            </a:custGeom>
            <a:blipFill>
              <a:blip r:embed="rId2">
                <a:alphaModFix amt="0"/>
              </a:blip>
              <a:stretch>
                <a:fillRect l="0" t="-416844" r="0" b="-416843"/>
              </a:stretch>
            </a:blipFill>
          </p:spPr>
        </p:sp>
        <p:sp>
          <p:nvSpPr>
            <p:cNvPr name="TextBox 4" id="4"/>
            <p:cNvSpPr txBox="true"/>
            <p:nvPr/>
          </p:nvSpPr>
          <p:spPr>
            <a:xfrm>
              <a:off x="0" y="19050"/>
              <a:ext cx="22565589" cy="922782"/>
            </a:xfrm>
            <a:prstGeom prst="rect">
              <a:avLst/>
            </a:prstGeom>
          </p:spPr>
          <p:txBody>
            <a:bodyPr anchor="ctr" rtlCol="false" tIns="0" lIns="0" bIns="0" rIns="0"/>
            <a:lstStyle/>
            <a:p>
              <a:pPr algn="l">
                <a:lnSpc>
                  <a:spcPts val="3240"/>
                </a:lnSpc>
              </a:pPr>
              <a:r>
                <a:rPr lang="en-US" sz="3000" b="true">
                  <a:solidFill>
                    <a:srgbClr val="FFFFFF"/>
                  </a:solidFill>
                  <a:latin typeface="Arial"/>
                  <a:ea typeface="Arial"/>
                  <a:cs typeface="Arial"/>
                  <a:sym typeface="Arial"/>
                </a:rPr>
                <a:t>Describe the problem statement (200 words)</a:t>
              </a:r>
            </a:p>
          </p:txBody>
        </p:sp>
      </p:grpSp>
      <p:sp>
        <p:nvSpPr>
          <p:cNvPr id="5" name="TextBox 4"/>
          <p:cNvSpPr txBox="1"/>
          <p:nvPr/>
        </p:nvSpPr>
        <p:spPr>
          <a:xfrm>
            <a:off x="685800" y="1874519"/>
            <a:ext cx="10972800" cy="6949440"/>
          </a:xfrm>
          <a:prstGeom prst="rect">
            <a:avLst/>
          </a:prstGeom>
          <a:noFill/>
        </p:spPr>
        <p:txBody>
          <a:bodyPr wrap="square" lIns="0" rIns="0" tIns="0" bIns="0">
            <a:spAutoFit/>
          </a:bodyPr>
          <a:lstStyle/>
          <a:p>
            <a:pPr algn="l">
              <a:lnSpc>
                <a:spcPct val="116000"/>
              </a:lnSpc>
              <a:spcAft>
                <a:spcPts val="900"/>
              </a:spcAft>
            </a:pPr>
            <a:r>
              <a:rPr sz="2000">
                <a:solidFill>
                  <a:srgbClr val="212121"/>
                </a:solidFill>
                <a:latin typeface="Arial"/>
              </a:rPr>
              <a:t>Enterprises have adopted generative AI faster than they can supervise it. Seventy-two percent of organisations now use it in at least one function, yet more than eighty percent of pilots fail to reach production and forty percent of initiatives are cancelled where governance is absent.</a:t>
            </a:r>
          </a:p>
          <a:p>
            <a:pPr algn="l">
              <a:lnSpc>
                <a:spcPct val="116000"/>
              </a:lnSpc>
              <a:spcAft>
                <a:spcPts val="900"/>
              </a:spcAft>
            </a:pPr>
            <a:r>
              <a:rPr sz="2000">
                <a:solidFill>
                  <a:srgbClr val="212121"/>
                </a:solidFill>
                <a:latin typeface="Arial"/>
              </a:rPr>
              <a:t>The failures are not exotic. A support assistant states a refund that never happened. An HR copilot repeats an employee's phone number into a retained transcript. An advisory tool loops on a malformed integration, burning inference budget for a week. Three planes, quality, cost and responsibility, and three teams discovering three incidents weeks later from three different systems.</a:t>
            </a:r>
          </a:p>
          <a:p>
            <a:pPr algn="l">
              <a:lnSpc>
                <a:spcPct val="116000"/>
              </a:lnSpc>
              <a:spcAft>
                <a:spcPts val="900"/>
              </a:spcAft>
            </a:pPr>
            <a:r>
              <a:rPr sz="2000">
                <a:solidFill>
                  <a:srgbClr val="212121"/>
                </a:solidFill>
                <a:latin typeface="Arial"/>
              </a:rPr>
              <a:t>The common cause is structural. Observability platforms report after delivery. Guardrail engines filter one category of harm. Gateways route traffic. None makes a single accountable decision about a response before delivery, and none lets one organisation hold a customer chatbot and an internal HR tool to different standards without shipping different code.</a:t>
            </a:r>
          </a:p>
          <a:p>
            <a:pPr algn="l">
              <a:lnSpc>
                <a:spcPct val="116000"/>
              </a:lnSpc>
            </a:pPr>
            <a:r>
              <a:rPr sz="2000">
                <a:solidFill>
                  <a:srgbClr val="212121"/>
                </a:solidFill>
                <a:latin typeface="Arial"/>
              </a:rPr>
              <a:t>Meanwhile the regulatory clock runs. The EU AI Act reaches thirty-five million euros or seven percent of global turnover, India's DPDP Act two hundred and fifty crore rupees, and the obligation lands on the deploying enterprise, not the model vendor.</a:t>
            </a:r>
          </a:p>
        </p:txBody>
      </p:sp>
      <p:sp>
        <p:nvSpPr>
          <p:cNvPr id="6" name="TextBox 5"/>
          <p:cNvSpPr txBox="1"/>
          <p:nvPr/>
        </p:nvSpPr>
        <p:spPr>
          <a:xfrm>
            <a:off x="685800" y="9418320"/>
            <a:ext cx="15544800" cy="274320"/>
          </a:xfrm>
          <a:prstGeom prst="rect">
            <a:avLst/>
          </a:prstGeom>
          <a:noFill/>
        </p:spPr>
        <p:txBody>
          <a:bodyPr wrap="none" lIns="0" rIns="0" tIns="0" bIns="0">
            <a:spAutoFit/>
          </a:bodyPr>
          <a:lstStyle/>
          <a:p>
            <a:r>
              <a:rPr sz="1200">
                <a:solidFill>
                  <a:srgbClr val="93939F"/>
                </a:solidFill>
                <a:latin typeface="Arial"/>
              </a:rPr>
              <a:t>Source: McKinsey State of AI 2025; Gartner; Regulation (EU) 2024/1689; MeitY DPDP Rules 2025  ·  [M-01] [M-02] [M-03] [M-12]</a:t>
            </a:r>
          </a:p>
        </p:txBody>
      </p:sp>
      <p:sp>
        <p:nvSpPr>
          <p:cNvPr id="7" name="TextBox 6"/>
          <p:cNvSpPr txBox="1"/>
          <p:nvPr/>
        </p:nvSpPr>
        <p:spPr>
          <a:xfrm>
            <a:off x="17282160" y="9784080"/>
            <a:ext cx="320040" cy="274320"/>
          </a:xfrm>
          <a:prstGeom prst="rect">
            <a:avLst/>
          </a:prstGeom>
          <a:noFill/>
        </p:spPr>
        <p:txBody>
          <a:bodyPr wrap="none" lIns="0" rIns="0" tIns="0" bIns="0">
            <a:spAutoFit/>
          </a:bodyPr>
          <a:lstStyle/>
          <a:p>
            <a:pPr algn="r"/>
            <a:r>
              <a:rPr sz="1000">
                <a:solidFill>
                  <a:srgbClr val="93939F"/>
                </a:solidFill>
                <a:latin typeface="Arial"/>
              </a:rPr>
              <a:t>5</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1445" y="514026"/>
            <a:ext cx="16924191" cy="634689"/>
            <a:chOff x="0" y="0"/>
            <a:chExt cx="22565589" cy="846252"/>
          </a:xfrm>
        </p:grpSpPr>
        <p:sp>
          <p:nvSpPr>
            <p:cNvPr name="Freeform 3" id="3"/>
            <p:cNvSpPr/>
            <p:nvPr/>
          </p:nvSpPr>
          <p:spPr>
            <a:xfrm flipH="false" flipV="false" rot="0">
              <a:off x="0" y="0"/>
              <a:ext cx="22565592" cy="846250"/>
            </a:xfrm>
            <a:custGeom>
              <a:avLst/>
              <a:gdLst/>
              <a:ahLst/>
              <a:cxnLst/>
              <a:rect r="r" b="b" t="t" l="l"/>
              <a:pathLst>
                <a:path h="846250" w="22565592">
                  <a:moveTo>
                    <a:pt x="0" y="0"/>
                  </a:moveTo>
                  <a:lnTo>
                    <a:pt x="22565592" y="0"/>
                  </a:lnTo>
                  <a:lnTo>
                    <a:pt x="22565592" y="846250"/>
                  </a:lnTo>
                  <a:lnTo>
                    <a:pt x="0" y="846250"/>
                  </a:lnTo>
                  <a:close/>
                </a:path>
              </a:pathLst>
            </a:custGeom>
            <a:blipFill>
              <a:blip r:embed="rId2">
                <a:alphaModFix amt="0"/>
              </a:blip>
              <a:stretch>
                <a:fillRect l="0" t="-469576" r="0" b="-469576"/>
              </a:stretch>
            </a:blipFill>
          </p:spPr>
        </p:sp>
        <p:sp>
          <p:nvSpPr>
            <p:cNvPr name="TextBox 4" id="4"/>
            <p:cNvSpPr txBox="true"/>
            <p:nvPr/>
          </p:nvSpPr>
          <p:spPr>
            <a:xfrm>
              <a:off x="0" y="19050"/>
              <a:ext cx="22565589" cy="827202"/>
            </a:xfrm>
            <a:prstGeom prst="rect">
              <a:avLst/>
            </a:prstGeom>
          </p:spPr>
          <p:txBody>
            <a:bodyPr anchor="ctr" rtlCol="false" tIns="0" lIns="0" bIns="0" rIns="0"/>
            <a:lstStyle/>
            <a:p>
              <a:pPr algn="l">
                <a:lnSpc>
                  <a:spcPts val="3240"/>
                </a:lnSpc>
              </a:pPr>
              <a:r>
                <a:rPr lang="en-US" sz="3000" b="true">
                  <a:solidFill>
                    <a:srgbClr val="FFFFFF"/>
                  </a:solidFill>
                  <a:latin typeface="Arial"/>
                  <a:ea typeface="Arial"/>
                  <a:cs typeface="Arial"/>
                  <a:sym typeface="Arial"/>
                </a:rPr>
                <a:t>Proposed solution (200 words)</a:t>
              </a:r>
            </a:p>
          </p:txBody>
        </p:sp>
      </p:grpSp>
      <p:sp>
        <p:nvSpPr>
          <p:cNvPr id="5" name="TextBox 4"/>
          <p:cNvSpPr txBox="1"/>
          <p:nvPr/>
        </p:nvSpPr>
        <p:spPr>
          <a:xfrm>
            <a:off x="685800" y="1874519"/>
            <a:ext cx="10972800" cy="6949440"/>
          </a:xfrm>
          <a:prstGeom prst="rect">
            <a:avLst/>
          </a:prstGeom>
          <a:noFill/>
        </p:spPr>
        <p:txBody>
          <a:bodyPr wrap="square" lIns="0" rIns="0" tIns="0" bIns="0">
            <a:spAutoFit/>
          </a:bodyPr>
          <a:lstStyle/>
          <a:p>
            <a:pPr algn="l">
              <a:lnSpc>
                <a:spcPct val="116000"/>
              </a:lnSpc>
              <a:spcAft>
                <a:spcPts val="900"/>
              </a:spcAft>
            </a:pPr>
            <a:r>
              <a:rPr sz="2000">
                <a:solidFill>
                  <a:srgbClr val="212121"/>
                </a:solidFill>
                <a:latin typeface="Arial"/>
              </a:rPr>
              <a:t>ControlPlane is a reverse-proxy oversight gateway. An application changes one base URL, keeping its own SDK. Every request and response then passes detection lanes scoring three planes, converging to one verdict before delivery: pass, edit, block or escalate.</a:t>
            </a:r>
          </a:p>
          <a:p>
            <a:pPr algn="l">
              <a:lnSpc>
                <a:spcPct val="116000"/>
              </a:lnSpc>
              <a:spcAft>
                <a:spcPts val="900"/>
              </a:spcAft>
            </a:pPr>
            <a:r>
              <a:rPr sz="2000">
                <a:solidFill>
                  <a:srgbClr val="212121"/>
                </a:solidFill>
                <a:latin typeface="Arial"/>
              </a:rPr>
              <a:t>Interception is per sentence rather than per token or per finished response, so a flagged sentence never partially reaches the user while the hold stays inside a measured budget. Deterministic matchers run three orders of magnitude inside their two millisecond budget. Quantized CPU classifiers handle injection and toxicity. Anything expensive, semantic entropy, fairness auditing, model-judge scoring, runs on an asynchronous lane and is never awaited on the hot path.</a:t>
            </a:r>
          </a:p>
          <a:p>
            <a:pPr algn="l">
              <a:lnSpc>
                <a:spcPct val="116000"/>
              </a:lnSpc>
              <a:spcAft>
                <a:spcPts val="900"/>
              </a:spcAft>
            </a:pPr>
            <a:r>
              <a:rPr sz="2000">
                <a:solidFill>
                  <a:srgbClr val="212121"/>
                </a:solidFill>
                <a:latin typeface="Arial"/>
              </a:rPr>
              <a:t>The decisive property is that policy lives in versioned YAML, one file per use case, rather than in code. The same sentence carrying the same three detector labels resolves to edit under a support policy, block under an HR policy and escalate under a financial one. That is verified by running the engine, and a test fails if any use-case name reaches executable code.</a:t>
            </a:r>
          </a:p>
          <a:p>
            <a:pPr algn="l">
              <a:lnSpc>
                <a:spcPct val="116000"/>
              </a:lnSpc>
            </a:pPr>
            <a:r>
              <a:rPr sz="2000">
                <a:solidFill>
                  <a:srgbClr val="212121"/>
                </a:solidFill>
                <a:latin typeface="Arial"/>
              </a:rPr>
              <a:t>Escalated responses are quarantined rather than delivered, and every decision is written into an append-only audit lineage recording the category of an interception, never the matched value.</a:t>
            </a:r>
          </a:p>
        </p:txBody>
      </p:sp>
      <p:sp>
        <p:nvSpPr>
          <p:cNvPr id="6" name="TextBox 5"/>
          <p:cNvSpPr txBox="1"/>
          <p:nvPr/>
        </p:nvSpPr>
        <p:spPr>
          <a:xfrm>
            <a:off x="685800" y="9418320"/>
            <a:ext cx="15544800" cy="274320"/>
          </a:xfrm>
          <a:prstGeom prst="rect">
            <a:avLst/>
          </a:prstGeom>
          <a:noFill/>
        </p:spPr>
        <p:txBody>
          <a:bodyPr wrap="none" lIns="0" rIns="0" tIns="0" bIns="0">
            <a:spAutoFit/>
          </a:bodyPr>
          <a:lstStyle/>
          <a:p>
            <a:r>
              <a:rPr sz="1200">
                <a:solidFill>
                  <a:srgbClr val="93939F"/>
                </a:solidFill>
                <a:latin typeface="Arial"/>
              </a:rPr>
              <a:t>Source: docs/02-architecture.md, docs/04-policy-and-detection-spec.md, reports/latency_report.md  ·  [B-01] [B-05] [B-06]</a:t>
            </a:r>
          </a:p>
        </p:txBody>
      </p:sp>
      <p:sp>
        <p:nvSpPr>
          <p:cNvPr id="7" name="TextBox 6"/>
          <p:cNvSpPr txBox="1"/>
          <p:nvPr/>
        </p:nvSpPr>
        <p:spPr>
          <a:xfrm>
            <a:off x="17282160" y="9784080"/>
            <a:ext cx="320040" cy="274320"/>
          </a:xfrm>
          <a:prstGeom prst="rect">
            <a:avLst/>
          </a:prstGeom>
          <a:noFill/>
        </p:spPr>
        <p:txBody>
          <a:bodyPr wrap="none" lIns="0" rIns="0" tIns="0" bIns="0">
            <a:spAutoFit/>
          </a:bodyPr>
          <a:lstStyle/>
          <a:p>
            <a:pPr algn="r"/>
            <a:r>
              <a:rPr sz="1000">
                <a:solidFill>
                  <a:srgbClr val="93939F"/>
                </a:solidFill>
                <a:latin typeface="Arial"/>
              </a:rPr>
              <a:t>9</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50028" y="445446"/>
            <a:ext cx="17387935" cy="720414"/>
            <a:chOff x="0" y="0"/>
            <a:chExt cx="23183914" cy="960552"/>
          </a:xfrm>
        </p:grpSpPr>
        <p:sp>
          <p:nvSpPr>
            <p:cNvPr name="Freeform 3" id="3"/>
            <p:cNvSpPr/>
            <p:nvPr/>
          </p:nvSpPr>
          <p:spPr>
            <a:xfrm flipH="false" flipV="false" rot="0">
              <a:off x="0" y="0"/>
              <a:ext cx="23183918" cy="960552"/>
            </a:xfrm>
            <a:custGeom>
              <a:avLst/>
              <a:gdLst/>
              <a:ahLst/>
              <a:cxnLst/>
              <a:rect r="r" b="b" t="t" l="l"/>
              <a:pathLst>
                <a:path h="960552" w="23183918">
                  <a:moveTo>
                    <a:pt x="0" y="0"/>
                  </a:moveTo>
                  <a:lnTo>
                    <a:pt x="23183918" y="0"/>
                  </a:lnTo>
                  <a:lnTo>
                    <a:pt x="23183918" y="960552"/>
                  </a:lnTo>
                  <a:lnTo>
                    <a:pt x="0" y="960552"/>
                  </a:lnTo>
                  <a:close/>
                </a:path>
              </a:pathLst>
            </a:custGeom>
            <a:blipFill>
              <a:blip r:embed="rId2">
                <a:alphaModFix amt="0"/>
              </a:blip>
              <a:stretch>
                <a:fillRect l="0" t="-420291" r="0" b="-420291"/>
              </a:stretch>
            </a:blipFill>
          </p:spPr>
        </p:sp>
        <p:sp>
          <p:nvSpPr>
            <p:cNvPr name="TextBox 4" id="4"/>
            <p:cNvSpPr txBox="true"/>
            <p:nvPr/>
          </p:nvSpPr>
          <p:spPr>
            <a:xfrm>
              <a:off x="0" y="19050"/>
              <a:ext cx="23183914" cy="941502"/>
            </a:xfrm>
            <a:prstGeom prst="rect">
              <a:avLst/>
            </a:prstGeom>
          </p:spPr>
          <p:txBody>
            <a:bodyPr anchor="ctr" rtlCol="false" tIns="0" lIns="0" bIns="0" rIns="0"/>
            <a:lstStyle/>
            <a:p>
              <a:pPr algn="l">
                <a:lnSpc>
                  <a:spcPts val="3240"/>
                </a:lnSpc>
              </a:pPr>
              <a:r>
                <a:rPr lang="en-US" sz="3000" b="true">
                  <a:solidFill>
                    <a:srgbClr val="FFFFFF"/>
                  </a:solidFill>
                  <a:latin typeface="Arial"/>
                  <a:ea typeface="Arial"/>
                  <a:cs typeface="Arial"/>
                  <a:sym typeface="Arial"/>
                </a:rPr>
                <a:t>Video</a:t>
              </a:r>
            </a:p>
          </p:txBody>
        </p:sp>
      </p:grpSp>
      <p:sp>
        <p:nvSpPr>
          <p:cNvPr id="5" name="TextBox 4"/>
          <p:cNvSpPr txBox="1"/>
          <p:nvPr/>
        </p:nvSpPr>
        <p:spPr>
          <a:xfrm>
            <a:off x="17282160" y="9784080"/>
            <a:ext cx="320040" cy="274320"/>
          </a:xfrm>
          <a:prstGeom prst="rect">
            <a:avLst/>
          </a:prstGeom>
          <a:noFill/>
        </p:spPr>
        <p:txBody>
          <a:bodyPr wrap="none" lIns="0" rIns="0" tIns="0" bIns="0">
            <a:spAutoFit/>
          </a:bodyPr>
          <a:lstStyle/>
          <a:p>
            <a:pPr algn="r"/>
            <a:r>
              <a:rPr sz="1000">
                <a:solidFill>
                  <a:srgbClr val="93939F"/>
                </a:solidFill>
                <a:latin typeface="Arial"/>
              </a:rPr>
              <a:t>29</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1A3FF"/>
        </a:solidFill>
      </p:bgPr>
    </p:bg>
    <p:spTree>
      <p:nvGrpSpPr>
        <p:cNvPr id="1" name=""/>
        <p:cNvGrpSpPr/>
        <p:nvPr/>
      </p:nvGrpSpPr>
      <p:grpSpPr>
        <a:xfrm>
          <a:off x="0" y="0"/>
          <a:ext cx="0" cy="0"/>
          <a:chOff x="0" y="0"/>
          <a:chExt cx="0" cy="0"/>
        </a:xfrm>
      </p:grpSpPr>
      <p:grpSp>
        <p:nvGrpSpPr>
          <p:cNvPr name="Group 2" id="2"/>
          <p:cNvGrpSpPr/>
          <p:nvPr/>
        </p:nvGrpSpPr>
        <p:grpSpPr>
          <a:xfrm rot="5400000">
            <a:off x="4000500" y="-4000500"/>
            <a:ext cx="10287000" cy="18288000"/>
            <a:chOff x="0" y="0"/>
            <a:chExt cx="13716000" cy="24384000"/>
          </a:xfrm>
        </p:grpSpPr>
        <p:sp>
          <p:nvSpPr>
            <p:cNvPr name="Freeform 3" id="3" descr="A purple and black background  AI-generated content may be incorrect."/>
            <p:cNvSpPr/>
            <p:nvPr/>
          </p:nvSpPr>
          <p:spPr>
            <a:xfrm flipH="false" flipV="false" rot="0">
              <a:off x="0" y="0"/>
              <a:ext cx="13716000" cy="24384000"/>
            </a:xfrm>
            <a:custGeom>
              <a:avLst/>
              <a:gdLst/>
              <a:ahLst/>
              <a:cxnLst/>
              <a:rect r="r" b="b" t="t" l="l"/>
              <a:pathLst>
                <a:path h="24384000" w="13716000">
                  <a:moveTo>
                    <a:pt x="0" y="0"/>
                  </a:moveTo>
                  <a:lnTo>
                    <a:pt x="13716000" y="0"/>
                  </a:lnTo>
                  <a:lnTo>
                    <a:pt x="13716000" y="24384000"/>
                  </a:lnTo>
                  <a:lnTo>
                    <a:pt x="0" y="24384000"/>
                  </a:lnTo>
                  <a:lnTo>
                    <a:pt x="0" y="0"/>
                  </a:lnTo>
                  <a:close/>
                </a:path>
              </a:pathLst>
            </a:custGeom>
            <a:blipFill>
              <a:blip r:embed="rId2"/>
              <a:stretch>
                <a:fillRect l="0" t="0" r="-88" b="0"/>
              </a:stretch>
            </a:blipFill>
          </p:spPr>
          <p:txBody>
            <a:bodyPr/>
            <a:p/>
          </p:txBody>
        </p:sp>
      </p:grpSp>
      <p:grpSp>
        <p:nvGrpSpPr>
          <p:cNvPr name="Group 4" id="4"/>
          <p:cNvGrpSpPr/>
          <p:nvPr/>
        </p:nvGrpSpPr>
        <p:grpSpPr>
          <a:xfrm rot="0">
            <a:off x="13547865" y="9644777"/>
            <a:ext cx="3597135" cy="184671"/>
            <a:chOff x="0" y="0"/>
            <a:chExt cx="4796180" cy="246228"/>
          </a:xfrm>
        </p:grpSpPr>
        <p:sp>
          <p:nvSpPr>
            <p:cNvPr name="Freeform 5" id="5"/>
            <p:cNvSpPr/>
            <p:nvPr/>
          </p:nvSpPr>
          <p:spPr>
            <a:xfrm flipH="false" flipV="false" rot="0">
              <a:off x="0" y="0"/>
              <a:ext cx="4796184" cy="246222"/>
            </a:xfrm>
            <a:custGeom>
              <a:avLst/>
              <a:gdLst/>
              <a:ahLst/>
              <a:cxnLst/>
              <a:rect r="r" b="b" t="t" l="l"/>
              <a:pathLst>
                <a:path h="246222" w="4796184">
                  <a:moveTo>
                    <a:pt x="0" y="0"/>
                  </a:moveTo>
                  <a:lnTo>
                    <a:pt x="4796184" y="0"/>
                  </a:lnTo>
                  <a:lnTo>
                    <a:pt x="4796184" y="246222"/>
                  </a:lnTo>
                  <a:lnTo>
                    <a:pt x="0" y="246222"/>
                  </a:lnTo>
                  <a:close/>
                </a:path>
              </a:pathLst>
            </a:custGeom>
            <a:blipFill>
              <a:blip r:embed="rId3">
                <a:alphaModFix amt="0"/>
              </a:blip>
              <a:stretch>
                <a:fillRect l="0" t="-329549" r="0" b="-329551"/>
              </a:stretch>
            </a:blipFill>
          </p:spPr>
          <p:txBody>
            <a:bodyPr/>
            <a:p/>
          </p:txBody>
        </p:sp>
        <p:sp>
          <p:nvSpPr>
            <p:cNvPr name="TextBox 6" id="6"/>
            <p:cNvSpPr txBox="true"/>
            <p:nvPr/>
          </p:nvSpPr>
          <p:spPr>
            <a:xfrm>
              <a:off x="0" y="-19050"/>
              <a:ext cx="4796180" cy="265278"/>
            </a:xfrm>
            <a:prstGeom prst="rect">
              <a:avLst/>
            </a:prstGeom>
          </p:spPr>
          <p:txBody>
            <a:bodyPr anchor="ctr" rtlCol="false" tIns="0" lIns="0" bIns="0" rIns="0"/>
            <a:lstStyle/>
            <a:p>
              <a:pPr algn="r">
                <a:lnSpc>
                  <a:spcPts val="1439"/>
                </a:lnSpc>
              </a:pPr>
              <a:r>
                <a:rPr lang="en-US" sz="1200">
                  <a:solidFill>
                    <a:srgbClr val="D9D9D9"/>
                  </a:solidFill>
                  <a:latin typeface="Arial"/>
                  <a:ea typeface="Arial"/>
                  <a:cs typeface="Arial"/>
                  <a:sym typeface="Arial"/>
                </a:rPr>
                <a:t>Copyright © 2026 Accenture. All rights reserved.</a:t>
              </a:r>
            </a:p>
          </p:txBody>
        </p:sp>
      </p:grpSp>
      <p:grpSp>
        <p:nvGrpSpPr>
          <p:cNvPr name="Group 7" id="7"/>
          <p:cNvGrpSpPr/>
          <p:nvPr/>
        </p:nvGrpSpPr>
        <p:grpSpPr>
          <a:xfrm rot="0">
            <a:off x="17528943" y="9644777"/>
            <a:ext cx="187557" cy="184671"/>
            <a:chOff x="0" y="0"/>
            <a:chExt cx="250076" cy="246228"/>
          </a:xfrm>
        </p:grpSpPr>
        <p:sp>
          <p:nvSpPr>
            <p:cNvPr name="Freeform 8" id="8"/>
            <p:cNvSpPr/>
            <p:nvPr/>
          </p:nvSpPr>
          <p:spPr>
            <a:xfrm flipH="false" flipV="false" rot="0">
              <a:off x="0" y="0"/>
              <a:ext cx="250070" cy="246222"/>
            </a:xfrm>
            <a:custGeom>
              <a:avLst/>
              <a:gdLst/>
              <a:ahLst/>
              <a:cxnLst/>
              <a:rect r="r" b="b" t="t" l="l"/>
              <a:pathLst>
                <a:path h="246222" w="250070">
                  <a:moveTo>
                    <a:pt x="0" y="0"/>
                  </a:moveTo>
                  <a:lnTo>
                    <a:pt x="250070" y="0"/>
                  </a:lnTo>
                  <a:lnTo>
                    <a:pt x="250070" y="246222"/>
                  </a:lnTo>
                  <a:lnTo>
                    <a:pt x="0" y="246222"/>
                  </a:lnTo>
                  <a:close/>
                </a:path>
              </a:pathLst>
            </a:custGeom>
            <a:blipFill>
              <a:blip r:embed="rId3">
                <a:alphaModFix amt="0"/>
              </a:blip>
              <a:stretch>
                <a:fillRect l="-76331" t="0" r="-76333" b="-2"/>
              </a:stretch>
            </a:blipFill>
          </p:spPr>
          <p:txBody>
            <a:bodyPr/>
            <a:p/>
          </p:txBody>
        </p:sp>
        <p:sp>
          <p:nvSpPr>
            <p:cNvPr name="TextBox 9" id="9"/>
            <p:cNvSpPr txBox="true"/>
            <p:nvPr/>
          </p:nvSpPr>
          <p:spPr>
            <a:xfrm>
              <a:off x="0" y="-19050"/>
              <a:ext cx="250076" cy="265278"/>
            </a:xfrm>
            <a:prstGeom prst="rect">
              <a:avLst/>
            </a:prstGeom>
          </p:spPr>
          <p:txBody>
            <a:bodyPr anchor="ctr" rtlCol="false" tIns="0" lIns="0" bIns="0" rIns="0" wrap="square"/>
            <a:lstStyle/>
            <a:p>
              <a:pPr algn="r">
                <a:lnSpc>
                  <a:spcPts val="1439"/>
                </a:lnSpc>
              </a:pPr>
              <a:r>
                <a:rPr sz="1200" b="0" i="0">
                  <a:solidFill>
                    <a:srgbClr val="808080"/>
                  </a:solidFill>
                  <a:latin typeface="Arial"/>
                  <a:ea typeface="Arial"/>
                  <a:cs typeface="Arial"/>
                </a:rPr>
                <a:t>30</a:t>
              </a:r>
            </a:p>
          </p:txBody>
        </p:sp>
      </p:grpSp>
      <p:grpSp>
        <p:nvGrpSpPr>
          <p:cNvPr name="Group 10" id="10"/>
          <p:cNvGrpSpPr/>
          <p:nvPr/>
        </p:nvGrpSpPr>
        <p:grpSpPr>
          <a:xfrm rot="0">
            <a:off x="842401" y="9575997"/>
            <a:ext cx="274939" cy="301752"/>
            <a:chOff x="0" y="0"/>
            <a:chExt cx="366586" cy="402336"/>
          </a:xfrm>
        </p:grpSpPr>
        <p:sp>
          <p:nvSpPr>
            <p:cNvPr name="Freeform 11" id="11"/>
            <p:cNvSpPr/>
            <p:nvPr/>
          </p:nvSpPr>
          <p:spPr>
            <a:xfrm flipH="false" flipV="false" rot="0">
              <a:off x="0" y="0"/>
              <a:ext cx="366649" cy="402336"/>
            </a:xfrm>
            <a:custGeom>
              <a:avLst/>
              <a:gdLst/>
              <a:ahLst/>
              <a:cxnLst/>
              <a:rect r="r" b="b" t="t" l="l"/>
              <a:pathLst>
                <a:path h="402336" w="366649">
                  <a:moveTo>
                    <a:pt x="0" y="402336"/>
                  </a:moveTo>
                  <a:lnTo>
                    <a:pt x="366649" y="253619"/>
                  </a:lnTo>
                  <a:lnTo>
                    <a:pt x="366649" y="148717"/>
                  </a:lnTo>
                  <a:lnTo>
                    <a:pt x="0" y="0"/>
                  </a:lnTo>
                  <a:lnTo>
                    <a:pt x="0" y="105029"/>
                  </a:lnTo>
                  <a:lnTo>
                    <a:pt x="236982" y="201168"/>
                  </a:lnTo>
                  <a:lnTo>
                    <a:pt x="0" y="297307"/>
                  </a:lnTo>
                  <a:lnTo>
                    <a:pt x="0" y="402336"/>
                  </a:lnTo>
                  <a:close/>
                </a:path>
              </a:pathLst>
            </a:custGeom>
            <a:solidFill>
              <a:srgbClr val="FFFFFF"/>
            </a:solidFill>
          </p:spPr>
          <p:txBody>
            <a:bodyPr/>
            <a:p/>
          </p:txBody>
        </p:sp>
      </p:grpSp>
      <p:grpSp>
        <p:nvGrpSpPr>
          <p:cNvPr name="Group 12" id="12"/>
          <p:cNvGrpSpPr/>
          <p:nvPr/>
        </p:nvGrpSpPr>
        <p:grpSpPr>
          <a:xfrm rot="0">
            <a:off x="1787023" y="5143500"/>
            <a:ext cx="7785783" cy="1477327"/>
            <a:chOff x="0" y="0"/>
            <a:chExt cx="10381044" cy="1969770"/>
          </a:xfrm>
        </p:grpSpPr>
        <p:sp>
          <p:nvSpPr>
            <p:cNvPr name="Freeform 13" id="13"/>
            <p:cNvSpPr/>
            <p:nvPr/>
          </p:nvSpPr>
          <p:spPr>
            <a:xfrm flipH="false" flipV="false" rot="0">
              <a:off x="0" y="0"/>
              <a:ext cx="10381046" cy="1969770"/>
            </a:xfrm>
            <a:custGeom>
              <a:avLst/>
              <a:gdLst/>
              <a:ahLst/>
              <a:cxnLst/>
              <a:rect r="r" b="b" t="t" l="l"/>
              <a:pathLst>
                <a:path h="1969770" w="10381046">
                  <a:moveTo>
                    <a:pt x="0" y="0"/>
                  </a:moveTo>
                  <a:lnTo>
                    <a:pt x="10381046" y="0"/>
                  </a:lnTo>
                  <a:lnTo>
                    <a:pt x="10381046" y="1969770"/>
                  </a:lnTo>
                  <a:lnTo>
                    <a:pt x="0" y="1969770"/>
                  </a:lnTo>
                  <a:close/>
                </a:path>
              </a:pathLst>
            </a:custGeom>
            <a:blipFill>
              <a:blip r:embed="rId3">
                <a:alphaModFix amt="0"/>
              </a:blip>
              <a:stretch>
                <a:fillRect l="0" t="-52689" r="0" b="-52689"/>
              </a:stretch>
            </a:blipFill>
          </p:spPr>
          <p:txBody>
            <a:bodyPr/>
            <a:p/>
          </p:txBody>
        </p:sp>
        <p:sp>
          <p:nvSpPr>
            <p:cNvPr name="TextBox 14" id="14"/>
            <p:cNvSpPr txBox="true"/>
            <p:nvPr/>
          </p:nvSpPr>
          <p:spPr>
            <a:xfrm>
              <a:off x="0" y="228600"/>
              <a:ext cx="10381044" cy="1741170"/>
            </a:xfrm>
            <a:prstGeom prst="rect">
              <a:avLst/>
            </a:prstGeom>
          </p:spPr>
          <p:txBody>
            <a:bodyPr anchor="ctr" rtlCol="false" tIns="0" lIns="0" bIns="0" rIns="0"/>
            <a:lstStyle/>
            <a:p>
              <a:pPr algn="l">
                <a:lnSpc>
                  <a:spcPts val="11519"/>
                </a:lnSpc>
              </a:pPr>
              <a:r>
                <a:rPr lang="en-US" sz="12000">
                  <a:solidFill>
                    <a:srgbClr val="FFFFFF"/>
                  </a:solidFill>
                  <a:latin typeface="Arial"/>
                  <a:ea typeface="Arial"/>
                  <a:cs typeface="Arial"/>
                  <a:sym typeface="Arial"/>
                </a:rPr>
                <a:t>Thank you</a:t>
              </a:r>
            </a:p>
          </p:txBody>
        </p:sp>
      </p:grpSp>
      <p:sp>
        <p:nvSpPr>
          <p:cNvPr id="15" name="TextBox 14"/>
          <p:cNvSpPr txBox="1"/>
          <p:nvPr/>
        </p:nvSpPr>
        <p:spPr>
          <a:xfrm>
            <a:off x="4160520" y="6903720"/>
            <a:ext cx="10058400" cy="914400"/>
          </a:xfrm>
          <a:prstGeom prst="rect">
            <a:avLst/>
          </a:prstGeom>
          <a:noFill/>
        </p:spPr>
        <p:txBody>
          <a:bodyPr wrap="square" anchor="t" lIns="0" rIns="0" tIns="0" bIns="0">
            <a:spAutoFit/>
          </a:bodyPr>
          <a:lstStyle/>
          <a:p>
            <a:pPr algn="ctr">
              <a:spcBef>
                <a:spcPts val="0"/>
              </a:spcBef>
              <a:spcAft>
                <a:spcPts val="0"/>
              </a:spcAft>
            </a:pPr>
            <a:r>
              <a:rPr sz="2550" b="1" i="0">
                <a:solidFill>
                  <a:srgbClr val="FFFFFF"/>
                </a:solidFill>
                <a:latin typeface="Arial"/>
                <a:ea typeface="Arial"/>
                <a:cs typeface="Arial"/>
              </a:rPr>
              <a:t>ControlPlane: oversight for AI, built under oversight.</a:t>
            </a:r>
          </a:p>
          <a:p>
            <a:pPr algn="ctr">
              <a:spcBef>
                <a:spcPts val="800"/>
              </a:spcBef>
              <a:spcAft>
                <a:spcPts val="0"/>
              </a:spcAft>
            </a:pPr>
            <a:r>
              <a:rPr sz="1800" b="0" i="0">
                <a:solidFill>
                  <a:srgbClr val="E6BFFF"/>
                </a:solidFill>
                <a:latin typeface="Arial"/>
                <a:ea typeface="Arial"/>
                <a:cs typeface="Arial"/>
              </a:rPr>
              <a:t>Team b24bb1029 · Indian Institute of Technology Jodhpur · 30 August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EXECUTIVE SUMMARY</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Oversight that ships, measured on its own misses.</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One base-URL change puts every response through three planes of detection and exactly one policy verdict, before the user sees a word.</a:t>
            </a:r>
            <a:endParaRPr lang="en-US" sz="2000" dirty="0"/>
          </a:p>
        </p:txBody>
      </p:sp>
      <p:sp>
        <p:nvSpPr>
          <p:cNvPr id="5" name="Shape 3"/>
          <p:cNvSpPr/>
          <p:nvPr/>
        </p:nvSpPr>
        <p:spPr>
          <a:xfrm>
            <a:off x="685800" y="3154680"/>
            <a:ext cx="3931920" cy="1920240"/>
          </a:xfrm>
          <a:prstGeom prst="roundRect">
            <a:avLst>
              <a:gd name="adj" fmla="val 5714"/>
            </a:avLst>
          </a:prstGeom>
          <a:solidFill>
            <a:srgbClr val="EEECE7"/>
          </a:solidFill>
          <a:ln w="12700">
            <a:solidFill>
              <a:srgbClr val="EEECE7"/>
            </a:solidFill>
            <a:prstDash val="solid"/>
          </a:ln>
        </p:spPr>
      </p:sp>
      <p:sp>
        <p:nvSpPr>
          <p:cNvPr id="6" name="Text 4"/>
          <p:cNvSpPr txBox="1"/>
          <p:nvPr/>
        </p:nvSpPr>
        <p:spPr>
          <a:xfrm>
            <a:off x="1005840" y="3355848"/>
            <a:ext cx="3291840" cy="777240"/>
          </a:xfrm>
          <a:prstGeom prst="rect">
            <a:avLst/>
          </a:prstGeom>
          <a:noFill/>
          <a:ln/>
        </p:spPr>
        <p:txBody>
          <a:bodyPr wrap="square" lIns="0" tIns="0" rIns="0" bIns="0" rtlCol="0" anchor="t"/>
          <a:lstStyle/>
          <a:p>
            <a:pPr indent="0" marL="0">
              <a:buNone/>
            </a:pPr>
            <a:r>
              <a:rPr lang="en-US" sz="4400" spc="-200" kern="0" dirty="0">
                <a:solidFill>
                  <a:srgbClr val="17171C"/>
                </a:solidFill>
                <a:latin typeface="Arial"/>
                <a:ea typeface="Arial"/>
                <a:cs typeface="Arial"/>
              </a:rPr>
              <a:t>840/840</a:t>
            </a:r>
            <a:endParaRPr lang="en-US" sz="4400" dirty="0"/>
          </a:p>
        </p:txBody>
      </p:sp>
      <p:sp>
        <p:nvSpPr>
          <p:cNvPr id="7" name="Text 5"/>
          <p:cNvSpPr txBox="1"/>
          <p:nvPr/>
        </p:nvSpPr>
        <p:spPr>
          <a:xfrm>
            <a:off x="1005840" y="4114800"/>
            <a:ext cx="3291840" cy="603504"/>
          </a:xfrm>
          <a:prstGeom prst="rect">
            <a:avLst/>
          </a:prstGeom>
          <a:noFill/>
          <a:ln/>
        </p:spPr>
        <p:txBody>
          <a:bodyPr wrap="square" lIns="0" tIns="0" rIns="0" bIns="0" rtlCol="0" anchor="t"/>
          <a:lstStyle/>
          <a:p>
            <a:pPr indent="0" marL="0">
              <a:buNone/>
            </a:pPr>
            <a:r>
              <a:rPr lang="en-US" sz="1400" dirty="0">
                <a:solidFill>
                  <a:srgbClr val="616161"/>
                </a:solidFill>
                <a:latin typeface="Arial"/>
                <a:ea typeface="Arial"/>
                <a:cs typeface="Arial"/>
              </a:rPr>
              <a:t>policy verdicts correct, 280 frozen cases × 3 policies, perfect detection assumed</a:t>
            </a:r>
            <a:endParaRPr lang="en-US" sz="1400" dirty="0"/>
          </a:p>
        </p:txBody>
      </p:sp>
      <p:sp>
        <p:nvSpPr>
          <p:cNvPr id="8" name="Text 6"/>
          <p:cNvSpPr txBox="1"/>
          <p:nvPr/>
        </p:nvSpPr>
        <p:spPr>
          <a:xfrm>
            <a:off x="1005840" y="4745736"/>
            <a:ext cx="3291840" cy="256032"/>
          </a:xfrm>
          <a:prstGeom prst="rect">
            <a:avLst/>
          </a:prstGeom>
          <a:noFill/>
          <a:ln/>
        </p:spPr>
        <p:txBody>
          <a:bodyPr wrap="square" lIns="0" tIns="0" rIns="0" bIns="0" rtlCol="0" anchor="ctr"/>
          <a:lstStyle/>
          <a:p>
            <a:pPr indent="0" marL="0">
              <a:buNone/>
            </a:pPr>
            <a:r>
              <a:rPr lang="en-US" sz="1100" b="1" spc="150" kern="0" dirty="0">
                <a:solidFill>
                  <a:srgbClr val="93939F"/>
                </a:solidFill>
                <a:latin typeface="Courier New"/>
                <a:ea typeface="Courier New"/>
                <a:cs typeface="Courier New"/>
              </a:rPr>
              <a:t>[B-01]</a:t>
            </a:r>
            <a:endParaRPr lang="en-US" sz="1100" dirty="0"/>
          </a:p>
        </p:txBody>
      </p:sp>
      <p:sp>
        <p:nvSpPr>
          <p:cNvPr id="9" name="Shape 7"/>
          <p:cNvSpPr/>
          <p:nvPr/>
        </p:nvSpPr>
        <p:spPr>
          <a:xfrm>
            <a:off x="4983480" y="3154680"/>
            <a:ext cx="3931920" cy="1920240"/>
          </a:xfrm>
          <a:prstGeom prst="roundRect">
            <a:avLst>
              <a:gd name="adj" fmla="val 5714"/>
            </a:avLst>
          </a:prstGeom>
          <a:solidFill>
            <a:srgbClr val="EEECE7"/>
          </a:solidFill>
          <a:ln w="12700">
            <a:solidFill>
              <a:srgbClr val="EEECE7"/>
            </a:solidFill>
            <a:prstDash val="solid"/>
          </a:ln>
        </p:spPr>
      </p:sp>
      <p:sp>
        <p:nvSpPr>
          <p:cNvPr id="10" name="Text 8"/>
          <p:cNvSpPr txBox="1"/>
          <p:nvPr/>
        </p:nvSpPr>
        <p:spPr>
          <a:xfrm>
            <a:off x="5303520" y="3355848"/>
            <a:ext cx="3291840" cy="777240"/>
          </a:xfrm>
          <a:prstGeom prst="rect">
            <a:avLst/>
          </a:prstGeom>
          <a:noFill/>
          <a:ln/>
        </p:spPr>
        <p:txBody>
          <a:bodyPr wrap="square" lIns="0" tIns="0" rIns="0" bIns="0" rtlCol="0" anchor="t"/>
          <a:lstStyle/>
          <a:p>
            <a:pPr indent="0" marL="0">
              <a:buNone/>
            </a:pPr>
            <a:r>
              <a:rPr lang="en-US" sz="4400" spc="-200" kern="0" dirty="0">
                <a:solidFill>
                  <a:srgbClr val="17171C"/>
                </a:solidFill>
                <a:latin typeface="Arial"/>
                <a:ea typeface="Arial"/>
                <a:cs typeface="Arial"/>
              </a:rPr>
              <a:t>0.885</a:t>
            </a:r>
            <a:endParaRPr lang="en-US" sz="4400" dirty="0"/>
          </a:p>
        </p:txBody>
      </p:sp>
      <p:sp>
        <p:nvSpPr>
          <p:cNvPr id="11" name="Text 9"/>
          <p:cNvSpPr txBox="1"/>
          <p:nvPr/>
        </p:nvSpPr>
        <p:spPr>
          <a:xfrm>
            <a:off x="5303520" y="4114800"/>
            <a:ext cx="3291840" cy="603504"/>
          </a:xfrm>
          <a:prstGeom prst="rect">
            <a:avLst/>
          </a:prstGeom>
          <a:noFill/>
          <a:ln/>
        </p:spPr>
        <p:txBody>
          <a:bodyPr wrap="square" lIns="0" tIns="0" rIns="0" bIns="0" rtlCol="0" anchor="t"/>
          <a:lstStyle/>
          <a:p>
            <a:pPr indent="0" marL="0">
              <a:buNone/>
            </a:pPr>
            <a:r>
              <a:rPr lang="en-US" sz="1400" dirty="0">
                <a:solidFill>
                  <a:srgbClr val="616161"/>
                </a:solidFill>
                <a:latin typeface="Arial"/>
                <a:ea typeface="Arial"/>
                <a:cs typeface="Arial"/>
              </a:rPr>
              <a:t>tier-1 PII recall against a 0.95 target: missed, target unmoved</a:t>
            </a:r>
            <a:endParaRPr lang="en-US" sz="1400" dirty="0"/>
          </a:p>
        </p:txBody>
      </p:sp>
      <p:sp>
        <p:nvSpPr>
          <p:cNvPr id="12" name="Text 10"/>
          <p:cNvSpPr txBox="1"/>
          <p:nvPr/>
        </p:nvSpPr>
        <p:spPr>
          <a:xfrm>
            <a:off x="5303520" y="4745736"/>
            <a:ext cx="3291840" cy="256032"/>
          </a:xfrm>
          <a:prstGeom prst="rect">
            <a:avLst/>
          </a:prstGeom>
          <a:noFill/>
          <a:ln/>
        </p:spPr>
        <p:txBody>
          <a:bodyPr wrap="square" lIns="0" tIns="0" rIns="0" bIns="0" rtlCol="0" anchor="ctr"/>
          <a:lstStyle/>
          <a:p>
            <a:pPr indent="0" marL="0">
              <a:buNone/>
            </a:pPr>
            <a:r>
              <a:rPr lang="en-US" sz="1100" b="1" spc="150" kern="0" dirty="0">
                <a:solidFill>
                  <a:srgbClr val="93939F"/>
                </a:solidFill>
                <a:latin typeface="Courier New"/>
                <a:ea typeface="Courier New"/>
                <a:cs typeface="Courier New"/>
              </a:rPr>
              <a:t>[B-02]</a:t>
            </a:r>
            <a:endParaRPr lang="en-US" sz="1100" dirty="0"/>
          </a:p>
        </p:txBody>
      </p:sp>
      <p:sp>
        <p:nvSpPr>
          <p:cNvPr id="13" name="Shape 11"/>
          <p:cNvSpPr/>
          <p:nvPr/>
        </p:nvSpPr>
        <p:spPr>
          <a:xfrm>
            <a:off x="9281160" y="3154680"/>
            <a:ext cx="3931920" cy="1920240"/>
          </a:xfrm>
          <a:prstGeom prst="roundRect">
            <a:avLst>
              <a:gd name="adj" fmla="val 5714"/>
            </a:avLst>
          </a:prstGeom>
          <a:solidFill>
            <a:srgbClr val="EEECE7"/>
          </a:solidFill>
          <a:ln w="12700">
            <a:solidFill>
              <a:srgbClr val="EEECE7"/>
            </a:solidFill>
            <a:prstDash val="solid"/>
          </a:ln>
        </p:spPr>
      </p:sp>
      <p:sp>
        <p:nvSpPr>
          <p:cNvPr id="14" name="Text 12"/>
          <p:cNvSpPr txBox="1"/>
          <p:nvPr/>
        </p:nvSpPr>
        <p:spPr>
          <a:xfrm>
            <a:off x="9601200" y="3355848"/>
            <a:ext cx="3291840" cy="777240"/>
          </a:xfrm>
          <a:prstGeom prst="rect">
            <a:avLst/>
          </a:prstGeom>
          <a:noFill/>
          <a:ln/>
        </p:spPr>
        <p:txBody>
          <a:bodyPr wrap="square" lIns="0" tIns="0" rIns="0" bIns="0" rtlCol="0" anchor="t"/>
          <a:lstStyle/>
          <a:p>
            <a:pPr indent="0" marL="0">
              <a:buNone/>
            </a:pPr>
            <a:r>
              <a:rPr lang="en-US" sz="4400" spc="-200" kern="0" dirty="0">
                <a:solidFill>
                  <a:srgbClr val="17171C"/>
                </a:solidFill>
                <a:latin typeface="Arial"/>
                <a:ea typeface="Arial"/>
                <a:cs typeface="Arial"/>
              </a:rPr>
              <a:t>0.133 ms</a:t>
            </a:r>
            <a:endParaRPr lang="en-US" sz="4400" dirty="0"/>
          </a:p>
        </p:txBody>
      </p:sp>
      <p:sp>
        <p:nvSpPr>
          <p:cNvPr id="15" name="Text 13"/>
          <p:cNvSpPr txBox="1"/>
          <p:nvPr/>
        </p:nvSpPr>
        <p:spPr>
          <a:xfrm>
            <a:off x="9601200" y="4114800"/>
            <a:ext cx="3291840" cy="603504"/>
          </a:xfrm>
          <a:prstGeom prst="rect">
            <a:avLst/>
          </a:prstGeom>
          <a:noFill/>
          <a:ln/>
        </p:spPr>
        <p:txBody>
          <a:bodyPr wrap="square" lIns="0" tIns="0" rIns="0" bIns="0" rtlCol="0" anchor="t"/>
          <a:lstStyle/>
          <a:p>
            <a:pPr indent="0" marL="0">
              <a:buNone/>
            </a:pPr>
            <a:r>
              <a:rPr lang="en-US" sz="1400" dirty="0">
                <a:solidFill>
                  <a:srgbClr val="616161"/>
                </a:solidFill>
                <a:latin typeface="Arial"/>
                <a:ea typeface="Arial"/>
                <a:cs typeface="Arial"/>
              </a:rPr>
              <a:t>tier1_pii P99 at n=583, against a 2 ms budget</a:t>
            </a:r>
            <a:endParaRPr lang="en-US" sz="1400" dirty="0"/>
          </a:p>
        </p:txBody>
      </p:sp>
      <p:sp>
        <p:nvSpPr>
          <p:cNvPr id="16" name="Text 14"/>
          <p:cNvSpPr txBox="1"/>
          <p:nvPr/>
        </p:nvSpPr>
        <p:spPr>
          <a:xfrm>
            <a:off x="9601200" y="4745736"/>
            <a:ext cx="3291840" cy="256032"/>
          </a:xfrm>
          <a:prstGeom prst="rect">
            <a:avLst/>
          </a:prstGeom>
          <a:noFill/>
          <a:ln/>
        </p:spPr>
        <p:txBody>
          <a:bodyPr wrap="square" lIns="0" tIns="0" rIns="0" bIns="0" rtlCol="0" anchor="ctr"/>
          <a:lstStyle/>
          <a:p>
            <a:pPr indent="0" marL="0">
              <a:buNone/>
            </a:pPr>
            <a:r>
              <a:rPr lang="en-US" sz="1100" b="1" spc="150" kern="0" dirty="0">
                <a:solidFill>
                  <a:srgbClr val="93939F"/>
                </a:solidFill>
                <a:latin typeface="Courier New"/>
                <a:ea typeface="Courier New"/>
                <a:cs typeface="Courier New"/>
              </a:rPr>
              <a:t>[B-05]</a:t>
            </a:r>
            <a:endParaRPr lang="en-US" sz="1100" dirty="0"/>
          </a:p>
        </p:txBody>
      </p:sp>
      <p:sp>
        <p:nvSpPr>
          <p:cNvPr id="17" name="Shape 15"/>
          <p:cNvSpPr/>
          <p:nvPr/>
        </p:nvSpPr>
        <p:spPr>
          <a:xfrm>
            <a:off x="13578840" y="3154680"/>
            <a:ext cx="3931920" cy="1920240"/>
          </a:xfrm>
          <a:prstGeom prst="roundRect">
            <a:avLst>
              <a:gd name="adj" fmla="val 5714"/>
            </a:avLst>
          </a:prstGeom>
          <a:solidFill>
            <a:srgbClr val="EEECE7"/>
          </a:solidFill>
          <a:ln w="12700">
            <a:solidFill>
              <a:srgbClr val="EEECE7"/>
            </a:solidFill>
            <a:prstDash val="solid"/>
          </a:ln>
        </p:spPr>
      </p:sp>
      <p:sp>
        <p:nvSpPr>
          <p:cNvPr id="18" name="Text 16"/>
          <p:cNvSpPr txBox="1"/>
          <p:nvPr/>
        </p:nvSpPr>
        <p:spPr>
          <a:xfrm>
            <a:off x="13898880" y="3355848"/>
            <a:ext cx="3291840" cy="777240"/>
          </a:xfrm>
          <a:prstGeom prst="rect">
            <a:avLst/>
          </a:prstGeom>
          <a:noFill/>
          <a:ln/>
        </p:spPr>
        <p:txBody>
          <a:bodyPr wrap="square" lIns="0" tIns="0" rIns="0" bIns="0" rtlCol="0" anchor="t"/>
          <a:lstStyle/>
          <a:p>
            <a:pPr indent="0" marL="0">
              <a:buNone/>
            </a:pPr>
            <a:r>
              <a:rPr lang="en-US" sz="4400" spc="-200" kern="0" dirty="0">
                <a:solidFill>
                  <a:srgbClr val="17171C"/>
                </a:solidFill>
                <a:latin typeface="Arial"/>
                <a:ea typeface="Arial"/>
                <a:cs typeface="Arial"/>
              </a:rPr>
              <a:t>25.348 ms</a:t>
            </a:r>
            <a:endParaRPr lang="en-US" sz="4400" dirty="0"/>
          </a:p>
        </p:txBody>
      </p:sp>
      <p:sp>
        <p:nvSpPr>
          <p:cNvPr id="19" name="Text 17"/>
          <p:cNvSpPr txBox="1"/>
          <p:nvPr/>
        </p:nvSpPr>
        <p:spPr>
          <a:xfrm>
            <a:off x="13898880" y="4114800"/>
            <a:ext cx="3291840" cy="603504"/>
          </a:xfrm>
          <a:prstGeom prst="rect">
            <a:avLst/>
          </a:prstGeom>
          <a:noFill/>
          <a:ln/>
        </p:spPr>
        <p:txBody>
          <a:bodyPr wrap="square" lIns="0" tIns="0" rIns="0" bIns="0" rtlCol="0" anchor="t"/>
          <a:lstStyle/>
          <a:p>
            <a:pPr indent="0" marL="0">
              <a:buNone/>
            </a:pPr>
            <a:r>
              <a:rPr lang="en-US" sz="1400" dirty="0">
                <a:solidFill>
                  <a:srgbClr val="616161"/>
                </a:solidFill>
                <a:latin typeface="Arial"/>
                <a:ea typeface="Arial"/>
                <a:cs typeface="Arial"/>
              </a:rPr>
              <a:t>tier2_injection P99 against 25 ms: a breach we published</a:t>
            </a:r>
            <a:endParaRPr lang="en-US" sz="1400" dirty="0"/>
          </a:p>
        </p:txBody>
      </p:sp>
      <p:sp>
        <p:nvSpPr>
          <p:cNvPr id="20" name="Text 18"/>
          <p:cNvSpPr txBox="1"/>
          <p:nvPr/>
        </p:nvSpPr>
        <p:spPr>
          <a:xfrm>
            <a:off x="13898880" y="4745736"/>
            <a:ext cx="3291840" cy="256032"/>
          </a:xfrm>
          <a:prstGeom prst="rect">
            <a:avLst/>
          </a:prstGeom>
          <a:noFill/>
          <a:ln/>
        </p:spPr>
        <p:txBody>
          <a:bodyPr wrap="square" lIns="0" tIns="0" rIns="0" bIns="0" rtlCol="0" anchor="ctr"/>
          <a:lstStyle/>
          <a:p>
            <a:pPr indent="0" marL="0">
              <a:buNone/>
            </a:pPr>
            <a:r>
              <a:rPr lang="en-US" sz="1100" b="1" spc="150" kern="0" dirty="0">
                <a:solidFill>
                  <a:srgbClr val="93939F"/>
                </a:solidFill>
                <a:latin typeface="Courier New"/>
                <a:ea typeface="Courier New"/>
                <a:cs typeface="Courier New"/>
              </a:rPr>
              <a:t>[B-05]</a:t>
            </a:r>
            <a:endParaRPr lang="en-US" sz="1100" dirty="0"/>
          </a:p>
        </p:txBody>
      </p:sp>
      <p:sp>
        <p:nvSpPr>
          <p:cNvPr id="21" name="Text 19"/>
          <p:cNvSpPr txBox="1"/>
          <p:nvPr/>
        </p:nvSpPr>
        <p:spPr>
          <a:xfrm>
            <a:off x="685800" y="5532120"/>
            <a:ext cx="548640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WHAT IS CLAIMED</a:t>
            </a:r>
            <a:endParaRPr lang="en-US" sz="1100" dirty="0"/>
          </a:p>
        </p:txBody>
      </p:sp>
      <p:sp>
        <p:nvSpPr>
          <p:cNvPr id="22" name="Text 20"/>
          <p:cNvSpPr txBox="1"/>
          <p:nvPr/>
        </p:nvSpPr>
        <p:spPr>
          <a:xfrm>
            <a:off x="6492240" y="5532120"/>
            <a:ext cx="534924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WHAT BACKS IT</a:t>
            </a:r>
            <a:endParaRPr lang="en-US" sz="1100" dirty="0"/>
          </a:p>
        </p:txBody>
      </p:sp>
      <p:sp>
        <p:nvSpPr>
          <p:cNvPr id="23" name="Text 21"/>
          <p:cNvSpPr txBox="1"/>
          <p:nvPr/>
        </p:nvSpPr>
        <p:spPr>
          <a:xfrm>
            <a:off x="12161520" y="5532120"/>
            <a:ext cx="544068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HOW TO REPRODUCE</a:t>
            </a:r>
            <a:endParaRPr lang="en-US" sz="1100" dirty="0"/>
          </a:p>
        </p:txBody>
      </p:sp>
      <p:sp>
        <p:nvSpPr>
          <p:cNvPr id="24" name="Shape 22"/>
          <p:cNvSpPr/>
          <p:nvPr/>
        </p:nvSpPr>
        <p:spPr>
          <a:xfrm>
            <a:off x="685800" y="5879592"/>
            <a:ext cx="16916400" cy="0"/>
          </a:xfrm>
          <a:prstGeom prst="line">
            <a:avLst/>
          </a:prstGeom>
          <a:noFill/>
          <a:ln w="9525">
            <a:solidFill>
              <a:srgbClr val="17171C"/>
            </a:solidFill>
            <a:prstDash val="solid"/>
          </a:ln>
        </p:spPr>
      </p:sp>
      <p:sp>
        <p:nvSpPr>
          <p:cNvPr id="25" name="Text 23"/>
          <p:cNvSpPr txBox="1"/>
          <p:nvPr/>
        </p:nvSpPr>
        <p:spPr>
          <a:xfrm>
            <a:off x="685800" y="5943600"/>
            <a:ext cx="5486400" cy="548640"/>
          </a:xfrm>
          <a:prstGeom prst="rect">
            <a:avLst/>
          </a:prstGeom>
          <a:noFill/>
          <a:ln/>
        </p:spPr>
        <p:txBody>
          <a:bodyPr wrap="square" lIns="0" tIns="0" rIns="0" bIns="0" rtlCol="0" anchor="ctr"/>
          <a:lstStyle/>
          <a:p>
            <a:pPr algn="l" indent="0" marL="0">
              <a:buNone/>
            </a:pPr>
            <a:r>
              <a:rPr lang="en-US" sz="1500" dirty="0">
                <a:solidFill>
                  <a:srgbClr val="212121"/>
                </a:solidFill>
                <a:latin typeface="Arial"/>
                <a:ea typeface="Arial"/>
                <a:cs typeface="Arial"/>
              </a:rPr>
              <a:t>Policy governs, code does not</a:t>
            </a:r>
            <a:endParaRPr lang="en-US" sz="1500" dirty="0"/>
          </a:p>
        </p:txBody>
      </p:sp>
      <p:sp>
        <p:nvSpPr>
          <p:cNvPr id="26" name="Text 24"/>
          <p:cNvSpPr txBox="1"/>
          <p:nvPr/>
        </p:nvSpPr>
        <p:spPr>
          <a:xfrm>
            <a:off x="6492240" y="5943600"/>
            <a:ext cx="5349240" cy="548640"/>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A test fails if any use-case name reaches executable code</a:t>
            </a:r>
            <a:endParaRPr lang="en-US" sz="1400" dirty="0"/>
          </a:p>
        </p:txBody>
      </p:sp>
      <p:sp>
        <p:nvSpPr>
          <p:cNvPr id="27" name="Text 25"/>
          <p:cNvSpPr txBox="1"/>
          <p:nvPr/>
        </p:nvSpPr>
        <p:spPr>
          <a:xfrm>
            <a:off x="12161520" y="5943600"/>
            <a:ext cx="5440680" cy="548640"/>
          </a:xfrm>
          <a:prstGeom prst="rect">
            <a:avLst/>
          </a:prstGeom>
          <a:noFill/>
          <a:ln/>
        </p:spPr>
        <p:txBody>
          <a:bodyPr wrap="square" lIns="0" tIns="0" rIns="0" bIns="0" rtlCol="0" anchor="ctr"/>
          <a:lstStyle/>
          <a:p>
            <a:pPr algn="l" indent="0" marL="0">
              <a:buNone/>
            </a:pPr>
            <a:r>
              <a:rPr lang="en-US" sz="1400" dirty="0">
                <a:solidFill>
                  <a:srgbClr val="212121"/>
                </a:solidFill>
                <a:latin typeface="Courier New"/>
                <a:ea typeface="Courier New"/>
                <a:cs typeface="Courier New"/>
              </a:rPr>
              <a:t>python -m eval.run_all</a:t>
            </a:r>
            <a:endParaRPr lang="en-US" sz="1400" dirty="0"/>
          </a:p>
        </p:txBody>
      </p:sp>
      <p:sp>
        <p:nvSpPr>
          <p:cNvPr id="28" name="Shape 26"/>
          <p:cNvSpPr/>
          <p:nvPr/>
        </p:nvSpPr>
        <p:spPr>
          <a:xfrm>
            <a:off x="685800" y="6492240"/>
            <a:ext cx="16916400" cy="0"/>
          </a:xfrm>
          <a:prstGeom prst="line">
            <a:avLst/>
          </a:prstGeom>
          <a:noFill/>
          <a:ln w="9525">
            <a:solidFill>
              <a:srgbClr val="D9D9DD"/>
            </a:solidFill>
            <a:prstDash val="solid"/>
          </a:ln>
        </p:spPr>
      </p:sp>
      <p:sp>
        <p:nvSpPr>
          <p:cNvPr id="29" name="Text 27"/>
          <p:cNvSpPr txBox="1"/>
          <p:nvPr/>
        </p:nvSpPr>
        <p:spPr>
          <a:xfrm>
            <a:off x="685800" y="6492240"/>
            <a:ext cx="5486400" cy="548640"/>
          </a:xfrm>
          <a:prstGeom prst="rect">
            <a:avLst/>
          </a:prstGeom>
          <a:noFill/>
          <a:ln/>
        </p:spPr>
        <p:txBody>
          <a:bodyPr wrap="square" lIns="0" tIns="0" rIns="0" bIns="0" rtlCol="0" anchor="ctr"/>
          <a:lstStyle/>
          <a:p>
            <a:pPr algn="l" indent="0" marL="0">
              <a:buNone/>
            </a:pPr>
            <a:r>
              <a:rPr lang="en-US" sz="1500" dirty="0">
                <a:solidFill>
                  <a:srgbClr val="212121"/>
                </a:solidFill>
                <a:latin typeface="Arial"/>
                <a:ea typeface="Arial"/>
                <a:cs typeface="Arial"/>
              </a:rPr>
              <a:t>Verdicts land before delivery</a:t>
            </a:r>
            <a:endParaRPr lang="en-US" sz="1500" dirty="0"/>
          </a:p>
        </p:txBody>
      </p:sp>
      <p:sp>
        <p:nvSpPr>
          <p:cNvPr id="30" name="Text 28"/>
          <p:cNvSpPr txBox="1"/>
          <p:nvPr/>
        </p:nvSpPr>
        <p:spPr>
          <a:xfrm>
            <a:off x="6492240" y="6492240"/>
            <a:ext cx="5349240" cy="548640"/>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Sentence-buffered interception, input and hold percentiles</a:t>
            </a:r>
            <a:endParaRPr lang="en-US" sz="1400" dirty="0"/>
          </a:p>
        </p:txBody>
      </p:sp>
      <p:sp>
        <p:nvSpPr>
          <p:cNvPr id="31" name="Text 29"/>
          <p:cNvSpPr txBox="1"/>
          <p:nvPr/>
        </p:nvSpPr>
        <p:spPr>
          <a:xfrm>
            <a:off x="12161520" y="6492240"/>
            <a:ext cx="5440680" cy="548640"/>
          </a:xfrm>
          <a:prstGeom prst="rect">
            <a:avLst/>
          </a:prstGeom>
          <a:noFill/>
          <a:ln/>
        </p:spPr>
        <p:txBody>
          <a:bodyPr wrap="square" lIns="0" tIns="0" rIns="0" bIns="0" rtlCol="0" anchor="ctr"/>
          <a:lstStyle/>
          <a:p>
            <a:pPr algn="l" indent="0" marL="0">
              <a:buNone/>
            </a:pPr>
            <a:r>
              <a:rPr lang="en-US" sz="1400" dirty="0">
                <a:solidFill>
                  <a:srgbClr val="212121"/>
                </a:solidFill>
                <a:latin typeface="Courier New"/>
                <a:ea typeface="Courier New"/>
                <a:cs typeface="Courier New"/>
              </a:rPr>
              <a:t>python -m eval.bench_latency</a:t>
            </a:r>
            <a:endParaRPr lang="en-US" sz="1400" dirty="0"/>
          </a:p>
        </p:txBody>
      </p:sp>
      <p:sp>
        <p:nvSpPr>
          <p:cNvPr id="32" name="Shape 30"/>
          <p:cNvSpPr/>
          <p:nvPr/>
        </p:nvSpPr>
        <p:spPr>
          <a:xfrm>
            <a:off x="685800" y="7040880"/>
            <a:ext cx="16916400" cy="0"/>
          </a:xfrm>
          <a:prstGeom prst="line">
            <a:avLst/>
          </a:prstGeom>
          <a:noFill/>
          <a:ln w="9525">
            <a:solidFill>
              <a:srgbClr val="D9D9DD"/>
            </a:solidFill>
            <a:prstDash val="solid"/>
          </a:ln>
        </p:spPr>
      </p:sp>
      <p:sp>
        <p:nvSpPr>
          <p:cNvPr id="33" name="Text 31"/>
          <p:cNvSpPr txBox="1"/>
          <p:nvPr/>
        </p:nvSpPr>
        <p:spPr>
          <a:xfrm>
            <a:off x="685800" y="7040880"/>
            <a:ext cx="5486400" cy="548640"/>
          </a:xfrm>
          <a:prstGeom prst="rect">
            <a:avLst/>
          </a:prstGeom>
          <a:noFill/>
          <a:ln/>
        </p:spPr>
        <p:txBody>
          <a:bodyPr wrap="square" lIns="0" tIns="0" rIns="0" bIns="0" rtlCol="0" anchor="ctr"/>
          <a:lstStyle/>
          <a:p>
            <a:pPr algn="l" indent="0" marL="0">
              <a:buNone/>
            </a:pPr>
            <a:r>
              <a:rPr lang="en-US" sz="1500" dirty="0">
                <a:solidFill>
                  <a:srgbClr val="212121"/>
                </a:solidFill>
                <a:latin typeface="Arial"/>
                <a:ea typeface="Arial"/>
                <a:cs typeface="Arial"/>
              </a:rPr>
              <a:t>Failure posture is per use case</a:t>
            </a:r>
            <a:endParaRPr lang="en-US" sz="1500" dirty="0"/>
          </a:p>
        </p:txBody>
      </p:sp>
      <p:sp>
        <p:nvSpPr>
          <p:cNvPr id="34" name="Text 32"/>
          <p:cNvSpPr txBox="1"/>
          <p:nvPr/>
        </p:nvSpPr>
        <p:spPr>
          <a:xfrm>
            <a:off x="6492240" y="7040880"/>
            <a:ext cx="5349240" cy="548640"/>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Fault injection asserts every exercisable fail_mode class</a:t>
            </a:r>
            <a:endParaRPr lang="en-US" sz="1400" dirty="0"/>
          </a:p>
        </p:txBody>
      </p:sp>
      <p:sp>
        <p:nvSpPr>
          <p:cNvPr id="35" name="Text 33"/>
          <p:cNvSpPr txBox="1"/>
          <p:nvPr/>
        </p:nvSpPr>
        <p:spPr>
          <a:xfrm>
            <a:off x="12161520" y="7040880"/>
            <a:ext cx="5440680" cy="548640"/>
          </a:xfrm>
          <a:prstGeom prst="rect">
            <a:avLst/>
          </a:prstGeom>
          <a:noFill/>
          <a:ln/>
        </p:spPr>
        <p:txBody>
          <a:bodyPr wrap="square" lIns="0" tIns="0" rIns="0" bIns="0" rtlCol="0" anchor="ctr"/>
          <a:lstStyle/>
          <a:p>
            <a:pPr algn="l" indent="0" marL="0">
              <a:buNone/>
            </a:pPr>
            <a:r>
              <a:rPr lang="en-US" sz="1400" dirty="0">
                <a:solidFill>
                  <a:srgbClr val="212121"/>
                </a:solidFill>
                <a:latin typeface="Courier New"/>
                <a:ea typeface="Courier New"/>
                <a:cs typeface="Courier New"/>
              </a:rPr>
              <a:t>python -m eval.fault_injection</a:t>
            </a:r>
            <a:endParaRPr lang="en-US" sz="1400" dirty="0"/>
          </a:p>
        </p:txBody>
      </p:sp>
      <p:sp>
        <p:nvSpPr>
          <p:cNvPr id="36" name="Shape 34"/>
          <p:cNvSpPr/>
          <p:nvPr/>
        </p:nvSpPr>
        <p:spPr>
          <a:xfrm>
            <a:off x="685800" y="7589520"/>
            <a:ext cx="16916400" cy="0"/>
          </a:xfrm>
          <a:prstGeom prst="line">
            <a:avLst/>
          </a:prstGeom>
          <a:noFill/>
          <a:ln w="9525">
            <a:solidFill>
              <a:srgbClr val="D9D9DD"/>
            </a:solidFill>
            <a:prstDash val="solid"/>
          </a:ln>
        </p:spPr>
      </p:sp>
      <p:sp>
        <p:nvSpPr>
          <p:cNvPr id="37" name="Text 35"/>
          <p:cNvSpPr txBox="1"/>
          <p:nvPr/>
        </p:nvSpPr>
        <p:spPr>
          <a:xfrm>
            <a:off x="685800" y="7589520"/>
            <a:ext cx="5486400" cy="548640"/>
          </a:xfrm>
          <a:prstGeom prst="rect">
            <a:avLst/>
          </a:prstGeom>
          <a:noFill/>
          <a:ln/>
        </p:spPr>
        <p:txBody>
          <a:bodyPr wrap="square" lIns="0" tIns="0" rIns="0" bIns="0" rtlCol="0" anchor="ctr"/>
          <a:lstStyle/>
          <a:p>
            <a:pPr algn="l" indent="0" marL="0">
              <a:buNone/>
            </a:pPr>
            <a:r>
              <a:rPr lang="en-US" sz="1500" dirty="0">
                <a:solidFill>
                  <a:srgbClr val="212121"/>
                </a:solidFill>
                <a:latin typeface="Arial"/>
                <a:ea typeface="Arial"/>
                <a:cs typeface="Arial"/>
              </a:rPr>
              <a:t>Nothing here is a seed value</a:t>
            </a:r>
            <a:endParaRPr lang="en-US" sz="1500" dirty="0"/>
          </a:p>
        </p:txBody>
      </p:sp>
      <p:sp>
        <p:nvSpPr>
          <p:cNvPr id="38" name="Text 36"/>
          <p:cNvSpPr txBox="1"/>
          <p:nvPr/>
        </p:nvSpPr>
        <p:spPr>
          <a:xfrm>
            <a:off x="6492240" y="7589520"/>
            <a:ext cx="5349240" cy="548640"/>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Matrix pinned invariant across four threshold bands</a:t>
            </a:r>
            <a:endParaRPr lang="en-US" sz="1400" dirty="0"/>
          </a:p>
        </p:txBody>
      </p:sp>
      <p:sp>
        <p:nvSpPr>
          <p:cNvPr id="39" name="Text 37"/>
          <p:cNvSpPr txBox="1"/>
          <p:nvPr/>
        </p:nvSpPr>
        <p:spPr>
          <a:xfrm>
            <a:off x="12161520" y="7589520"/>
            <a:ext cx="5440680" cy="548640"/>
          </a:xfrm>
          <a:prstGeom prst="rect">
            <a:avLst/>
          </a:prstGeom>
          <a:noFill/>
          <a:ln/>
        </p:spPr>
        <p:txBody>
          <a:bodyPr wrap="square" lIns="0" tIns="0" rIns="0" bIns="0" rtlCol="0" anchor="ctr"/>
          <a:lstStyle/>
          <a:p>
            <a:pPr algn="l" indent="0" marL="0">
              <a:buNone/>
            </a:pPr>
            <a:r>
              <a:rPr lang="en-US" sz="1400" dirty="0">
                <a:solidFill>
                  <a:srgbClr val="212121"/>
                </a:solidFill>
                <a:latin typeface="Courier New"/>
                <a:ea typeface="Courier New"/>
                <a:cs typeface="Courier New"/>
              </a:rPr>
              <a:t>pytest tests/test_policy_matrix.py</a:t>
            </a:r>
            <a:endParaRPr lang="en-US" sz="1400" dirty="0"/>
          </a:p>
        </p:txBody>
      </p:sp>
      <p:sp>
        <p:nvSpPr>
          <p:cNvPr id="40" name="Shape 38"/>
          <p:cNvSpPr/>
          <p:nvPr/>
        </p:nvSpPr>
        <p:spPr>
          <a:xfrm>
            <a:off x="685800" y="8138160"/>
            <a:ext cx="16916400" cy="0"/>
          </a:xfrm>
          <a:prstGeom prst="line">
            <a:avLst/>
          </a:prstGeom>
          <a:noFill/>
          <a:ln w="9525">
            <a:solidFill>
              <a:srgbClr val="D9D9DD"/>
            </a:solidFill>
            <a:prstDash val="solid"/>
          </a:ln>
        </p:spPr>
      </p:sp>
      <p:sp>
        <p:nvSpPr>
          <p:cNvPr id="41" name="Text 39"/>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Source: reports/eval_report.md, reports/latency_report.md</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Courier New"/>
                <a:ea typeface="Courier New"/>
                <a:cs typeface="Courier New"/>
              </a:rPr>
              <a:t>[B-01] [B-02] [B-05]</a:t>
            </a:r>
            <a:endParaRPr lang="en-US" sz="1200" dirty="0"/>
          </a:p>
        </p:txBody>
      </p:sp>
      <p:sp>
        <p:nvSpPr>
          <p:cNvPr id="42" name="Text 40"/>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43" name="Text 41"/>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3</a:t>
            </a:r>
            <a:endParaRPr lang="en-US" sz="10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171C"/>
        </a:solidFill>
      </p:bgPr>
    </p:bg>
    <p:spTree>
      <p:nvGrpSpPr>
        <p:cNvPr id="1" name=""/>
        <p:cNvGrpSpPr/>
        <p:nvPr/>
      </p:nvGrpSpPr>
      <p:grpSpPr/>
      <p:sp>
        <p:nvSpPr>
          <p:cNvPr id="2" name="Text 0"/>
          <p:cNvSpPr txBox="1"/>
          <p:nvPr/>
        </p:nvSpPr>
        <p:spPr>
          <a:xfrm>
            <a:off x="685800" y="5669280"/>
            <a:ext cx="10972800" cy="320040"/>
          </a:xfrm>
          <a:prstGeom prst="rect">
            <a:avLst/>
          </a:prstGeom>
          <a:noFill/>
          <a:ln/>
        </p:spPr>
        <p:txBody>
          <a:bodyPr wrap="square" lIns="0" tIns="0" rIns="0" bIns="0" rtlCol="0" anchor="ctr"/>
          <a:lstStyle/>
          <a:p>
            <a:pPr indent="0" marL="0">
              <a:buNone/>
            </a:pPr>
            <a:r>
              <a:rPr lang="en-US" sz="1200" b="1" spc="150" kern="0" dirty="0">
                <a:solidFill>
                  <a:srgbClr val="C77DFF"/>
                </a:solidFill>
                <a:latin typeface="Courier New"/>
                <a:ea typeface="Courier New"/>
                <a:cs typeface="Courier New"/>
              </a:rPr>
              <a:t>01  ·  THE PROBLEM</a:t>
            </a:r>
            <a:endParaRPr lang="en-US" sz="1200" dirty="0"/>
          </a:p>
        </p:txBody>
      </p:sp>
      <p:sp>
        <p:nvSpPr>
          <p:cNvPr id="3" name="Text 1"/>
          <p:cNvSpPr txBox="1"/>
          <p:nvPr/>
        </p:nvSpPr>
        <p:spPr>
          <a:xfrm>
            <a:off x="685800" y="6126480"/>
            <a:ext cx="14630400" cy="2103120"/>
          </a:xfrm>
          <a:prstGeom prst="rect">
            <a:avLst/>
          </a:prstGeom>
          <a:noFill/>
          <a:ln/>
        </p:spPr>
        <p:txBody>
          <a:bodyPr wrap="square" lIns="0" tIns="0" rIns="0" bIns="0" rtlCol="0" anchor="t"/>
          <a:lstStyle/>
          <a:p>
            <a:pPr indent="0" marL="0">
              <a:lnSpc>
                <a:spcPct val="100000"/>
              </a:lnSpc>
              <a:buNone/>
            </a:pPr>
            <a:r>
              <a:rPr lang="en-US" sz="6000" spc="-200" kern="0" dirty="0">
                <a:solidFill>
                  <a:srgbClr val="FFFFFF"/>
                </a:solidFill>
                <a:latin typeface="Arial"/>
                <a:ea typeface="Arial"/>
                <a:cs typeface="Arial"/>
              </a:rPr>
              <a:t>Nothing supervises the AI</a:t>
            </a:r>
            <a:endParaRPr lang="en-US" sz="6000" dirty="0"/>
          </a:p>
          <a:p>
            <a:pPr indent="0" marL="0">
              <a:lnSpc>
                <a:spcPct val="100000"/>
              </a:lnSpc>
              <a:buNone/>
            </a:pPr>
            <a:r>
              <a:rPr lang="en-US" sz="6000" spc="-200" kern="0" dirty="0">
                <a:solidFill>
                  <a:srgbClr val="FFFFFF"/>
                </a:solidFill>
                <a:latin typeface="Arial"/>
                <a:ea typeface="Arial"/>
                <a:cs typeface="Arial"/>
              </a:rPr>
              <a:t>at the moment it speaks.</a:t>
            </a:r>
            <a:endParaRPr lang="en-US" sz="6000" dirty="0"/>
          </a:p>
        </p:txBody>
      </p:sp>
      <p:sp>
        <p:nvSpPr>
          <p:cNvPr id="4" name="Text 2"/>
          <p:cNvSpPr txBox="1"/>
          <p:nvPr/>
        </p:nvSpPr>
        <p:spPr>
          <a:xfrm>
            <a:off x="685800" y="8321040"/>
            <a:ext cx="13716000" cy="548640"/>
          </a:xfrm>
          <a:prstGeom prst="rect">
            <a:avLst/>
          </a:prstGeom>
          <a:noFill/>
          <a:ln/>
        </p:spPr>
        <p:txBody>
          <a:bodyPr wrap="square" lIns="0" tIns="0" rIns="0" bIns="0" rtlCol="0" anchor="ctr"/>
          <a:lstStyle/>
          <a:p>
            <a:pPr indent="0" marL="0">
              <a:buNone/>
            </a:pPr>
            <a:r>
              <a:rPr lang="en-US" sz="2000" dirty="0">
                <a:solidFill>
                  <a:srgbClr val="B9B9C2"/>
                </a:solidFill>
                <a:latin typeface="Arial"/>
                <a:ea typeface="Arial"/>
                <a:cs typeface="Arial"/>
              </a:rPr>
              <a:t>Observability reports after delivery. Guardrails filter one category. Neither decides.</a:t>
            </a:r>
            <a:endParaRPr lang="en-US" sz="2000" dirty="0"/>
          </a:p>
        </p:txBody>
      </p:sp>
      <p:sp>
        <p:nvSpPr>
          <p:cNvPr id="5" name="Text 3"/>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B9B9C2"/>
                </a:solidFill>
                <a:latin typeface="Arial"/>
                <a:ea typeface="Arial"/>
                <a:cs typeface="Arial"/>
              </a:rPr>
              <a:t>Copyright © 2026 Accenture. All rights reserved.</a:t>
            </a:r>
            <a:endParaRPr lang="en-US" sz="1000" dirty="0"/>
          </a:p>
        </p:txBody>
      </p:sp>
      <p:sp>
        <p:nvSpPr>
          <p:cNvPr id="6" name="Text 4"/>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B9B9C2"/>
                </a:solidFill>
                <a:latin typeface="Arial"/>
                <a:ea typeface="Arial"/>
                <a:cs typeface="Arial"/>
              </a:rPr>
              <a:t>4</a:t>
            </a:r>
            <a:endParaRPr lang="en-US" sz="10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01 · THE PROBLEM</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Three different failures. One identical root cause.</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A bank runs three AI assistants. Three teams find three incidents, weeks later, in three different systems.</a:t>
            </a:r>
            <a:endParaRPr lang="en-US" sz="2000" dirty="0"/>
          </a:p>
        </p:txBody>
      </p:sp>
      <p:sp>
        <p:nvSpPr>
          <p:cNvPr id="5" name="Shape 3"/>
          <p:cNvSpPr/>
          <p:nvPr/>
        </p:nvSpPr>
        <p:spPr>
          <a:xfrm>
            <a:off x="685800" y="3200400"/>
            <a:ext cx="5212080" cy="2926080"/>
          </a:xfrm>
          <a:prstGeom prst="roundRect">
            <a:avLst>
              <a:gd name="adj" fmla="val 3750"/>
            </a:avLst>
          </a:prstGeom>
          <a:solidFill>
            <a:srgbClr val="FFFFFF"/>
          </a:solidFill>
          <a:ln w="12700">
            <a:solidFill>
              <a:srgbClr val="D9D9DD"/>
            </a:solidFill>
            <a:prstDash val="solid"/>
          </a:ln>
        </p:spPr>
      </p:sp>
      <p:sp>
        <p:nvSpPr>
          <p:cNvPr id="6" name="Text 4"/>
          <p:cNvSpPr txBox="1"/>
          <p:nvPr/>
        </p:nvSpPr>
        <p:spPr>
          <a:xfrm>
            <a:off x="1005840" y="3456432"/>
            <a:ext cx="457200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PERFORMANCE PLANE</a:t>
            </a:r>
            <a:endParaRPr lang="en-US" sz="1100" dirty="0"/>
          </a:p>
        </p:txBody>
      </p:sp>
      <p:sp>
        <p:nvSpPr>
          <p:cNvPr id="7" name="Text 5"/>
          <p:cNvSpPr txBox="1"/>
          <p:nvPr/>
        </p:nvSpPr>
        <p:spPr>
          <a:xfrm>
            <a:off x="1005840" y="3803904"/>
            <a:ext cx="4572000" cy="731520"/>
          </a:xfrm>
          <a:prstGeom prst="rect">
            <a:avLst/>
          </a:prstGeom>
          <a:noFill/>
          <a:ln/>
        </p:spPr>
        <p:txBody>
          <a:bodyPr wrap="square" lIns="0" tIns="0" rIns="0" bIns="0" rtlCol="0" anchor="t"/>
          <a:lstStyle/>
          <a:p>
            <a:pPr indent="0" marL="0">
              <a:buNone/>
            </a:pPr>
            <a:r>
              <a:rPr lang="en-US" sz="3400" spc="-100" kern="0" dirty="0">
                <a:solidFill>
                  <a:srgbClr val="17171C"/>
                </a:solidFill>
                <a:latin typeface="Arial"/>
                <a:ea typeface="Arial"/>
                <a:cs typeface="Arial"/>
              </a:rPr>
              <a:t>WRONG</a:t>
            </a:r>
            <a:endParaRPr lang="en-US" sz="3400" dirty="0"/>
          </a:p>
        </p:txBody>
      </p:sp>
      <p:sp>
        <p:nvSpPr>
          <p:cNvPr id="8" name="Text 6"/>
          <p:cNvSpPr txBox="1"/>
          <p:nvPr/>
        </p:nvSpPr>
        <p:spPr>
          <a:xfrm>
            <a:off x="1005840" y="4617720"/>
            <a:ext cx="4572000" cy="1234440"/>
          </a:xfrm>
          <a:prstGeom prst="rect">
            <a:avLst/>
          </a:prstGeom>
          <a:noFill/>
          <a:ln/>
        </p:spPr>
        <p:txBody>
          <a:bodyPr wrap="square" lIns="0" tIns="0" rIns="0" bIns="0" rtlCol="0" anchor="t"/>
          <a:lstStyle/>
          <a:p>
            <a:pPr indent="0" marL="0">
              <a:lnSpc>
                <a:spcPct val="112000"/>
              </a:lnSpc>
              <a:buNone/>
            </a:pPr>
            <a:r>
              <a:rPr lang="en-US" sz="1500" dirty="0">
                <a:solidFill>
                  <a:srgbClr val="616161"/>
                </a:solidFill>
                <a:latin typeface="Arial"/>
                <a:ea typeface="Arial"/>
                <a:cs typeface="Arial"/>
              </a:rPr>
              <a:t>The customer chatbot states a loan approval that never happened. Found in a complaint, not a dashboard.</a:t>
            </a:r>
            <a:endParaRPr lang="en-US" sz="1500" dirty="0"/>
          </a:p>
        </p:txBody>
      </p:sp>
      <p:sp>
        <p:nvSpPr>
          <p:cNvPr id="9" name="Shape 7"/>
          <p:cNvSpPr/>
          <p:nvPr/>
        </p:nvSpPr>
        <p:spPr>
          <a:xfrm>
            <a:off x="6263640" y="3200400"/>
            <a:ext cx="5212080" cy="2926080"/>
          </a:xfrm>
          <a:prstGeom prst="roundRect">
            <a:avLst>
              <a:gd name="adj" fmla="val 3750"/>
            </a:avLst>
          </a:prstGeom>
          <a:solidFill>
            <a:srgbClr val="FFFFFF"/>
          </a:solidFill>
          <a:ln w="12700">
            <a:solidFill>
              <a:srgbClr val="D9D9DD"/>
            </a:solidFill>
            <a:prstDash val="solid"/>
          </a:ln>
        </p:spPr>
      </p:sp>
      <p:sp>
        <p:nvSpPr>
          <p:cNvPr id="10" name="Text 8"/>
          <p:cNvSpPr txBox="1"/>
          <p:nvPr/>
        </p:nvSpPr>
        <p:spPr>
          <a:xfrm>
            <a:off x="6583680" y="3456432"/>
            <a:ext cx="457200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RESPONSIBILITY PLANE</a:t>
            </a:r>
            <a:endParaRPr lang="en-US" sz="1100" dirty="0"/>
          </a:p>
        </p:txBody>
      </p:sp>
      <p:sp>
        <p:nvSpPr>
          <p:cNvPr id="11" name="Text 9"/>
          <p:cNvSpPr txBox="1"/>
          <p:nvPr/>
        </p:nvSpPr>
        <p:spPr>
          <a:xfrm>
            <a:off x="6583680" y="3803904"/>
            <a:ext cx="4572000" cy="731520"/>
          </a:xfrm>
          <a:prstGeom prst="rect">
            <a:avLst/>
          </a:prstGeom>
          <a:noFill/>
          <a:ln/>
        </p:spPr>
        <p:txBody>
          <a:bodyPr wrap="square" lIns="0" tIns="0" rIns="0" bIns="0" rtlCol="0" anchor="t"/>
          <a:lstStyle/>
          <a:p>
            <a:pPr indent="0" marL="0">
              <a:buNone/>
            </a:pPr>
            <a:r>
              <a:rPr lang="en-US" sz="3400" spc="-100" kern="0" dirty="0">
                <a:solidFill>
                  <a:srgbClr val="17171C"/>
                </a:solidFill>
                <a:latin typeface="Arial"/>
                <a:ea typeface="Arial"/>
                <a:cs typeface="Arial"/>
              </a:rPr>
              <a:t>LEAKY</a:t>
            </a:r>
            <a:endParaRPr lang="en-US" sz="3400" dirty="0"/>
          </a:p>
        </p:txBody>
      </p:sp>
      <p:sp>
        <p:nvSpPr>
          <p:cNvPr id="12" name="Text 10"/>
          <p:cNvSpPr txBox="1"/>
          <p:nvPr/>
        </p:nvSpPr>
        <p:spPr>
          <a:xfrm>
            <a:off x="6583680" y="4617720"/>
            <a:ext cx="4572000" cy="1234440"/>
          </a:xfrm>
          <a:prstGeom prst="rect">
            <a:avLst/>
          </a:prstGeom>
          <a:noFill/>
          <a:ln/>
        </p:spPr>
        <p:txBody>
          <a:bodyPr wrap="square" lIns="0" tIns="0" rIns="0" bIns="0" rtlCol="0" anchor="t"/>
          <a:lstStyle/>
          <a:p>
            <a:pPr indent="0" marL="0">
              <a:lnSpc>
                <a:spcPct val="112000"/>
              </a:lnSpc>
              <a:buNone/>
            </a:pPr>
            <a:r>
              <a:rPr lang="en-US" sz="1500" dirty="0">
                <a:solidFill>
                  <a:srgbClr val="616161"/>
                </a:solidFill>
                <a:latin typeface="Arial"/>
                <a:ea typeface="Arial"/>
                <a:cs typeface="Arial"/>
              </a:rPr>
              <a:t>The HR assistant repeats an employee's phone number into a transcript that is retained.</a:t>
            </a:r>
            <a:endParaRPr lang="en-US" sz="1500" dirty="0"/>
          </a:p>
        </p:txBody>
      </p:sp>
      <p:sp>
        <p:nvSpPr>
          <p:cNvPr id="13" name="Shape 11"/>
          <p:cNvSpPr/>
          <p:nvPr/>
        </p:nvSpPr>
        <p:spPr>
          <a:xfrm>
            <a:off x="11841480" y="3200400"/>
            <a:ext cx="5212080" cy="2926080"/>
          </a:xfrm>
          <a:prstGeom prst="roundRect">
            <a:avLst>
              <a:gd name="adj" fmla="val 3750"/>
            </a:avLst>
          </a:prstGeom>
          <a:solidFill>
            <a:srgbClr val="FFFFFF"/>
          </a:solidFill>
          <a:ln w="12700">
            <a:solidFill>
              <a:srgbClr val="D9D9DD"/>
            </a:solidFill>
            <a:prstDash val="solid"/>
          </a:ln>
        </p:spPr>
      </p:sp>
      <p:sp>
        <p:nvSpPr>
          <p:cNvPr id="14" name="Text 12"/>
          <p:cNvSpPr txBox="1"/>
          <p:nvPr/>
        </p:nvSpPr>
        <p:spPr>
          <a:xfrm>
            <a:off x="12161520" y="3456432"/>
            <a:ext cx="457200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COST PLANE</a:t>
            </a:r>
            <a:endParaRPr lang="en-US" sz="1100" dirty="0"/>
          </a:p>
        </p:txBody>
      </p:sp>
      <p:sp>
        <p:nvSpPr>
          <p:cNvPr id="15" name="Text 13"/>
          <p:cNvSpPr txBox="1"/>
          <p:nvPr/>
        </p:nvSpPr>
        <p:spPr>
          <a:xfrm>
            <a:off x="12161520" y="3803904"/>
            <a:ext cx="4572000" cy="731520"/>
          </a:xfrm>
          <a:prstGeom prst="rect">
            <a:avLst/>
          </a:prstGeom>
          <a:noFill/>
          <a:ln/>
        </p:spPr>
        <p:txBody>
          <a:bodyPr wrap="square" lIns="0" tIns="0" rIns="0" bIns="0" rtlCol="0" anchor="t"/>
          <a:lstStyle/>
          <a:p>
            <a:pPr indent="0" marL="0">
              <a:buNone/>
            </a:pPr>
            <a:r>
              <a:rPr lang="en-US" sz="3400" spc="-100" kern="0" dirty="0">
                <a:solidFill>
                  <a:srgbClr val="17171C"/>
                </a:solidFill>
                <a:latin typeface="Arial"/>
                <a:ea typeface="Arial"/>
                <a:cs typeface="Arial"/>
              </a:rPr>
              <a:t>EXPENSIVE</a:t>
            </a:r>
            <a:endParaRPr lang="en-US" sz="3400" dirty="0"/>
          </a:p>
        </p:txBody>
      </p:sp>
      <p:sp>
        <p:nvSpPr>
          <p:cNvPr id="16" name="Text 14"/>
          <p:cNvSpPr txBox="1"/>
          <p:nvPr/>
        </p:nvSpPr>
        <p:spPr>
          <a:xfrm>
            <a:off x="12161520" y="4617720"/>
            <a:ext cx="4572000" cy="1234440"/>
          </a:xfrm>
          <a:prstGeom prst="rect">
            <a:avLst/>
          </a:prstGeom>
          <a:noFill/>
          <a:ln/>
        </p:spPr>
        <p:txBody>
          <a:bodyPr wrap="square" lIns="0" tIns="0" rIns="0" bIns="0" rtlCol="0" anchor="t"/>
          <a:lstStyle/>
          <a:p>
            <a:pPr indent="0" marL="0">
              <a:lnSpc>
                <a:spcPct val="112000"/>
              </a:lnSpc>
              <a:buNone/>
            </a:pPr>
            <a:r>
              <a:rPr lang="en-US" sz="1500" dirty="0">
                <a:solidFill>
                  <a:srgbClr val="616161"/>
                </a:solidFill>
                <a:latin typeface="Arial"/>
                <a:ea typeface="Arial"/>
                <a:cs typeface="Arial"/>
              </a:rPr>
              <a:t>The advisory tool loops on a malformed integration and burns inference budget for a week.</a:t>
            </a:r>
            <a:endParaRPr lang="en-US" sz="1500" dirty="0"/>
          </a:p>
        </p:txBody>
      </p:sp>
      <p:sp>
        <p:nvSpPr>
          <p:cNvPr id="17" name="Shape 15"/>
          <p:cNvSpPr/>
          <p:nvPr/>
        </p:nvSpPr>
        <p:spPr>
          <a:xfrm>
            <a:off x="685800" y="6720840"/>
            <a:ext cx="16916400" cy="0"/>
          </a:xfrm>
          <a:prstGeom prst="line">
            <a:avLst/>
          </a:prstGeom>
          <a:noFill/>
          <a:ln w="9525">
            <a:solidFill>
              <a:srgbClr val="D9D9DD"/>
            </a:solidFill>
            <a:prstDash val="solid"/>
          </a:ln>
        </p:spPr>
      </p:sp>
      <p:sp>
        <p:nvSpPr>
          <p:cNvPr id="18" name="Text 16"/>
          <p:cNvSpPr txBox="1"/>
          <p:nvPr/>
        </p:nvSpPr>
        <p:spPr>
          <a:xfrm>
            <a:off x="685800" y="6949440"/>
            <a:ext cx="12801600" cy="548640"/>
          </a:xfrm>
          <a:prstGeom prst="rect">
            <a:avLst/>
          </a:prstGeom>
          <a:noFill/>
          <a:ln/>
        </p:spPr>
        <p:txBody>
          <a:bodyPr wrap="square" lIns="0" tIns="0" rIns="0" bIns="0" rtlCol="0" anchor="ctr"/>
          <a:lstStyle/>
          <a:p>
            <a:pPr indent="0" marL="0">
              <a:buNone/>
            </a:pPr>
            <a:r>
              <a:rPr lang="en-US" sz="2400" spc="-50" kern="0" dirty="0">
                <a:solidFill>
                  <a:srgbClr val="17171C"/>
                </a:solidFill>
                <a:latin typeface="Arial"/>
                <a:ea typeface="Arial"/>
                <a:cs typeface="Arial"/>
              </a:rPr>
              <a:t>Each was discovered after the response had already been delivered.</a:t>
            </a:r>
            <a:endParaRPr lang="en-US" sz="2400" dirty="0"/>
          </a:p>
        </p:txBody>
      </p:sp>
      <p:sp>
        <p:nvSpPr>
          <p:cNvPr id="19" name="Text 17"/>
          <p:cNvSpPr txBox="1"/>
          <p:nvPr/>
        </p:nvSpPr>
        <p:spPr>
          <a:xfrm>
            <a:off x="685800" y="7589520"/>
            <a:ext cx="15087600" cy="1280160"/>
          </a:xfrm>
          <a:prstGeom prst="rect">
            <a:avLst/>
          </a:prstGeom>
          <a:noFill/>
          <a:ln/>
        </p:spPr>
        <p:txBody>
          <a:bodyPr wrap="square" lIns="0" tIns="0" rIns="0" bIns="0" rtlCol="0" anchor="t"/>
          <a:lstStyle/>
          <a:p>
            <a:pPr indent="0" marL="0">
              <a:lnSpc>
                <a:spcPct val="115000"/>
              </a:lnSpc>
              <a:buNone/>
            </a:pPr>
            <a:r>
              <a:rPr lang="en-US" sz="1600" dirty="0">
                <a:solidFill>
                  <a:srgbClr val="616161"/>
                </a:solidFill>
                <a:latin typeface="Arial"/>
                <a:ea typeface="Arial"/>
                <a:cs typeface="Arial"/>
              </a:rPr>
              <a:t>Enterprises average 5.0 production AI use cases and grow that count 101% year over year, against an 80%+ pilot failure rate. The gap is not model quality. It is that no component makes one accountable decision per response across quality, cost and responsibility together.</a:t>
            </a:r>
            <a:endParaRPr lang="en-US" sz="1600" dirty="0"/>
          </a:p>
        </p:txBody>
      </p:sp>
      <p:sp>
        <p:nvSpPr>
          <p:cNvPr id="20" name="Text 18"/>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Source: McKinsey State of AI 2025, Gartner enterprise AI survey series</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Courier New"/>
                <a:ea typeface="Courier New"/>
                <a:cs typeface="Courier New"/>
              </a:rPr>
              <a:t>[M-03]</a:t>
            </a:r>
            <a:endParaRPr lang="en-US" sz="1200" dirty="0"/>
          </a:p>
        </p:txBody>
      </p:sp>
      <p:sp>
        <p:nvSpPr>
          <p:cNvPr id="21" name="Text 19"/>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22" name="Text 20"/>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6</a:t>
            </a:r>
            <a:endParaRPr lang="en-US" sz="10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01 · THE PROBLEM</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The regulatory clock has already started.</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Penalties are statutory, phase-in dates are fixed, and the obligation lands on the deploying enterprise.</a:t>
            </a:r>
            <a:endParaRPr lang="en-US" sz="2000" dirty="0"/>
          </a:p>
        </p:txBody>
      </p:sp>
      <p:sp>
        <p:nvSpPr>
          <p:cNvPr id="5" name="Text 3"/>
          <p:cNvSpPr txBox="1"/>
          <p:nvPr/>
        </p:nvSpPr>
        <p:spPr>
          <a:xfrm>
            <a:off x="685800" y="3200400"/>
            <a:ext cx="411480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INSTRUMENT</a:t>
            </a:r>
            <a:endParaRPr lang="en-US" sz="1100" dirty="0"/>
          </a:p>
        </p:txBody>
      </p:sp>
      <p:sp>
        <p:nvSpPr>
          <p:cNvPr id="6" name="Text 4"/>
          <p:cNvSpPr txBox="1"/>
          <p:nvPr/>
        </p:nvSpPr>
        <p:spPr>
          <a:xfrm>
            <a:off x="5120640" y="3200400"/>
            <a:ext cx="461772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EXPOSURE</a:t>
            </a:r>
            <a:endParaRPr lang="en-US" sz="1100" dirty="0"/>
          </a:p>
        </p:txBody>
      </p:sp>
      <p:sp>
        <p:nvSpPr>
          <p:cNvPr id="7" name="Text 5"/>
          <p:cNvSpPr txBox="1"/>
          <p:nvPr/>
        </p:nvSpPr>
        <p:spPr>
          <a:xfrm>
            <a:off x="10058400" y="3200400"/>
            <a:ext cx="388620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STATUS</a:t>
            </a:r>
            <a:endParaRPr lang="en-US" sz="1100" dirty="0"/>
          </a:p>
        </p:txBody>
      </p:sp>
      <p:sp>
        <p:nvSpPr>
          <p:cNvPr id="8" name="Text 6"/>
          <p:cNvSpPr txBox="1"/>
          <p:nvPr/>
        </p:nvSpPr>
        <p:spPr>
          <a:xfrm>
            <a:off x="14264640" y="3200400"/>
            <a:ext cx="333756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SOURCE</a:t>
            </a:r>
            <a:endParaRPr lang="en-US" sz="1100" dirty="0"/>
          </a:p>
        </p:txBody>
      </p:sp>
      <p:sp>
        <p:nvSpPr>
          <p:cNvPr id="9" name="Shape 7"/>
          <p:cNvSpPr/>
          <p:nvPr/>
        </p:nvSpPr>
        <p:spPr>
          <a:xfrm>
            <a:off x="685800" y="3547872"/>
            <a:ext cx="16916400" cy="0"/>
          </a:xfrm>
          <a:prstGeom prst="line">
            <a:avLst/>
          </a:prstGeom>
          <a:noFill/>
          <a:ln w="9525">
            <a:solidFill>
              <a:srgbClr val="17171C"/>
            </a:solidFill>
            <a:prstDash val="solid"/>
          </a:ln>
        </p:spPr>
      </p:sp>
      <p:sp>
        <p:nvSpPr>
          <p:cNvPr id="10" name="Text 8"/>
          <p:cNvSpPr txBox="1"/>
          <p:nvPr/>
        </p:nvSpPr>
        <p:spPr>
          <a:xfrm>
            <a:off x="685800" y="3611880"/>
            <a:ext cx="4114800" cy="566928"/>
          </a:xfrm>
          <a:prstGeom prst="rect">
            <a:avLst/>
          </a:prstGeom>
          <a:noFill/>
          <a:ln/>
        </p:spPr>
        <p:txBody>
          <a:bodyPr wrap="square" lIns="0" tIns="0" rIns="0" bIns="0" rtlCol="0" anchor="ctr"/>
          <a:lstStyle/>
          <a:p>
            <a:pPr algn="l" indent="0" marL="0">
              <a:buNone/>
            </a:pPr>
            <a:r>
              <a:rPr lang="en-US" sz="1500" dirty="0">
                <a:solidFill>
                  <a:srgbClr val="212121"/>
                </a:solidFill>
                <a:latin typeface="Arial"/>
                <a:ea typeface="Arial"/>
                <a:cs typeface="Arial"/>
              </a:rPr>
              <a:t>EU AI Act</a:t>
            </a:r>
            <a:endParaRPr lang="en-US" sz="1500" dirty="0"/>
          </a:p>
        </p:txBody>
      </p:sp>
      <p:sp>
        <p:nvSpPr>
          <p:cNvPr id="11" name="Text 9"/>
          <p:cNvSpPr txBox="1"/>
          <p:nvPr/>
        </p:nvSpPr>
        <p:spPr>
          <a:xfrm>
            <a:off x="5120640" y="3611880"/>
            <a:ext cx="461772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€35M or 7% of global turnover, top tier</a:t>
            </a:r>
            <a:endParaRPr lang="en-US" sz="1400" dirty="0"/>
          </a:p>
        </p:txBody>
      </p:sp>
      <p:sp>
        <p:nvSpPr>
          <p:cNvPr id="12" name="Text 10"/>
          <p:cNvSpPr txBox="1"/>
          <p:nvPr/>
        </p:nvSpPr>
        <p:spPr>
          <a:xfrm>
            <a:off x="10058400" y="3611880"/>
            <a:ext cx="388620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Phase-in through Dec 2027</a:t>
            </a:r>
            <a:endParaRPr lang="en-US" sz="1400" dirty="0"/>
          </a:p>
        </p:txBody>
      </p:sp>
      <p:sp>
        <p:nvSpPr>
          <p:cNvPr id="13" name="Text 11"/>
          <p:cNvSpPr txBox="1"/>
          <p:nvPr/>
        </p:nvSpPr>
        <p:spPr>
          <a:xfrm>
            <a:off x="14264640" y="3611880"/>
            <a:ext cx="3337560" cy="566928"/>
          </a:xfrm>
          <a:prstGeom prst="rect">
            <a:avLst/>
          </a:prstGeom>
          <a:noFill/>
          <a:ln/>
        </p:spPr>
        <p:txBody>
          <a:bodyPr wrap="square" lIns="0" tIns="0" rIns="0" bIns="0" rtlCol="0" anchor="ctr"/>
          <a:lstStyle/>
          <a:p>
            <a:pPr algn="l" indent="0" marL="0">
              <a:buNone/>
            </a:pPr>
            <a:r>
              <a:rPr lang="en-US" sz="1400" dirty="0">
                <a:solidFill>
                  <a:srgbClr val="212121"/>
                </a:solidFill>
                <a:latin typeface="Courier New"/>
                <a:ea typeface="Courier New"/>
                <a:cs typeface="Courier New"/>
              </a:rPr>
              <a:t>[M-01]</a:t>
            </a:r>
            <a:endParaRPr lang="en-US" sz="1400" dirty="0"/>
          </a:p>
        </p:txBody>
      </p:sp>
      <p:sp>
        <p:nvSpPr>
          <p:cNvPr id="14" name="Shape 12"/>
          <p:cNvSpPr/>
          <p:nvPr/>
        </p:nvSpPr>
        <p:spPr>
          <a:xfrm>
            <a:off x="685800" y="4178808"/>
            <a:ext cx="16916400" cy="0"/>
          </a:xfrm>
          <a:prstGeom prst="line">
            <a:avLst/>
          </a:prstGeom>
          <a:noFill/>
          <a:ln w="9525">
            <a:solidFill>
              <a:srgbClr val="D9D9DD"/>
            </a:solidFill>
            <a:prstDash val="solid"/>
          </a:ln>
        </p:spPr>
      </p:sp>
      <p:sp>
        <p:nvSpPr>
          <p:cNvPr id="15" name="Text 13"/>
          <p:cNvSpPr txBox="1"/>
          <p:nvPr/>
        </p:nvSpPr>
        <p:spPr>
          <a:xfrm>
            <a:off x="685800" y="4178808"/>
            <a:ext cx="4114800" cy="566928"/>
          </a:xfrm>
          <a:prstGeom prst="rect">
            <a:avLst/>
          </a:prstGeom>
          <a:noFill/>
          <a:ln/>
        </p:spPr>
        <p:txBody>
          <a:bodyPr wrap="square" lIns="0" tIns="0" rIns="0" bIns="0" rtlCol="0" anchor="ctr"/>
          <a:lstStyle/>
          <a:p>
            <a:pPr algn="l" indent="0" marL="0">
              <a:buNone/>
            </a:pPr>
            <a:r>
              <a:rPr lang="en-US" sz="1500" dirty="0">
                <a:solidFill>
                  <a:srgbClr val="212121"/>
                </a:solidFill>
                <a:latin typeface="Arial"/>
                <a:ea typeface="Arial"/>
                <a:cs typeface="Arial"/>
              </a:rPr>
              <a:t>EU AI Act, high-risk duties</a:t>
            </a:r>
            <a:endParaRPr lang="en-US" sz="1500" dirty="0"/>
          </a:p>
        </p:txBody>
      </p:sp>
      <p:sp>
        <p:nvSpPr>
          <p:cNvPr id="16" name="Text 14"/>
          <p:cNvSpPr txBox="1"/>
          <p:nvPr/>
        </p:nvSpPr>
        <p:spPr>
          <a:xfrm>
            <a:off x="5120640" y="4178808"/>
            <a:ext cx="461772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€15M or 3%; €7.5M or 1% for information duties</a:t>
            </a:r>
            <a:endParaRPr lang="en-US" sz="1400" dirty="0"/>
          </a:p>
        </p:txBody>
      </p:sp>
      <p:sp>
        <p:nvSpPr>
          <p:cNvPr id="17" name="Text 15"/>
          <p:cNvSpPr txBox="1"/>
          <p:nvPr/>
        </p:nvSpPr>
        <p:spPr>
          <a:xfrm>
            <a:off x="10058400" y="4178808"/>
            <a:ext cx="388620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In force, staged</a:t>
            </a:r>
            <a:endParaRPr lang="en-US" sz="1400" dirty="0"/>
          </a:p>
        </p:txBody>
      </p:sp>
      <p:sp>
        <p:nvSpPr>
          <p:cNvPr id="18" name="Text 16"/>
          <p:cNvSpPr txBox="1"/>
          <p:nvPr/>
        </p:nvSpPr>
        <p:spPr>
          <a:xfrm>
            <a:off x="14264640" y="4178808"/>
            <a:ext cx="3337560" cy="566928"/>
          </a:xfrm>
          <a:prstGeom prst="rect">
            <a:avLst/>
          </a:prstGeom>
          <a:noFill/>
          <a:ln/>
        </p:spPr>
        <p:txBody>
          <a:bodyPr wrap="square" lIns="0" tIns="0" rIns="0" bIns="0" rtlCol="0" anchor="ctr"/>
          <a:lstStyle/>
          <a:p>
            <a:pPr algn="l" indent="0" marL="0">
              <a:buNone/>
            </a:pPr>
            <a:r>
              <a:rPr lang="en-US" sz="1400" dirty="0">
                <a:solidFill>
                  <a:srgbClr val="212121"/>
                </a:solidFill>
                <a:latin typeface="Courier New"/>
                <a:ea typeface="Courier New"/>
                <a:cs typeface="Courier New"/>
              </a:rPr>
              <a:t>[M-01]</a:t>
            </a:r>
            <a:endParaRPr lang="en-US" sz="1400" dirty="0"/>
          </a:p>
        </p:txBody>
      </p:sp>
      <p:sp>
        <p:nvSpPr>
          <p:cNvPr id="19" name="Shape 17"/>
          <p:cNvSpPr/>
          <p:nvPr/>
        </p:nvSpPr>
        <p:spPr>
          <a:xfrm>
            <a:off x="685800" y="4745736"/>
            <a:ext cx="16916400" cy="0"/>
          </a:xfrm>
          <a:prstGeom prst="line">
            <a:avLst/>
          </a:prstGeom>
          <a:noFill/>
          <a:ln w="9525">
            <a:solidFill>
              <a:srgbClr val="D9D9DD"/>
            </a:solidFill>
            <a:prstDash val="solid"/>
          </a:ln>
        </p:spPr>
      </p:sp>
      <p:sp>
        <p:nvSpPr>
          <p:cNvPr id="20" name="Text 18"/>
          <p:cNvSpPr txBox="1"/>
          <p:nvPr/>
        </p:nvSpPr>
        <p:spPr>
          <a:xfrm>
            <a:off x="685800" y="4745736"/>
            <a:ext cx="4114800" cy="566928"/>
          </a:xfrm>
          <a:prstGeom prst="rect">
            <a:avLst/>
          </a:prstGeom>
          <a:noFill/>
          <a:ln/>
        </p:spPr>
        <p:txBody>
          <a:bodyPr wrap="square" lIns="0" tIns="0" rIns="0" bIns="0" rtlCol="0" anchor="ctr"/>
          <a:lstStyle/>
          <a:p>
            <a:pPr algn="l" indent="0" marL="0">
              <a:buNone/>
            </a:pPr>
            <a:r>
              <a:rPr lang="en-US" sz="1500" dirty="0">
                <a:solidFill>
                  <a:srgbClr val="212121"/>
                </a:solidFill>
                <a:latin typeface="Arial"/>
                <a:ea typeface="Arial"/>
                <a:cs typeface="Arial"/>
              </a:rPr>
              <a:t>India DPDP Act 2023</a:t>
            </a:r>
            <a:endParaRPr lang="en-US" sz="1500" dirty="0"/>
          </a:p>
        </p:txBody>
      </p:sp>
      <p:sp>
        <p:nvSpPr>
          <p:cNvPr id="21" name="Text 19"/>
          <p:cNvSpPr txBox="1"/>
          <p:nvPr/>
        </p:nvSpPr>
        <p:spPr>
          <a:xfrm>
            <a:off x="5120640" y="4745736"/>
            <a:ext cx="461772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Up to ₹250 crore per instance, security safeguards</a:t>
            </a:r>
            <a:endParaRPr lang="en-US" sz="1400" dirty="0"/>
          </a:p>
        </p:txBody>
      </p:sp>
      <p:sp>
        <p:nvSpPr>
          <p:cNvPr id="22" name="Text 20"/>
          <p:cNvSpPr txBox="1"/>
          <p:nvPr/>
        </p:nvSpPr>
        <p:spPr>
          <a:xfrm>
            <a:off x="10058400" y="4745736"/>
            <a:ext cx="388620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Rules notified Nov 2025</a:t>
            </a:r>
            <a:endParaRPr lang="en-US" sz="1400" dirty="0"/>
          </a:p>
        </p:txBody>
      </p:sp>
      <p:sp>
        <p:nvSpPr>
          <p:cNvPr id="23" name="Text 21"/>
          <p:cNvSpPr txBox="1"/>
          <p:nvPr/>
        </p:nvSpPr>
        <p:spPr>
          <a:xfrm>
            <a:off x="14264640" y="4745736"/>
            <a:ext cx="3337560" cy="566928"/>
          </a:xfrm>
          <a:prstGeom prst="rect">
            <a:avLst/>
          </a:prstGeom>
          <a:noFill/>
          <a:ln/>
        </p:spPr>
        <p:txBody>
          <a:bodyPr wrap="square" lIns="0" tIns="0" rIns="0" bIns="0" rtlCol="0" anchor="ctr"/>
          <a:lstStyle/>
          <a:p>
            <a:pPr algn="l" indent="0" marL="0">
              <a:buNone/>
            </a:pPr>
            <a:r>
              <a:rPr lang="en-US" sz="1400" dirty="0">
                <a:solidFill>
                  <a:srgbClr val="212121"/>
                </a:solidFill>
                <a:latin typeface="Courier New"/>
                <a:ea typeface="Courier New"/>
                <a:cs typeface="Courier New"/>
              </a:rPr>
              <a:t>[M-02]</a:t>
            </a:r>
            <a:endParaRPr lang="en-US" sz="1400" dirty="0"/>
          </a:p>
        </p:txBody>
      </p:sp>
      <p:sp>
        <p:nvSpPr>
          <p:cNvPr id="24" name="Shape 22"/>
          <p:cNvSpPr/>
          <p:nvPr/>
        </p:nvSpPr>
        <p:spPr>
          <a:xfrm>
            <a:off x="685800" y="5312664"/>
            <a:ext cx="16916400" cy="0"/>
          </a:xfrm>
          <a:prstGeom prst="line">
            <a:avLst/>
          </a:prstGeom>
          <a:noFill/>
          <a:ln w="9525">
            <a:solidFill>
              <a:srgbClr val="D9D9DD"/>
            </a:solidFill>
            <a:prstDash val="solid"/>
          </a:ln>
        </p:spPr>
      </p:sp>
      <p:sp>
        <p:nvSpPr>
          <p:cNvPr id="25" name="Text 23"/>
          <p:cNvSpPr txBox="1"/>
          <p:nvPr/>
        </p:nvSpPr>
        <p:spPr>
          <a:xfrm>
            <a:off x="685800" y="5312664"/>
            <a:ext cx="4114800" cy="566928"/>
          </a:xfrm>
          <a:prstGeom prst="rect">
            <a:avLst/>
          </a:prstGeom>
          <a:noFill/>
          <a:ln/>
        </p:spPr>
        <p:txBody>
          <a:bodyPr wrap="square" lIns="0" tIns="0" rIns="0" bIns="0" rtlCol="0" anchor="ctr"/>
          <a:lstStyle/>
          <a:p>
            <a:pPr algn="l" indent="0" marL="0">
              <a:buNone/>
            </a:pPr>
            <a:r>
              <a:rPr lang="en-US" sz="1500" dirty="0">
                <a:solidFill>
                  <a:srgbClr val="212121"/>
                </a:solidFill>
                <a:latin typeface="Arial"/>
                <a:ea typeface="Arial"/>
                <a:cs typeface="Arial"/>
              </a:rPr>
              <a:t>Classification burden</a:t>
            </a:r>
            <a:endParaRPr lang="en-US" sz="1500" dirty="0"/>
          </a:p>
        </p:txBody>
      </p:sp>
      <p:sp>
        <p:nvSpPr>
          <p:cNvPr id="26" name="Text 24"/>
          <p:cNvSpPr txBox="1"/>
          <p:nvPr/>
        </p:nvSpPr>
        <p:spPr>
          <a:xfrm>
            <a:off x="5120640" y="5312664"/>
            <a:ext cx="461772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18% of systems high-risk, 40% still unclassified</a:t>
            </a:r>
            <a:endParaRPr lang="en-US" sz="1400" dirty="0"/>
          </a:p>
        </p:txBody>
      </p:sp>
      <p:sp>
        <p:nvSpPr>
          <p:cNvPr id="27" name="Text 25"/>
          <p:cNvSpPr txBox="1"/>
          <p:nvPr/>
        </p:nvSpPr>
        <p:spPr>
          <a:xfrm>
            <a:off x="10058400" y="5312664"/>
            <a:ext cx="388620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Enterprise self-assessment</a:t>
            </a:r>
            <a:endParaRPr lang="en-US" sz="1400" dirty="0"/>
          </a:p>
        </p:txBody>
      </p:sp>
      <p:sp>
        <p:nvSpPr>
          <p:cNvPr id="28" name="Text 26"/>
          <p:cNvSpPr txBox="1"/>
          <p:nvPr/>
        </p:nvSpPr>
        <p:spPr>
          <a:xfrm>
            <a:off x="14264640" y="5312664"/>
            <a:ext cx="3337560" cy="566928"/>
          </a:xfrm>
          <a:prstGeom prst="rect">
            <a:avLst/>
          </a:prstGeom>
          <a:noFill/>
          <a:ln/>
        </p:spPr>
        <p:txBody>
          <a:bodyPr wrap="square" lIns="0" tIns="0" rIns="0" bIns="0" rtlCol="0" anchor="ctr"/>
          <a:lstStyle/>
          <a:p>
            <a:pPr algn="l" indent="0" marL="0">
              <a:buNone/>
            </a:pPr>
            <a:r>
              <a:rPr lang="en-US" sz="1400" dirty="0">
                <a:solidFill>
                  <a:srgbClr val="212121"/>
                </a:solidFill>
                <a:latin typeface="Courier New"/>
                <a:ea typeface="Courier New"/>
                <a:cs typeface="Courier New"/>
              </a:rPr>
              <a:t>[M-12]</a:t>
            </a:r>
            <a:endParaRPr lang="en-US" sz="1400" dirty="0"/>
          </a:p>
        </p:txBody>
      </p:sp>
      <p:sp>
        <p:nvSpPr>
          <p:cNvPr id="29" name="Shape 27"/>
          <p:cNvSpPr/>
          <p:nvPr/>
        </p:nvSpPr>
        <p:spPr>
          <a:xfrm>
            <a:off x="685800" y="5879592"/>
            <a:ext cx="16916400" cy="0"/>
          </a:xfrm>
          <a:prstGeom prst="line">
            <a:avLst/>
          </a:prstGeom>
          <a:noFill/>
          <a:ln w="9525">
            <a:solidFill>
              <a:srgbClr val="D9D9DD"/>
            </a:solidFill>
            <a:prstDash val="solid"/>
          </a:ln>
        </p:spPr>
      </p:sp>
      <p:sp>
        <p:nvSpPr>
          <p:cNvPr id="30" name="Text 28"/>
          <p:cNvSpPr txBox="1"/>
          <p:nvPr/>
        </p:nvSpPr>
        <p:spPr>
          <a:xfrm>
            <a:off x="685800" y="5879592"/>
            <a:ext cx="4114800" cy="566928"/>
          </a:xfrm>
          <a:prstGeom prst="rect">
            <a:avLst/>
          </a:prstGeom>
          <a:noFill/>
          <a:ln/>
        </p:spPr>
        <p:txBody>
          <a:bodyPr wrap="square" lIns="0" tIns="0" rIns="0" bIns="0" rtlCol="0" anchor="ctr"/>
          <a:lstStyle/>
          <a:p>
            <a:pPr algn="l" indent="0" marL="0">
              <a:buNone/>
            </a:pPr>
            <a:r>
              <a:rPr lang="en-US" sz="1500" dirty="0">
                <a:solidFill>
                  <a:srgbClr val="212121"/>
                </a:solidFill>
                <a:latin typeface="Arial"/>
                <a:ea typeface="Arial"/>
                <a:cs typeface="Arial"/>
              </a:rPr>
              <a:t>Recurring compliance cost</a:t>
            </a:r>
            <a:endParaRPr lang="en-US" sz="1500" dirty="0"/>
          </a:p>
        </p:txBody>
      </p:sp>
      <p:sp>
        <p:nvSpPr>
          <p:cNvPr id="31" name="Text 29"/>
          <p:cNvSpPr txBox="1"/>
          <p:nvPr/>
        </p:nvSpPr>
        <p:spPr>
          <a:xfrm>
            <a:off x="5120640" y="5879592"/>
            <a:ext cx="461772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€3.3 billion annually, EU-wide</a:t>
            </a:r>
            <a:endParaRPr lang="en-US" sz="1400" dirty="0"/>
          </a:p>
        </p:txBody>
      </p:sp>
      <p:sp>
        <p:nvSpPr>
          <p:cNvPr id="32" name="Text 30"/>
          <p:cNvSpPr txBox="1"/>
          <p:nvPr/>
        </p:nvSpPr>
        <p:spPr>
          <a:xfrm>
            <a:off x="10058400" y="5879592"/>
            <a:ext cx="388620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Estimated, 2026 study</a:t>
            </a:r>
            <a:endParaRPr lang="en-US" sz="1400" dirty="0"/>
          </a:p>
        </p:txBody>
      </p:sp>
      <p:sp>
        <p:nvSpPr>
          <p:cNvPr id="33" name="Text 31"/>
          <p:cNvSpPr txBox="1"/>
          <p:nvPr/>
        </p:nvSpPr>
        <p:spPr>
          <a:xfrm>
            <a:off x="14264640" y="5879592"/>
            <a:ext cx="3337560" cy="566928"/>
          </a:xfrm>
          <a:prstGeom prst="rect">
            <a:avLst/>
          </a:prstGeom>
          <a:noFill/>
          <a:ln/>
        </p:spPr>
        <p:txBody>
          <a:bodyPr wrap="square" lIns="0" tIns="0" rIns="0" bIns="0" rtlCol="0" anchor="ctr"/>
          <a:lstStyle/>
          <a:p>
            <a:pPr algn="l" indent="0" marL="0">
              <a:buNone/>
            </a:pPr>
            <a:r>
              <a:rPr lang="en-US" sz="1400" dirty="0">
                <a:solidFill>
                  <a:srgbClr val="212121"/>
                </a:solidFill>
                <a:latin typeface="Courier New"/>
                <a:ea typeface="Courier New"/>
                <a:cs typeface="Courier New"/>
              </a:rPr>
              <a:t>[M-12]</a:t>
            </a:r>
            <a:endParaRPr lang="en-US" sz="1400" dirty="0"/>
          </a:p>
        </p:txBody>
      </p:sp>
      <p:sp>
        <p:nvSpPr>
          <p:cNvPr id="34" name="Shape 32"/>
          <p:cNvSpPr/>
          <p:nvPr/>
        </p:nvSpPr>
        <p:spPr>
          <a:xfrm>
            <a:off x="685800" y="6446520"/>
            <a:ext cx="16916400" cy="0"/>
          </a:xfrm>
          <a:prstGeom prst="line">
            <a:avLst/>
          </a:prstGeom>
          <a:noFill/>
          <a:ln w="9525">
            <a:solidFill>
              <a:srgbClr val="D9D9DD"/>
            </a:solidFill>
            <a:prstDash val="solid"/>
          </a:ln>
        </p:spPr>
      </p:sp>
      <p:sp>
        <p:nvSpPr>
          <p:cNvPr id="35" name="Shape 33"/>
          <p:cNvSpPr/>
          <p:nvPr/>
        </p:nvSpPr>
        <p:spPr>
          <a:xfrm>
            <a:off x="685800" y="6720840"/>
            <a:ext cx="16916400" cy="0"/>
          </a:xfrm>
          <a:prstGeom prst="line">
            <a:avLst/>
          </a:prstGeom>
          <a:noFill/>
          <a:ln w="9525">
            <a:solidFill>
              <a:srgbClr val="D9D9DD"/>
            </a:solidFill>
            <a:prstDash val="solid"/>
          </a:ln>
        </p:spPr>
      </p:sp>
      <p:sp>
        <p:nvSpPr>
          <p:cNvPr id="36" name="Text 34"/>
          <p:cNvSpPr txBox="1"/>
          <p:nvPr/>
        </p:nvSpPr>
        <p:spPr>
          <a:xfrm>
            <a:off x="685800" y="6949440"/>
            <a:ext cx="13716000" cy="548640"/>
          </a:xfrm>
          <a:prstGeom prst="rect">
            <a:avLst/>
          </a:prstGeom>
          <a:noFill/>
          <a:ln/>
        </p:spPr>
        <p:txBody>
          <a:bodyPr wrap="square" lIns="0" tIns="0" rIns="0" bIns="0" rtlCol="0" anchor="ctr"/>
          <a:lstStyle/>
          <a:p>
            <a:pPr indent="0" marL="0">
              <a:buNone/>
            </a:pPr>
            <a:r>
              <a:rPr lang="en-US" sz="2400" spc="-50" kern="0" dirty="0">
                <a:solidFill>
                  <a:srgbClr val="17171C"/>
                </a:solidFill>
                <a:latin typeface="Arial"/>
                <a:ea typeface="Arial"/>
                <a:cs typeface="Arial"/>
              </a:rPr>
              <a:t>40% of AI initiatives are cancelled where governance is absent.</a:t>
            </a:r>
            <a:endParaRPr lang="en-US" sz="2400" dirty="0"/>
          </a:p>
        </p:txBody>
      </p:sp>
      <p:sp>
        <p:nvSpPr>
          <p:cNvPr id="37" name="Text 35"/>
          <p:cNvSpPr txBox="1"/>
          <p:nvPr/>
        </p:nvSpPr>
        <p:spPr>
          <a:xfrm>
            <a:off x="685800" y="7589520"/>
            <a:ext cx="14630400" cy="914400"/>
          </a:xfrm>
          <a:prstGeom prst="rect">
            <a:avLst/>
          </a:prstGeom>
          <a:noFill/>
          <a:ln/>
        </p:spPr>
        <p:txBody>
          <a:bodyPr wrap="square" lIns="0" tIns="0" rIns="0" bIns="0" rtlCol="0" anchor="t"/>
          <a:lstStyle/>
          <a:p>
            <a:pPr indent="0" marL="0">
              <a:lnSpc>
                <a:spcPct val="115000"/>
              </a:lnSpc>
              <a:buNone/>
            </a:pPr>
            <a:r>
              <a:rPr lang="en-US" sz="1600" dirty="0">
                <a:solidFill>
                  <a:srgbClr val="616161"/>
                </a:solidFill>
                <a:latin typeface="Arial"/>
                <a:ea typeface="Arial"/>
                <a:cs typeface="Arial"/>
              </a:rPr>
              <a:t>Governance is not the tax on shipping AI. Increasingly it is the precondition: the funnel jams at production, and unclassified systems cannot be signed off by anyone willing to carry the liability.</a:t>
            </a:r>
            <a:endParaRPr lang="en-US" sz="1600" dirty="0"/>
          </a:p>
        </p:txBody>
      </p:sp>
      <p:sp>
        <p:nvSpPr>
          <p:cNvPr id="38" name="Text 36"/>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Source: Regulation (EU) 2024/1689; MeitY DPDP Rules 2025; appliedAI / DIGITALEUROPE</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Courier New"/>
                <a:ea typeface="Courier New"/>
                <a:cs typeface="Courier New"/>
              </a:rPr>
              <a:t>[M-01] [M-02] [M-12]</a:t>
            </a:r>
            <a:endParaRPr lang="en-US" sz="1200" dirty="0"/>
          </a:p>
        </p:txBody>
      </p:sp>
      <p:sp>
        <p:nvSpPr>
          <p:cNvPr id="39" name="Text 37"/>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40" name="Text 38"/>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7</a:t>
            </a:r>
            <a:endParaRPr lang="en-US" sz="10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171C"/>
        </a:solidFill>
      </p:bgPr>
    </p:bg>
    <p:spTree>
      <p:nvGrpSpPr>
        <p:cNvPr id="1" name=""/>
        <p:cNvGrpSpPr/>
        <p:nvPr/>
      </p:nvGrpSpPr>
      <p:grpSpPr/>
      <p:sp>
        <p:nvSpPr>
          <p:cNvPr id="2" name="Text 0"/>
          <p:cNvSpPr txBox="1"/>
          <p:nvPr/>
        </p:nvSpPr>
        <p:spPr>
          <a:xfrm>
            <a:off x="685800" y="5669280"/>
            <a:ext cx="10972800" cy="320040"/>
          </a:xfrm>
          <a:prstGeom prst="rect">
            <a:avLst/>
          </a:prstGeom>
          <a:noFill/>
          <a:ln/>
        </p:spPr>
        <p:txBody>
          <a:bodyPr wrap="square" lIns="0" tIns="0" rIns="0" bIns="0" rtlCol="0" anchor="ctr"/>
          <a:lstStyle/>
          <a:p>
            <a:pPr indent="0" marL="0">
              <a:buNone/>
            </a:pPr>
            <a:r>
              <a:rPr lang="en-US" sz="1200" b="1" spc="150" kern="0" dirty="0">
                <a:solidFill>
                  <a:srgbClr val="C77DFF"/>
                </a:solidFill>
                <a:latin typeface="Courier New"/>
                <a:ea typeface="Courier New"/>
                <a:cs typeface="Courier New"/>
              </a:rPr>
              <a:t>02  ·  THE SOLUTION</a:t>
            </a:r>
            <a:endParaRPr lang="en-US" sz="1200" dirty="0"/>
          </a:p>
        </p:txBody>
      </p:sp>
      <p:sp>
        <p:nvSpPr>
          <p:cNvPr id="3" name="Text 1"/>
          <p:cNvSpPr txBox="1"/>
          <p:nvPr/>
        </p:nvSpPr>
        <p:spPr>
          <a:xfrm>
            <a:off x="685800" y="6126480"/>
            <a:ext cx="14630400" cy="2103120"/>
          </a:xfrm>
          <a:prstGeom prst="rect">
            <a:avLst/>
          </a:prstGeom>
          <a:noFill/>
          <a:ln/>
        </p:spPr>
        <p:txBody>
          <a:bodyPr wrap="square" lIns="0" tIns="0" rIns="0" bIns="0" rtlCol="0" anchor="t"/>
          <a:lstStyle/>
          <a:p>
            <a:pPr indent="0" marL="0">
              <a:lnSpc>
                <a:spcPct val="100000"/>
              </a:lnSpc>
              <a:buNone/>
            </a:pPr>
            <a:r>
              <a:rPr lang="en-US" sz="6000" spc="-200" kern="0" dirty="0">
                <a:solidFill>
                  <a:srgbClr val="FFFFFF"/>
                </a:solidFill>
                <a:latin typeface="Arial"/>
                <a:ea typeface="Arial"/>
                <a:cs typeface="Arial"/>
              </a:rPr>
              <a:t>One URL change,</a:t>
            </a:r>
            <a:endParaRPr lang="en-US" sz="6000" dirty="0"/>
          </a:p>
          <a:p>
            <a:pPr indent="0" marL="0">
              <a:lnSpc>
                <a:spcPct val="100000"/>
              </a:lnSpc>
              <a:buNone/>
            </a:pPr>
            <a:r>
              <a:rPr lang="en-US" sz="6000" spc="-200" kern="0" dirty="0">
                <a:solidFill>
                  <a:srgbClr val="FFFFFF"/>
                </a:solidFill>
                <a:latin typeface="Arial"/>
                <a:ea typeface="Arial"/>
                <a:cs typeface="Arial"/>
              </a:rPr>
              <a:t>exactly one verdict per response.</a:t>
            </a:r>
            <a:endParaRPr lang="en-US" sz="6000" dirty="0"/>
          </a:p>
        </p:txBody>
      </p:sp>
      <p:sp>
        <p:nvSpPr>
          <p:cNvPr id="4" name="Text 2"/>
          <p:cNvSpPr txBox="1"/>
          <p:nvPr/>
        </p:nvSpPr>
        <p:spPr>
          <a:xfrm>
            <a:off x="685800" y="8321040"/>
            <a:ext cx="13716000" cy="548640"/>
          </a:xfrm>
          <a:prstGeom prst="rect">
            <a:avLst/>
          </a:prstGeom>
          <a:noFill/>
          <a:ln/>
        </p:spPr>
        <p:txBody>
          <a:bodyPr wrap="square" lIns="0" tIns="0" rIns="0" bIns="0" rtlCol="0" anchor="ctr"/>
          <a:lstStyle/>
          <a:p>
            <a:pPr indent="0" marL="0">
              <a:buNone/>
            </a:pPr>
            <a:r>
              <a:rPr lang="en-US" sz="2000" dirty="0">
                <a:solidFill>
                  <a:srgbClr val="B9B9C2"/>
                </a:solidFill>
                <a:latin typeface="Arial"/>
                <a:ea typeface="Arial"/>
                <a:cs typeface="Arial"/>
              </a:rPr>
              <a:t>Three planes of detection, converged by a deterministic policy engine, before delivery.</a:t>
            </a:r>
            <a:endParaRPr lang="en-US" sz="2000" dirty="0"/>
          </a:p>
        </p:txBody>
      </p:sp>
      <p:sp>
        <p:nvSpPr>
          <p:cNvPr id="5" name="Text 3"/>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B9B9C2"/>
                </a:solidFill>
                <a:latin typeface="Arial"/>
                <a:ea typeface="Arial"/>
                <a:cs typeface="Arial"/>
              </a:rPr>
              <a:t>Copyright © 2026 Accenture. All rights reserved.</a:t>
            </a:r>
            <a:endParaRPr lang="en-US" sz="1000" dirty="0"/>
          </a:p>
        </p:txBody>
      </p:sp>
      <p:sp>
        <p:nvSpPr>
          <p:cNvPr id="6" name="Text 4"/>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B9B9C2"/>
                </a:solidFill>
                <a:latin typeface="Arial"/>
                <a:ea typeface="Arial"/>
                <a:cs typeface="Arial"/>
              </a:rPr>
              <a:t>8</a:t>
            </a:r>
            <a:endParaRPr lang="en-US" sz="10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02 · THE SOLUTION</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The request lifecycle, and where the decision happens.</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A reverse proxy on the response path. The application changes one base URL and keeps its own SDK.</a:t>
            </a:r>
            <a:endParaRPr lang="en-US" sz="2000" dirty="0"/>
          </a:p>
        </p:txBody>
      </p:sp>
      <p:sp>
        <p:nvSpPr>
          <p:cNvPr id="5" name="Shape 3"/>
          <p:cNvSpPr/>
          <p:nvPr/>
        </p:nvSpPr>
        <p:spPr>
          <a:xfrm>
            <a:off x="685800" y="3291840"/>
            <a:ext cx="2606040" cy="3200400"/>
          </a:xfrm>
          <a:prstGeom prst="roundRect">
            <a:avLst>
              <a:gd name="adj" fmla="val 4211"/>
            </a:avLst>
          </a:prstGeom>
          <a:solidFill>
            <a:srgbClr val="FFFFFF"/>
          </a:solidFill>
          <a:ln w="12700">
            <a:solidFill>
              <a:srgbClr val="D9D9DD"/>
            </a:solidFill>
            <a:prstDash val="solid"/>
          </a:ln>
        </p:spPr>
      </p:sp>
      <p:sp>
        <p:nvSpPr>
          <p:cNvPr id="6" name="Text 4"/>
          <p:cNvSpPr txBox="1"/>
          <p:nvPr/>
        </p:nvSpPr>
        <p:spPr>
          <a:xfrm>
            <a:off x="960120" y="3529584"/>
            <a:ext cx="1097280" cy="310896"/>
          </a:xfrm>
          <a:prstGeom prst="rect">
            <a:avLst/>
          </a:prstGeom>
          <a:noFill/>
          <a:ln/>
        </p:spPr>
        <p:txBody>
          <a:bodyPr wrap="square" lIns="0" tIns="0" rIns="0" bIns="0" rtlCol="0" anchor="ctr"/>
          <a:lstStyle/>
          <a:p>
            <a:pPr indent="0" marL="0">
              <a:buNone/>
            </a:pPr>
            <a:r>
              <a:rPr lang="en-US" sz="1200" b="1" spc="150" kern="0" dirty="0">
                <a:solidFill>
                  <a:srgbClr val="75758A"/>
                </a:solidFill>
                <a:latin typeface="Courier New"/>
                <a:ea typeface="Courier New"/>
                <a:cs typeface="Courier New"/>
              </a:rPr>
              <a:t>01</a:t>
            </a:r>
            <a:endParaRPr lang="en-US" sz="1200" dirty="0"/>
          </a:p>
        </p:txBody>
      </p:sp>
      <p:sp>
        <p:nvSpPr>
          <p:cNvPr id="7" name="Text 5"/>
          <p:cNvSpPr txBox="1"/>
          <p:nvPr/>
        </p:nvSpPr>
        <p:spPr>
          <a:xfrm>
            <a:off x="960120" y="3895344"/>
            <a:ext cx="2057400" cy="822960"/>
          </a:xfrm>
          <a:prstGeom prst="rect">
            <a:avLst/>
          </a:prstGeom>
          <a:noFill/>
          <a:ln/>
        </p:spPr>
        <p:txBody>
          <a:bodyPr wrap="square" lIns="0" tIns="0" rIns="0" bIns="0" rtlCol="0" anchor="t"/>
          <a:lstStyle/>
          <a:p>
            <a:pPr indent="0" marL="0">
              <a:buNone/>
            </a:pPr>
            <a:r>
              <a:rPr lang="en-US" sz="2000" spc="-50" kern="0" dirty="0">
                <a:solidFill>
                  <a:srgbClr val="17171C"/>
                </a:solidFill>
                <a:latin typeface="Arial"/>
                <a:ea typeface="Arial"/>
                <a:cs typeface="Arial"/>
              </a:rPr>
              <a:t>Application</a:t>
            </a:r>
            <a:endParaRPr lang="en-US" sz="2000" dirty="0"/>
          </a:p>
        </p:txBody>
      </p:sp>
      <p:sp>
        <p:nvSpPr>
          <p:cNvPr id="8" name="Text 6"/>
          <p:cNvSpPr txBox="1"/>
          <p:nvPr/>
        </p:nvSpPr>
        <p:spPr>
          <a:xfrm>
            <a:off x="960120" y="4754880"/>
            <a:ext cx="2057400" cy="1463040"/>
          </a:xfrm>
          <a:prstGeom prst="rect">
            <a:avLst/>
          </a:prstGeom>
          <a:noFill/>
          <a:ln/>
        </p:spPr>
        <p:txBody>
          <a:bodyPr wrap="square" lIns="0" tIns="0" rIns="0" bIns="0" rtlCol="0" anchor="t"/>
          <a:lstStyle/>
          <a:p>
            <a:pPr indent="0" marL="0">
              <a:lnSpc>
                <a:spcPct val="112000"/>
              </a:lnSpc>
              <a:buNone/>
            </a:pPr>
            <a:r>
              <a:rPr lang="en-US" sz="1300" dirty="0">
                <a:solidFill>
                  <a:srgbClr val="616161"/>
                </a:solidFill>
                <a:latin typeface="Arial"/>
                <a:ea typeface="Arial"/>
                <a:cs typeface="Arial"/>
              </a:rPr>
              <a:t>Calls the gateway instead of the provider. One base URL, no SDK change.</a:t>
            </a:r>
            <a:endParaRPr lang="en-US" sz="1300" dirty="0"/>
          </a:p>
        </p:txBody>
      </p:sp>
      <p:sp>
        <p:nvSpPr>
          <p:cNvPr id="9" name="Shape 7"/>
          <p:cNvSpPr/>
          <p:nvPr/>
        </p:nvSpPr>
        <p:spPr>
          <a:xfrm>
            <a:off x="3319272" y="4892040"/>
            <a:ext cx="164592" cy="0"/>
          </a:xfrm>
          <a:prstGeom prst="line">
            <a:avLst/>
          </a:prstGeom>
          <a:noFill/>
          <a:ln w="12700">
            <a:solidFill>
              <a:srgbClr val="93939F"/>
            </a:solidFill>
            <a:prstDash val="solid"/>
            <a:tailEnd type="triangle"/>
          </a:ln>
        </p:spPr>
      </p:sp>
      <p:sp>
        <p:nvSpPr>
          <p:cNvPr id="10" name="Shape 8"/>
          <p:cNvSpPr/>
          <p:nvPr/>
        </p:nvSpPr>
        <p:spPr>
          <a:xfrm>
            <a:off x="3511296" y="3291840"/>
            <a:ext cx="2606040" cy="3200400"/>
          </a:xfrm>
          <a:prstGeom prst="roundRect">
            <a:avLst>
              <a:gd name="adj" fmla="val 4211"/>
            </a:avLst>
          </a:prstGeom>
          <a:solidFill>
            <a:srgbClr val="FFFFFF"/>
          </a:solidFill>
          <a:ln w="12700">
            <a:solidFill>
              <a:srgbClr val="D9D9DD"/>
            </a:solidFill>
            <a:prstDash val="solid"/>
          </a:ln>
        </p:spPr>
      </p:sp>
      <p:sp>
        <p:nvSpPr>
          <p:cNvPr id="11" name="Text 9"/>
          <p:cNvSpPr txBox="1"/>
          <p:nvPr/>
        </p:nvSpPr>
        <p:spPr>
          <a:xfrm>
            <a:off x="3785616" y="3529584"/>
            <a:ext cx="1097280" cy="310896"/>
          </a:xfrm>
          <a:prstGeom prst="rect">
            <a:avLst/>
          </a:prstGeom>
          <a:noFill/>
          <a:ln/>
        </p:spPr>
        <p:txBody>
          <a:bodyPr wrap="square" lIns="0" tIns="0" rIns="0" bIns="0" rtlCol="0" anchor="ctr"/>
          <a:lstStyle/>
          <a:p>
            <a:pPr indent="0" marL="0">
              <a:buNone/>
            </a:pPr>
            <a:r>
              <a:rPr lang="en-US" sz="1200" b="1" spc="150" kern="0" dirty="0">
                <a:solidFill>
                  <a:srgbClr val="75758A"/>
                </a:solidFill>
                <a:latin typeface="Courier New"/>
                <a:ea typeface="Courier New"/>
                <a:cs typeface="Courier New"/>
              </a:rPr>
              <a:t>02</a:t>
            </a:r>
            <a:endParaRPr lang="en-US" sz="1200" dirty="0"/>
          </a:p>
        </p:txBody>
      </p:sp>
      <p:sp>
        <p:nvSpPr>
          <p:cNvPr id="12" name="Text 10"/>
          <p:cNvSpPr txBox="1"/>
          <p:nvPr/>
        </p:nvSpPr>
        <p:spPr>
          <a:xfrm>
            <a:off x="3785616" y="3895344"/>
            <a:ext cx="2057400" cy="822960"/>
          </a:xfrm>
          <a:prstGeom prst="rect">
            <a:avLst/>
          </a:prstGeom>
          <a:noFill/>
          <a:ln/>
        </p:spPr>
        <p:txBody>
          <a:bodyPr wrap="square" lIns="0" tIns="0" rIns="0" bIns="0" rtlCol="0" anchor="t"/>
          <a:lstStyle/>
          <a:p>
            <a:pPr indent="0" marL="0">
              <a:buNone/>
            </a:pPr>
            <a:r>
              <a:rPr lang="en-US" sz="2000" spc="-50" kern="0" dirty="0">
                <a:solidFill>
                  <a:srgbClr val="17171C"/>
                </a:solidFill>
                <a:latin typeface="Arial"/>
                <a:ea typeface="Arial"/>
                <a:cs typeface="Arial"/>
              </a:rPr>
              <a:t>Input lane</a:t>
            </a:r>
            <a:endParaRPr lang="en-US" sz="2000" dirty="0"/>
          </a:p>
        </p:txBody>
      </p:sp>
      <p:sp>
        <p:nvSpPr>
          <p:cNvPr id="13" name="Text 11"/>
          <p:cNvSpPr txBox="1"/>
          <p:nvPr/>
        </p:nvSpPr>
        <p:spPr>
          <a:xfrm>
            <a:off x="3785616" y="4754880"/>
            <a:ext cx="2057400" cy="1463040"/>
          </a:xfrm>
          <a:prstGeom prst="rect">
            <a:avLst/>
          </a:prstGeom>
          <a:noFill/>
          <a:ln/>
        </p:spPr>
        <p:txBody>
          <a:bodyPr wrap="square" lIns="0" tIns="0" rIns="0" bIns="0" rtlCol="0" anchor="t"/>
          <a:lstStyle/>
          <a:p>
            <a:pPr indent="0" marL="0">
              <a:lnSpc>
                <a:spcPct val="112000"/>
              </a:lnSpc>
              <a:buNone/>
            </a:pPr>
            <a:r>
              <a:rPr lang="en-US" sz="1300" dirty="0">
                <a:solidFill>
                  <a:srgbClr val="616161"/>
                </a:solidFill>
                <a:latin typeface="Arial"/>
                <a:ea typeface="Arial"/>
                <a:cs typeface="Arial"/>
              </a:rPr>
              <a:t>Pre-dispatch redaction and injection screening. A block here costs zero upstream tokens.</a:t>
            </a:r>
            <a:endParaRPr lang="en-US" sz="1300" dirty="0"/>
          </a:p>
        </p:txBody>
      </p:sp>
      <p:sp>
        <p:nvSpPr>
          <p:cNvPr id="14" name="Shape 12"/>
          <p:cNvSpPr/>
          <p:nvPr/>
        </p:nvSpPr>
        <p:spPr>
          <a:xfrm>
            <a:off x="6144768" y="4892040"/>
            <a:ext cx="164592" cy="0"/>
          </a:xfrm>
          <a:prstGeom prst="line">
            <a:avLst/>
          </a:prstGeom>
          <a:noFill/>
          <a:ln w="12700">
            <a:solidFill>
              <a:srgbClr val="93939F"/>
            </a:solidFill>
            <a:prstDash val="solid"/>
            <a:tailEnd type="triangle"/>
          </a:ln>
        </p:spPr>
      </p:sp>
      <p:sp>
        <p:nvSpPr>
          <p:cNvPr id="15" name="Shape 13"/>
          <p:cNvSpPr/>
          <p:nvPr/>
        </p:nvSpPr>
        <p:spPr>
          <a:xfrm>
            <a:off x="6336792" y="3291840"/>
            <a:ext cx="2606040" cy="3200400"/>
          </a:xfrm>
          <a:prstGeom prst="roundRect">
            <a:avLst>
              <a:gd name="adj" fmla="val 4211"/>
            </a:avLst>
          </a:prstGeom>
          <a:solidFill>
            <a:srgbClr val="FFFFFF"/>
          </a:solidFill>
          <a:ln w="12700">
            <a:solidFill>
              <a:srgbClr val="D9D9DD"/>
            </a:solidFill>
            <a:prstDash val="solid"/>
          </a:ln>
        </p:spPr>
      </p:sp>
      <p:sp>
        <p:nvSpPr>
          <p:cNvPr id="16" name="Text 14"/>
          <p:cNvSpPr txBox="1"/>
          <p:nvPr/>
        </p:nvSpPr>
        <p:spPr>
          <a:xfrm>
            <a:off x="6611112" y="3529584"/>
            <a:ext cx="1097280" cy="310896"/>
          </a:xfrm>
          <a:prstGeom prst="rect">
            <a:avLst/>
          </a:prstGeom>
          <a:noFill/>
          <a:ln/>
        </p:spPr>
        <p:txBody>
          <a:bodyPr wrap="square" lIns="0" tIns="0" rIns="0" bIns="0" rtlCol="0" anchor="ctr"/>
          <a:lstStyle/>
          <a:p>
            <a:pPr indent="0" marL="0">
              <a:buNone/>
            </a:pPr>
            <a:r>
              <a:rPr lang="en-US" sz="1200" b="1" spc="150" kern="0" dirty="0">
                <a:solidFill>
                  <a:srgbClr val="75758A"/>
                </a:solidFill>
                <a:latin typeface="Courier New"/>
                <a:ea typeface="Courier New"/>
                <a:cs typeface="Courier New"/>
              </a:rPr>
              <a:t>03</a:t>
            </a:r>
            <a:endParaRPr lang="en-US" sz="1200" dirty="0"/>
          </a:p>
        </p:txBody>
      </p:sp>
      <p:sp>
        <p:nvSpPr>
          <p:cNvPr id="17" name="Text 15"/>
          <p:cNvSpPr txBox="1"/>
          <p:nvPr/>
        </p:nvSpPr>
        <p:spPr>
          <a:xfrm>
            <a:off x="6611112" y="3895344"/>
            <a:ext cx="2057400" cy="822960"/>
          </a:xfrm>
          <a:prstGeom prst="rect">
            <a:avLst/>
          </a:prstGeom>
          <a:noFill/>
          <a:ln/>
        </p:spPr>
        <p:txBody>
          <a:bodyPr wrap="square" lIns="0" tIns="0" rIns="0" bIns="0" rtlCol="0" anchor="t"/>
          <a:lstStyle/>
          <a:p>
            <a:pPr indent="0" marL="0">
              <a:buNone/>
            </a:pPr>
            <a:r>
              <a:rPr lang="en-US" sz="2000" spc="-50" kern="0" dirty="0">
                <a:solidFill>
                  <a:srgbClr val="17171C"/>
                </a:solidFill>
                <a:latin typeface="Arial"/>
                <a:ea typeface="Arial"/>
                <a:cs typeface="Arial"/>
              </a:rPr>
              <a:t>Sentence hold</a:t>
            </a:r>
            <a:endParaRPr lang="en-US" sz="2000" dirty="0"/>
          </a:p>
        </p:txBody>
      </p:sp>
      <p:sp>
        <p:nvSpPr>
          <p:cNvPr id="18" name="Text 16"/>
          <p:cNvSpPr txBox="1"/>
          <p:nvPr/>
        </p:nvSpPr>
        <p:spPr>
          <a:xfrm>
            <a:off x="6611112" y="4754880"/>
            <a:ext cx="2057400" cy="1463040"/>
          </a:xfrm>
          <a:prstGeom prst="rect">
            <a:avLst/>
          </a:prstGeom>
          <a:noFill/>
          <a:ln/>
        </p:spPr>
        <p:txBody>
          <a:bodyPr wrap="square" lIns="0" tIns="0" rIns="0" bIns="0" rtlCol="0" anchor="t"/>
          <a:lstStyle/>
          <a:p>
            <a:pPr indent="0" marL="0">
              <a:lnSpc>
                <a:spcPct val="112000"/>
              </a:lnSpc>
              <a:buNone/>
            </a:pPr>
            <a:r>
              <a:rPr lang="en-US" sz="1300" dirty="0">
                <a:solidFill>
                  <a:srgbClr val="616161"/>
                </a:solidFill>
                <a:latin typeface="Arial"/>
                <a:ea typeface="Arial"/>
                <a:cs typeface="Arial"/>
              </a:rPr>
              <a:t>The response is buffered by sentence, not by token and not in full.</a:t>
            </a:r>
            <a:endParaRPr lang="en-US" sz="1300" dirty="0"/>
          </a:p>
        </p:txBody>
      </p:sp>
      <p:sp>
        <p:nvSpPr>
          <p:cNvPr id="19" name="Shape 17"/>
          <p:cNvSpPr/>
          <p:nvPr/>
        </p:nvSpPr>
        <p:spPr>
          <a:xfrm>
            <a:off x="8970264" y="4892040"/>
            <a:ext cx="164592" cy="0"/>
          </a:xfrm>
          <a:prstGeom prst="line">
            <a:avLst/>
          </a:prstGeom>
          <a:noFill/>
          <a:ln w="12700">
            <a:solidFill>
              <a:srgbClr val="93939F"/>
            </a:solidFill>
            <a:prstDash val="solid"/>
            <a:tailEnd type="triangle"/>
          </a:ln>
        </p:spPr>
      </p:sp>
      <p:sp>
        <p:nvSpPr>
          <p:cNvPr id="20" name="Shape 18"/>
          <p:cNvSpPr/>
          <p:nvPr/>
        </p:nvSpPr>
        <p:spPr>
          <a:xfrm>
            <a:off x="9162288" y="3291840"/>
            <a:ext cx="2606040" cy="3200400"/>
          </a:xfrm>
          <a:prstGeom prst="roundRect">
            <a:avLst>
              <a:gd name="adj" fmla="val 4211"/>
            </a:avLst>
          </a:prstGeom>
          <a:solidFill>
            <a:srgbClr val="FFFFFF"/>
          </a:solidFill>
          <a:ln w="12700">
            <a:solidFill>
              <a:srgbClr val="D9D9DD"/>
            </a:solidFill>
            <a:prstDash val="solid"/>
          </a:ln>
        </p:spPr>
      </p:sp>
      <p:sp>
        <p:nvSpPr>
          <p:cNvPr id="21" name="Text 19"/>
          <p:cNvSpPr txBox="1"/>
          <p:nvPr/>
        </p:nvSpPr>
        <p:spPr>
          <a:xfrm>
            <a:off x="9436608" y="3529584"/>
            <a:ext cx="1097280" cy="310896"/>
          </a:xfrm>
          <a:prstGeom prst="rect">
            <a:avLst/>
          </a:prstGeom>
          <a:noFill/>
          <a:ln/>
        </p:spPr>
        <p:txBody>
          <a:bodyPr wrap="square" lIns="0" tIns="0" rIns="0" bIns="0" rtlCol="0" anchor="ctr"/>
          <a:lstStyle/>
          <a:p>
            <a:pPr indent="0" marL="0">
              <a:buNone/>
            </a:pPr>
            <a:r>
              <a:rPr lang="en-US" sz="1200" b="1" spc="150" kern="0" dirty="0">
                <a:solidFill>
                  <a:srgbClr val="75758A"/>
                </a:solidFill>
                <a:latin typeface="Courier New"/>
                <a:ea typeface="Courier New"/>
                <a:cs typeface="Courier New"/>
              </a:rPr>
              <a:t>04</a:t>
            </a:r>
            <a:endParaRPr lang="en-US" sz="1200" dirty="0"/>
          </a:p>
        </p:txBody>
      </p:sp>
      <p:sp>
        <p:nvSpPr>
          <p:cNvPr id="22" name="Text 20"/>
          <p:cNvSpPr txBox="1"/>
          <p:nvPr/>
        </p:nvSpPr>
        <p:spPr>
          <a:xfrm>
            <a:off x="9436608" y="3895344"/>
            <a:ext cx="2057400" cy="822960"/>
          </a:xfrm>
          <a:prstGeom prst="rect">
            <a:avLst/>
          </a:prstGeom>
          <a:noFill/>
          <a:ln/>
        </p:spPr>
        <p:txBody>
          <a:bodyPr wrap="square" lIns="0" tIns="0" rIns="0" bIns="0" rtlCol="0" anchor="t"/>
          <a:lstStyle/>
          <a:p>
            <a:pPr indent="0" marL="0">
              <a:buNone/>
            </a:pPr>
            <a:r>
              <a:rPr lang="en-US" sz="2000" spc="-50" kern="0" dirty="0">
                <a:solidFill>
                  <a:srgbClr val="17171C"/>
                </a:solidFill>
                <a:latin typeface="Arial"/>
                <a:ea typeface="Arial"/>
                <a:cs typeface="Arial"/>
              </a:rPr>
              <a:t>Detection planes</a:t>
            </a:r>
            <a:endParaRPr lang="en-US" sz="2000" dirty="0"/>
          </a:p>
        </p:txBody>
      </p:sp>
      <p:sp>
        <p:nvSpPr>
          <p:cNvPr id="23" name="Text 21"/>
          <p:cNvSpPr txBox="1"/>
          <p:nvPr/>
        </p:nvSpPr>
        <p:spPr>
          <a:xfrm>
            <a:off x="9436608" y="4754880"/>
            <a:ext cx="2057400" cy="1463040"/>
          </a:xfrm>
          <a:prstGeom prst="rect">
            <a:avLst/>
          </a:prstGeom>
          <a:noFill/>
          <a:ln/>
        </p:spPr>
        <p:txBody>
          <a:bodyPr wrap="square" lIns="0" tIns="0" rIns="0" bIns="0" rtlCol="0" anchor="t"/>
          <a:lstStyle/>
          <a:p>
            <a:pPr indent="0" marL="0">
              <a:lnSpc>
                <a:spcPct val="112000"/>
              </a:lnSpc>
              <a:buNone/>
            </a:pPr>
            <a:r>
              <a:rPr lang="en-US" sz="1300" dirty="0">
                <a:solidFill>
                  <a:srgbClr val="616161"/>
                </a:solidFill>
                <a:latin typeface="Arial"/>
                <a:ea typeface="Arial"/>
                <a:cs typeface="Arial"/>
              </a:rPr>
              <a:t>Deterministic matchers plus quantized CPU classifiers, each under its own budget.</a:t>
            </a:r>
            <a:endParaRPr lang="en-US" sz="1300" dirty="0"/>
          </a:p>
        </p:txBody>
      </p:sp>
      <p:sp>
        <p:nvSpPr>
          <p:cNvPr id="24" name="Shape 22"/>
          <p:cNvSpPr/>
          <p:nvPr/>
        </p:nvSpPr>
        <p:spPr>
          <a:xfrm>
            <a:off x="11795760" y="4892040"/>
            <a:ext cx="164592" cy="0"/>
          </a:xfrm>
          <a:prstGeom prst="line">
            <a:avLst/>
          </a:prstGeom>
          <a:noFill/>
          <a:ln w="12700">
            <a:solidFill>
              <a:srgbClr val="93939F"/>
            </a:solidFill>
            <a:prstDash val="solid"/>
            <a:tailEnd type="triangle"/>
          </a:ln>
        </p:spPr>
      </p:sp>
      <p:sp>
        <p:nvSpPr>
          <p:cNvPr id="25" name="Shape 23"/>
          <p:cNvSpPr/>
          <p:nvPr/>
        </p:nvSpPr>
        <p:spPr>
          <a:xfrm>
            <a:off x="11987784" y="3291840"/>
            <a:ext cx="2606040" cy="3200400"/>
          </a:xfrm>
          <a:prstGeom prst="roundRect">
            <a:avLst>
              <a:gd name="adj" fmla="val 4211"/>
            </a:avLst>
          </a:prstGeom>
          <a:solidFill>
            <a:srgbClr val="EEECE7"/>
          </a:solidFill>
          <a:ln w="12700">
            <a:solidFill>
              <a:srgbClr val="EEECE7"/>
            </a:solidFill>
            <a:prstDash val="solid"/>
          </a:ln>
        </p:spPr>
      </p:sp>
      <p:sp>
        <p:nvSpPr>
          <p:cNvPr id="26" name="Text 24"/>
          <p:cNvSpPr txBox="1"/>
          <p:nvPr/>
        </p:nvSpPr>
        <p:spPr>
          <a:xfrm>
            <a:off x="12262104" y="3529584"/>
            <a:ext cx="1097280" cy="310896"/>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05</a:t>
            </a:r>
            <a:endParaRPr lang="en-US" sz="1200" dirty="0"/>
          </a:p>
        </p:txBody>
      </p:sp>
      <p:sp>
        <p:nvSpPr>
          <p:cNvPr id="27" name="Text 25"/>
          <p:cNvSpPr txBox="1"/>
          <p:nvPr/>
        </p:nvSpPr>
        <p:spPr>
          <a:xfrm>
            <a:off x="12262104" y="3895344"/>
            <a:ext cx="2057400" cy="822960"/>
          </a:xfrm>
          <a:prstGeom prst="rect">
            <a:avLst/>
          </a:prstGeom>
          <a:noFill/>
          <a:ln/>
        </p:spPr>
        <p:txBody>
          <a:bodyPr wrap="square" lIns="0" tIns="0" rIns="0" bIns="0" rtlCol="0" anchor="t"/>
          <a:lstStyle/>
          <a:p>
            <a:pPr indent="0" marL="0">
              <a:buNone/>
            </a:pPr>
            <a:r>
              <a:rPr lang="en-US" sz="2000" spc="-50" kern="0" dirty="0">
                <a:solidFill>
                  <a:srgbClr val="17171C"/>
                </a:solidFill>
                <a:latin typeface="Arial"/>
                <a:ea typeface="Arial"/>
                <a:cs typeface="Arial"/>
              </a:rPr>
              <a:t>Policy engine</a:t>
            </a:r>
            <a:endParaRPr lang="en-US" sz="2000" dirty="0"/>
          </a:p>
        </p:txBody>
      </p:sp>
      <p:sp>
        <p:nvSpPr>
          <p:cNvPr id="28" name="Text 26"/>
          <p:cNvSpPr txBox="1"/>
          <p:nvPr/>
        </p:nvSpPr>
        <p:spPr>
          <a:xfrm>
            <a:off x="12262104" y="4754880"/>
            <a:ext cx="2057400" cy="1463040"/>
          </a:xfrm>
          <a:prstGeom prst="rect">
            <a:avLst/>
          </a:prstGeom>
          <a:noFill/>
          <a:ln/>
        </p:spPr>
        <p:txBody>
          <a:bodyPr wrap="square" lIns="0" tIns="0" rIns="0" bIns="0" rtlCol="0" anchor="t"/>
          <a:lstStyle/>
          <a:p>
            <a:pPr indent="0" marL="0">
              <a:lnSpc>
                <a:spcPct val="112000"/>
              </a:lnSpc>
              <a:buNone/>
            </a:pPr>
            <a:r>
              <a:rPr lang="en-US" sz="1300" dirty="0">
                <a:solidFill>
                  <a:srgbClr val="616161"/>
                </a:solidFill>
                <a:latin typeface="Arial"/>
                <a:ea typeface="Arial"/>
                <a:cs typeface="Arial"/>
              </a:rPr>
              <a:t>Signals converge to one verdict under the use case's own YAML.</a:t>
            </a:r>
            <a:endParaRPr lang="en-US" sz="1300" dirty="0"/>
          </a:p>
        </p:txBody>
      </p:sp>
      <p:sp>
        <p:nvSpPr>
          <p:cNvPr id="29" name="Shape 27"/>
          <p:cNvSpPr/>
          <p:nvPr/>
        </p:nvSpPr>
        <p:spPr>
          <a:xfrm>
            <a:off x="14621256" y="4892040"/>
            <a:ext cx="164592" cy="0"/>
          </a:xfrm>
          <a:prstGeom prst="line">
            <a:avLst/>
          </a:prstGeom>
          <a:noFill/>
          <a:ln w="12700">
            <a:solidFill>
              <a:srgbClr val="93939F"/>
            </a:solidFill>
            <a:prstDash val="solid"/>
            <a:tailEnd type="triangle"/>
          </a:ln>
        </p:spPr>
      </p:sp>
      <p:sp>
        <p:nvSpPr>
          <p:cNvPr id="30" name="Shape 28"/>
          <p:cNvSpPr/>
          <p:nvPr/>
        </p:nvSpPr>
        <p:spPr>
          <a:xfrm>
            <a:off x="14813280" y="3291840"/>
            <a:ext cx="2606040" cy="3200400"/>
          </a:xfrm>
          <a:prstGeom prst="roundRect">
            <a:avLst>
              <a:gd name="adj" fmla="val 4211"/>
            </a:avLst>
          </a:prstGeom>
          <a:solidFill>
            <a:srgbClr val="FFFFFF"/>
          </a:solidFill>
          <a:ln w="12700">
            <a:solidFill>
              <a:srgbClr val="D9D9DD"/>
            </a:solidFill>
            <a:prstDash val="solid"/>
          </a:ln>
        </p:spPr>
      </p:sp>
      <p:sp>
        <p:nvSpPr>
          <p:cNvPr id="31" name="Text 29"/>
          <p:cNvSpPr txBox="1"/>
          <p:nvPr/>
        </p:nvSpPr>
        <p:spPr>
          <a:xfrm>
            <a:off x="15087600" y="3529584"/>
            <a:ext cx="1097280" cy="310896"/>
          </a:xfrm>
          <a:prstGeom prst="rect">
            <a:avLst/>
          </a:prstGeom>
          <a:noFill/>
          <a:ln/>
        </p:spPr>
        <p:txBody>
          <a:bodyPr wrap="square" lIns="0" tIns="0" rIns="0" bIns="0" rtlCol="0" anchor="ctr"/>
          <a:lstStyle/>
          <a:p>
            <a:pPr indent="0" marL="0">
              <a:buNone/>
            </a:pPr>
            <a:r>
              <a:rPr lang="en-US" sz="1200" b="1" spc="150" kern="0" dirty="0">
                <a:solidFill>
                  <a:srgbClr val="75758A"/>
                </a:solidFill>
                <a:latin typeface="Courier New"/>
                <a:ea typeface="Courier New"/>
                <a:cs typeface="Courier New"/>
              </a:rPr>
              <a:t>06</a:t>
            </a:r>
            <a:endParaRPr lang="en-US" sz="1200" dirty="0"/>
          </a:p>
        </p:txBody>
      </p:sp>
      <p:sp>
        <p:nvSpPr>
          <p:cNvPr id="32" name="Text 30"/>
          <p:cNvSpPr txBox="1"/>
          <p:nvPr/>
        </p:nvSpPr>
        <p:spPr>
          <a:xfrm>
            <a:off x="15087600" y="3895344"/>
            <a:ext cx="2057400" cy="822960"/>
          </a:xfrm>
          <a:prstGeom prst="rect">
            <a:avLst/>
          </a:prstGeom>
          <a:noFill/>
          <a:ln/>
        </p:spPr>
        <p:txBody>
          <a:bodyPr wrap="square" lIns="0" tIns="0" rIns="0" bIns="0" rtlCol="0" anchor="t"/>
          <a:lstStyle/>
          <a:p>
            <a:pPr indent="0" marL="0">
              <a:buNone/>
            </a:pPr>
            <a:r>
              <a:rPr lang="en-US" sz="2000" spc="-50" kern="0" dirty="0">
                <a:solidFill>
                  <a:srgbClr val="17171C"/>
                </a:solidFill>
                <a:latin typeface="Arial"/>
                <a:ea typeface="Arial"/>
                <a:cs typeface="Arial"/>
              </a:rPr>
              <a:t>Delivery</a:t>
            </a:r>
            <a:endParaRPr lang="en-US" sz="2000" dirty="0"/>
          </a:p>
        </p:txBody>
      </p:sp>
      <p:sp>
        <p:nvSpPr>
          <p:cNvPr id="33" name="Text 31"/>
          <p:cNvSpPr txBox="1"/>
          <p:nvPr/>
        </p:nvSpPr>
        <p:spPr>
          <a:xfrm>
            <a:off x="15087600" y="4754880"/>
            <a:ext cx="2057400" cy="1463040"/>
          </a:xfrm>
          <a:prstGeom prst="rect">
            <a:avLst/>
          </a:prstGeom>
          <a:noFill/>
          <a:ln/>
        </p:spPr>
        <p:txBody>
          <a:bodyPr wrap="square" lIns="0" tIns="0" rIns="0" bIns="0" rtlCol="0" anchor="t"/>
          <a:lstStyle/>
          <a:p>
            <a:pPr indent="0" marL="0">
              <a:lnSpc>
                <a:spcPct val="112000"/>
              </a:lnSpc>
              <a:buNone/>
            </a:pPr>
            <a:r>
              <a:rPr lang="en-US" sz="1300" dirty="0">
                <a:solidFill>
                  <a:srgbClr val="616161"/>
                </a:solidFill>
                <a:latin typeface="Arial"/>
                <a:ea typeface="Arial"/>
                <a:cs typeface="Arial"/>
              </a:rPr>
              <a:t>Pass, edit, block or escalate. The verdict is stamped and audited.</a:t>
            </a:r>
            <a:endParaRPr lang="en-US" sz="1300" dirty="0"/>
          </a:p>
        </p:txBody>
      </p:sp>
      <p:sp>
        <p:nvSpPr>
          <p:cNvPr id="34" name="Shape 32"/>
          <p:cNvSpPr/>
          <p:nvPr/>
        </p:nvSpPr>
        <p:spPr>
          <a:xfrm>
            <a:off x="685800" y="6949440"/>
            <a:ext cx="16916400" cy="0"/>
          </a:xfrm>
          <a:prstGeom prst="line">
            <a:avLst/>
          </a:prstGeom>
          <a:noFill/>
          <a:ln w="9525">
            <a:solidFill>
              <a:srgbClr val="D9D9DD"/>
            </a:solidFill>
            <a:prstDash val="solid"/>
          </a:ln>
        </p:spPr>
      </p:sp>
      <p:sp>
        <p:nvSpPr>
          <p:cNvPr id="35" name="Text 33"/>
          <p:cNvSpPr txBox="1"/>
          <p:nvPr/>
        </p:nvSpPr>
        <p:spPr>
          <a:xfrm>
            <a:off x="685800" y="7178040"/>
            <a:ext cx="15087600" cy="914400"/>
          </a:xfrm>
          <a:prstGeom prst="rect">
            <a:avLst/>
          </a:prstGeom>
          <a:noFill/>
          <a:ln/>
        </p:spPr>
        <p:txBody>
          <a:bodyPr wrap="square" lIns="0" tIns="0" rIns="0" bIns="0" rtlCol="0" anchor="t"/>
          <a:lstStyle/>
          <a:p>
            <a:pPr indent="0" marL="0">
              <a:lnSpc>
                <a:spcPct val="115000"/>
              </a:lnSpc>
              <a:buNone/>
            </a:pPr>
            <a:r>
              <a:rPr lang="en-US" sz="1600" dirty="0">
                <a:solidFill>
                  <a:srgbClr val="616161"/>
                </a:solidFill>
                <a:latin typeface="Arial"/>
                <a:ea typeface="Arial"/>
                <a:cs typeface="Arial"/>
              </a:rPr>
              <a:t>The hot path holds nothing it cannot afford. Semantic entropy, fairness audits and LLM-judge scoring run on an async lane and are never awaited before delivery.</a:t>
            </a:r>
            <a:endParaRPr lang="en-US" sz="1600" dirty="0"/>
          </a:p>
        </p:txBody>
      </p:sp>
      <p:sp>
        <p:nvSpPr>
          <p:cNvPr id="36" name="Text 34"/>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Source: docs/02-architecture.md, docs/04-policy-and-detection-spec.md</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Courier New"/>
                <a:ea typeface="Courier New"/>
                <a:cs typeface="Courier New"/>
              </a:rPr>
              <a:t>[B-06]</a:t>
            </a:r>
            <a:endParaRPr lang="en-US" sz="1200" dirty="0"/>
          </a:p>
        </p:txBody>
      </p:sp>
      <p:sp>
        <p:nvSpPr>
          <p:cNvPr id="37" name="Text 35"/>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38" name="Text 36"/>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10</a:t>
            </a:r>
            <a:endParaRPr lang="en-US" sz="10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02 · THE SOLUTION</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One sentence can be two problems at once.</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Detectors emit independent, multi-label signals. Only the policy engine converges them, so no plane can silence another.</a:t>
            </a:r>
            <a:endParaRPr lang="en-US" sz="2000" dirty="0"/>
          </a:p>
        </p:txBody>
      </p:sp>
      <p:sp>
        <p:nvSpPr>
          <p:cNvPr id="5" name="Shape 3"/>
          <p:cNvSpPr/>
          <p:nvPr/>
        </p:nvSpPr>
        <p:spPr>
          <a:xfrm>
            <a:off x="685800" y="3200400"/>
            <a:ext cx="7863840" cy="1371600"/>
          </a:xfrm>
          <a:prstGeom prst="roundRect">
            <a:avLst>
              <a:gd name="adj" fmla="val 8000"/>
            </a:avLst>
          </a:prstGeom>
          <a:solidFill>
            <a:srgbClr val="EEECE7"/>
          </a:solidFill>
          <a:ln w="12700">
            <a:solidFill>
              <a:srgbClr val="EEECE7"/>
            </a:solidFill>
            <a:prstDash val="solid"/>
          </a:ln>
        </p:spPr>
      </p:sp>
      <p:sp>
        <p:nvSpPr>
          <p:cNvPr id="6" name="Text 4"/>
          <p:cNvSpPr txBox="1"/>
          <p:nvPr/>
        </p:nvSpPr>
        <p:spPr>
          <a:xfrm>
            <a:off x="1005840" y="3401568"/>
            <a:ext cx="7223760" cy="1005840"/>
          </a:xfrm>
          <a:prstGeom prst="rect">
            <a:avLst/>
          </a:prstGeom>
          <a:noFill/>
          <a:ln/>
        </p:spPr>
        <p:txBody>
          <a:bodyPr wrap="square" lIns="0" tIns="0" rIns="0" bIns="0" rtlCol="0" anchor="ctr"/>
          <a:lstStyle/>
          <a:p>
            <a:pPr indent="0" marL="0">
              <a:buNone/>
            </a:pPr>
            <a:r>
              <a:rPr lang="en-US" sz="2000" dirty="0">
                <a:solidFill>
                  <a:srgbClr val="17171C"/>
                </a:solidFill>
                <a:latin typeface="Arial"/>
                <a:ea typeface="Arial"/>
                <a:cs typeface="Arial"/>
              </a:rPr>
              <a:t>“I confirmed your refund with Priya on +91 98765 43210.”</a:t>
            </a:r>
            <a:endParaRPr lang="en-US" sz="2000" dirty="0"/>
          </a:p>
        </p:txBody>
      </p:sp>
      <p:sp>
        <p:nvSpPr>
          <p:cNvPr id="7" name="Text 5"/>
          <p:cNvSpPr txBox="1"/>
          <p:nvPr/>
        </p:nvSpPr>
        <p:spPr>
          <a:xfrm>
            <a:off x="685800" y="4937760"/>
            <a:ext cx="4937760" cy="365760"/>
          </a:xfrm>
          <a:prstGeom prst="rect">
            <a:avLst/>
          </a:prstGeom>
          <a:noFill/>
          <a:ln/>
        </p:spPr>
        <p:txBody>
          <a:bodyPr wrap="square" lIns="0" tIns="0" rIns="0" bIns="0" rtlCol="0" anchor="ctr"/>
          <a:lstStyle/>
          <a:p>
            <a:pPr indent="0" marL="0">
              <a:buNone/>
            </a:pPr>
            <a:r>
              <a:rPr lang="en-US" sz="1400" b="1" dirty="0">
                <a:solidFill>
                  <a:srgbClr val="17171C"/>
                </a:solidFill>
                <a:latin typeface="Courier New"/>
                <a:ea typeface="Courier New"/>
                <a:cs typeface="Courier New"/>
              </a:rPr>
              <a:t>hallucination.ungrounded_claim</a:t>
            </a:r>
            <a:endParaRPr lang="en-US" sz="1400" dirty="0"/>
          </a:p>
        </p:txBody>
      </p:sp>
      <p:sp>
        <p:nvSpPr>
          <p:cNvPr id="8" name="Text 6"/>
          <p:cNvSpPr txBox="1"/>
          <p:nvPr/>
        </p:nvSpPr>
        <p:spPr>
          <a:xfrm>
            <a:off x="5715000" y="4937760"/>
            <a:ext cx="2743200" cy="36576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Performance plane</a:t>
            </a:r>
            <a:endParaRPr lang="en-US" sz="1100" dirty="0"/>
          </a:p>
        </p:txBody>
      </p:sp>
      <p:sp>
        <p:nvSpPr>
          <p:cNvPr id="9" name="Text 7"/>
          <p:cNvSpPr txBox="1"/>
          <p:nvPr/>
        </p:nvSpPr>
        <p:spPr>
          <a:xfrm>
            <a:off x="685800" y="5321808"/>
            <a:ext cx="7863840" cy="457200"/>
          </a:xfrm>
          <a:prstGeom prst="rect">
            <a:avLst/>
          </a:prstGeom>
          <a:noFill/>
          <a:ln/>
        </p:spPr>
        <p:txBody>
          <a:bodyPr wrap="square" lIns="0" tIns="0" rIns="0" bIns="0" rtlCol="0" anchor="t"/>
          <a:lstStyle/>
          <a:p>
            <a:pPr indent="0" marL="0">
              <a:buNone/>
            </a:pPr>
            <a:r>
              <a:rPr lang="en-US" sz="1400" dirty="0">
                <a:solidFill>
                  <a:srgbClr val="616161"/>
                </a:solidFill>
                <a:latin typeface="Arial"/>
                <a:ea typeface="Arial"/>
                <a:cs typeface="Arial"/>
              </a:rPr>
              <a:t>rag_grounding: nothing in the provided context supports the confirmation. This signal carries the span.</a:t>
            </a:r>
            <a:endParaRPr lang="en-US" sz="1400" dirty="0"/>
          </a:p>
        </p:txBody>
      </p:sp>
      <p:sp>
        <p:nvSpPr>
          <p:cNvPr id="10" name="Shape 8"/>
          <p:cNvSpPr/>
          <p:nvPr/>
        </p:nvSpPr>
        <p:spPr>
          <a:xfrm>
            <a:off x="685800" y="5852160"/>
            <a:ext cx="7863840" cy="0"/>
          </a:xfrm>
          <a:prstGeom prst="line">
            <a:avLst/>
          </a:prstGeom>
          <a:noFill/>
          <a:ln w="9525">
            <a:solidFill>
              <a:srgbClr val="D9D9DD"/>
            </a:solidFill>
            <a:prstDash val="solid"/>
          </a:ln>
        </p:spPr>
      </p:sp>
      <p:sp>
        <p:nvSpPr>
          <p:cNvPr id="11" name="Text 9"/>
          <p:cNvSpPr txBox="1"/>
          <p:nvPr/>
        </p:nvSpPr>
        <p:spPr>
          <a:xfrm>
            <a:off x="685800" y="5989320"/>
            <a:ext cx="4937760" cy="365760"/>
          </a:xfrm>
          <a:prstGeom prst="rect">
            <a:avLst/>
          </a:prstGeom>
          <a:noFill/>
          <a:ln/>
        </p:spPr>
        <p:txBody>
          <a:bodyPr wrap="square" lIns="0" tIns="0" rIns="0" bIns="0" rtlCol="0" anchor="ctr"/>
          <a:lstStyle/>
          <a:p>
            <a:pPr indent="0" marL="0">
              <a:buNone/>
            </a:pPr>
            <a:r>
              <a:rPr lang="en-US" sz="1400" b="1" dirty="0">
                <a:solidFill>
                  <a:srgbClr val="17171C"/>
                </a:solidFill>
                <a:latin typeface="Courier New"/>
                <a:ea typeface="Courier New"/>
                <a:cs typeface="Courier New"/>
              </a:rPr>
              <a:t>privacy.person</a:t>
            </a:r>
            <a:endParaRPr lang="en-US" sz="1400" dirty="0"/>
          </a:p>
        </p:txBody>
      </p:sp>
      <p:sp>
        <p:nvSpPr>
          <p:cNvPr id="12" name="Text 10"/>
          <p:cNvSpPr txBox="1"/>
          <p:nvPr/>
        </p:nvSpPr>
        <p:spPr>
          <a:xfrm>
            <a:off x="5715000" y="5989320"/>
            <a:ext cx="2743200" cy="36576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Responsibility plane</a:t>
            </a:r>
            <a:endParaRPr lang="en-US" sz="1100" dirty="0"/>
          </a:p>
        </p:txBody>
      </p:sp>
      <p:sp>
        <p:nvSpPr>
          <p:cNvPr id="13" name="Text 11"/>
          <p:cNvSpPr txBox="1"/>
          <p:nvPr/>
        </p:nvSpPr>
        <p:spPr>
          <a:xfrm>
            <a:off x="685800" y="6373368"/>
            <a:ext cx="7863840" cy="457200"/>
          </a:xfrm>
          <a:prstGeom prst="rect">
            <a:avLst/>
          </a:prstGeom>
          <a:noFill/>
          <a:ln/>
        </p:spPr>
        <p:txBody>
          <a:bodyPr wrap="square" lIns="0" tIns="0" rIns="0" bIns="0" rtlCol="0" anchor="t"/>
          <a:lstStyle/>
          <a:p>
            <a:pPr indent="0" marL="0">
              <a:buNone/>
            </a:pPr>
            <a:r>
              <a:rPr lang="en-US" sz="1400" dirty="0">
                <a:solidFill>
                  <a:srgbClr val="616161"/>
                </a:solidFill>
                <a:latin typeface="Arial"/>
                <a:ea typeface="Arial"/>
                <a:cs typeface="Arial"/>
              </a:rPr>
              <a:t>entity_enricher appends this to the same signal and records that it did, so the engine cannot band-adjust it as a host label.</a:t>
            </a:r>
            <a:endParaRPr lang="en-US" sz="1400" dirty="0"/>
          </a:p>
        </p:txBody>
      </p:sp>
      <p:sp>
        <p:nvSpPr>
          <p:cNvPr id="14" name="Shape 12"/>
          <p:cNvSpPr/>
          <p:nvPr/>
        </p:nvSpPr>
        <p:spPr>
          <a:xfrm>
            <a:off x="685800" y="6903720"/>
            <a:ext cx="7863840" cy="0"/>
          </a:xfrm>
          <a:prstGeom prst="line">
            <a:avLst/>
          </a:prstGeom>
          <a:noFill/>
          <a:ln w="9525">
            <a:solidFill>
              <a:srgbClr val="D9D9DD"/>
            </a:solidFill>
            <a:prstDash val="solid"/>
          </a:ln>
        </p:spPr>
      </p:sp>
      <p:sp>
        <p:nvSpPr>
          <p:cNvPr id="15" name="Text 13"/>
          <p:cNvSpPr txBox="1"/>
          <p:nvPr/>
        </p:nvSpPr>
        <p:spPr>
          <a:xfrm>
            <a:off x="685800" y="7040880"/>
            <a:ext cx="4937760" cy="365760"/>
          </a:xfrm>
          <a:prstGeom prst="rect">
            <a:avLst/>
          </a:prstGeom>
          <a:noFill/>
          <a:ln/>
        </p:spPr>
        <p:txBody>
          <a:bodyPr wrap="square" lIns="0" tIns="0" rIns="0" bIns="0" rtlCol="0" anchor="ctr"/>
          <a:lstStyle/>
          <a:p>
            <a:pPr indent="0" marL="0">
              <a:buNone/>
            </a:pPr>
            <a:r>
              <a:rPr lang="en-US" sz="1400" b="1" dirty="0">
                <a:solidFill>
                  <a:srgbClr val="17171C"/>
                </a:solidFill>
                <a:latin typeface="Courier New"/>
                <a:ea typeface="Courier New"/>
                <a:cs typeface="Courier New"/>
              </a:rPr>
              <a:t>pii.phone</a:t>
            </a:r>
            <a:endParaRPr lang="en-US" sz="1400" dirty="0"/>
          </a:p>
        </p:txBody>
      </p:sp>
      <p:sp>
        <p:nvSpPr>
          <p:cNvPr id="16" name="Text 14"/>
          <p:cNvSpPr txBox="1"/>
          <p:nvPr/>
        </p:nvSpPr>
        <p:spPr>
          <a:xfrm>
            <a:off x="5715000" y="7040880"/>
            <a:ext cx="2743200" cy="36576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Responsibility plane</a:t>
            </a:r>
            <a:endParaRPr lang="en-US" sz="1100" dirty="0"/>
          </a:p>
        </p:txBody>
      </p:sp>
      <p:sp>
        <p:nvSpPr>
          <p:cNvPr id="17" name="Text 15"/>
          <p:cNvSpPr txBox="1"/>
          <p:nvPr/>
        </p:nvSpPr>
        <p:spPr>
          <a:xfrm>
            <a:off x="685800" y="7424928"/>
            <a:ext cx="7863840" cy="457200"/>
          </a:xfrm>
          <a:prstGeom prst="rect">
            <a:avLst/>
          </a:prstGeom>
          <a:noFill/>
          <a:ln/>
        </p:spPr>
        <p:txBody>
          <a:bodyPr wrap="square" lIns="0" tIns="0" rIns="0" bIns="0" rtlCol="0" anchor="t"/>
          <a:lstStyle/>
          <a:p>
            <a:pPr indent="0" marL="0">
              <a:buNone/>
            </a:pPr>
            <a:r>
              <a:rPr lang="en-US" sz="1400" dirty="0">
                <a:solidFill>
                  <a:srgbClr val="616161"/>
                </a:solidFill>
                <a:latin typeface="Arial"/>
                <a:ea typeface="Arial"/>
                <a:cs typeface="Arial"/>
              </a:rPr>
              <a:t>tier1_pii, deterministic e164 match, emitted independently of the other two.</a:t>
            </a:r>
            <a:endParaRPr lang="en-US" sz="1400" dirty="0"/>
          </a:p>
        </p:txBody>
      </p:sp>
      <p:sp>
        <p:nvSpPr>
          <p:cNvPr id="18" name="Shape 16"/>
          <p:cNvSpPr/>
          <p:nvPr/>
        </p:nvSpPr>
        <p:spPr>
          <a:xfrm>
            <a:off x="685800" y="7955280"/>
            <a:ext cx="7863840" cy="0"/>
          </a:xfrm>
          <a:prstGeom prst="line">
            <a:avLst/>
          </a:prstGeom>
          <a:noFill/>
          <a:ln w="9525">
            <a:solidFill>
              <a:srgbClr val="D9D9DD"/>
            </a:solidFill>
            <a:prstDash val="solid"/>
          </a:ln>
        </p:spPr>
      </p:sp>
      <p:sp>
        <p:nvSpPr>
          <p:cNvPr id="19" name="Shape 17"/>
          <p:cNvSpPr/>
          <p:nvPr/>
        </p:nvSpPr>
        <p:spPr>
          <a:xfrm>
            <a:off x="9281160" y="3200400"/>
            <a:ext cx="8321040" cy="4937760"/>
          </a:xfrm>
          <a:prstGeom prst="roundRect">
            <a:avLst>
              <a:gd name="adj" fmla="val 2222"/>
            </a:avLst>
          </a:prstGeom>
          <a:solidFill>
            <a:srgbClr val="FFFFFF"/>
          </a:solidFill>
          <a:ln w="12700">
            <a:solidFill>
              <a:srgbClr val="D9D9DD"/>
            </a:solidFill>
            <a:prstDash val="solid"/>
          </a:ln>
        </p:spPr>
      </p:sp>
      <p:sp>
        <p:nvSpPr>
          <p:cNvPr id="20" name="Text 18"/>
          <p:cNvSpPr txBox="1"/>
          <p:nvPr/>
        </p:nvSpPr>
        <p:spPr>
          <a:xfrm>
            <a:off x="9601200" y="3456432"/>
            <a:ext cx="768096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WHY THIS MATTERS</a:t>
            </a:r>
            <a:endParaRPr lang="en-US" sz="1100" dirty="0"/>
          </a:p>
        </p:txBody>
      </p:sp>
      <p:sp>
        <p:nvSpPr>
          <p:cNvPr id="21" name="Text 19"/>
          <p:cNvSpPr txBox="1"/>
          <p:nvPr/>
        </p:nvSpPr>
        <p:spPr>
          <a:xfrm>
            <a:off x="9601200" y="3803904"/>
            <a:ext cx="7680960" cy="731520"/>
          </a:xfrm>
          <a:prstGeom prst="rect">
            <a:avLst/>
          </a:prstGeom>
          <a:noFill/>
          <a:ln/>
        </p:spPr>
        <p:txBody>
          <a:bodyPr wrap="square" lIns="0" tIns="0" rIns="0" bIns="0" rtlCol="0" anchor="t"/>
          <a:lstStyle/>
          <a:p>
            <a:pPr indent="0" marL="0">
              <a:buNone/>
            </a:pPr>
            <a:r>
              <a:rPr lang="en-US" sz="2800" spc="-100" kern="0" dirty="0">
                <a:solidFill>
                  <a:srgbClr val="17171C"/>
                </a:solidFill>
                <a:latin typeface="Arial"/>
                <a:ea typeface="Arial"/>
                <a:cs typeface="Arial"/>
              </a:rPr>
              <a:t>Three signals, one decision.</a:t>
            </a:r>
            <a:endParaRPr lang="en-US" sz="2800" dirty="0"/>
          </a:p>
        </p:txBody>
      </p:sp>
      <p:sp>
        <p:nvSpPr>
          <p:cNvPr id="22" name="Text 20"/>
          <p:cNvSpPr txBox="1"/>
          <p:nvPr/>
        </p:nvSpPr>
        <p:spPr>
          <a:xfrm>
            <a:off x="9601200" y="4663440"/>
            <a:ext cx="7680960" cy="3200400"/>
          </a:xfrm>
          <a:prstGeom prst="rect">
            <a:avLst/>
          </a:prstGeom>
          <a:noFill/>
          <a:ln/>
        </p:spPr>
        <p:txBody>
          <a:bodyPr wrap="square" lIns="0" tIns="0" rIns="0" bIns="0" rtlCol="0" anchor="t"/>
          <a:lstStyle/>
          <a:p>
            <a:pPr indent="0" marL="0">
              <a:lnSpc>
                <a:spcPct val="112000"/>
              </a:lnSpc>
              <a:buNone/>
            </a:pPr>
            <a:r>
              <a:rPr lang="en-US" sz="1500" dirty="0">
                <a:solidFill>
                  <a:srgbClr val="616161"/>
                </a:solidFill>
                <a:latin typeface="Arial"/>
                <a:ea typeface="Arial"/>
                <a:cs typeface="Arial"/>
              </a:rPr>
              <a:t>Suppressing one plane because another already fired is the failure this design refuses. The signals stay independent all the way to the engine, which applies the use case's own severity order and emits exactly one verdict for the sentence.</a:t>
            </a:r>
            <a:endParaRPr lang="en-US" sz="1500" dirty="0"/>
          </a:p>
          <a:p>
            <a:pPr indent="0" marL="0">
              <a:lnSpc>
                <a:spcPct val="112000"/>
              </a:lnSpc>
              <a:buNone/>
            </a:pPr>
            <a:endParaRPr lang="en-US" sz="1500" dirty="0"/>
          </a:p>
          <a:p>
            <a:pPr indent="0" marL="0">
              <a:lnSpc>
                <a:spcPct val="112000"/>
              </a:lnSpc>
              <a:buNone/>
            </a:pPr>
            <a:r>
              <a:rPr lang="en-US" sz="1500" dirty="0">
                <a:solidFill>
                  <a:srgbClr val="616161"/>
                </a:solidFill>
                <a:latin typeface="Arial"/>
                <a:ea typeface="Arial"/>
                <a:cs typeface="Arial"/>
              </a:rPr>
              <a:t>The provenance rule is enforced by the type, not by convention: a signal carrying an appended label that does not record where it came from is rejected before it can reach the engine.</a:t>
            </a:r>
            <a:endParaRPr lang="en-US" sz="1500" dirty="0"/>
          </a:p>
        </p:txBody>
      </p:sp>
      <p:sp>
        <p:nvSpPr>
          <p:cNvPr id="23" name="Text 21"/>
          <p:cNvSpPr txBox="1"/>
          <p:nvPr/>
        </p:nvSpPr>
        <p:spPr>
          <a:xfrm>
            <a:off x="685800" y="8366760"/>
            <a:ext cx="14630400" cy="457200"/>
          </a:xfrm>
          <a:prstGeom prst="rect">
            <a:avLst/>
          </a:prstGeom>
          <a:noFill/>
          <a:ln/>
        </p:spPr>
        <p:txBody>
          <a:bodyPr wrap="square" lIns="0" tIns="0" rIns="0" bIns="0" rtlCol="0" anchor="ctr"/>
          <a:lstStyle/>
          <a:p>
            <a:pPr indent="0" marL="0">
              <a:buNone/>
            </a:pPr>
            <a:r>
              <a:rPr lang="en-US" sz="2000" spc="-50" kern="0" dirty="0">
                <a:solidFill>
                  <a:srgbClr val="17171C"/>
                </a:solidFill>
                <a:latin typeface="Arial"/>
                <a:ea typeface="Arial"/>
                <a:cs typeface="Arial"/>
              </a:rPr>
              <a:t>A single sentence, three independent labels, exactly one verdict.</a:t>
            </a:r>
            <a:endParaRPr lang="en-US" sz="2000" dirty="0"/>
          </a:p>
        </p:txBody>
      </p:sp>
      <p:sp>
        <p:nvSpPr>
          <p:cNvPr id="24" name="Text 22"/>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Source: ADR-011, ADR-019, docs/04 §1.1 and §2.2</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Courier New"/>
                <a:ea typeface="Courier New"/>
                <a:cs typeface="Courier New"/>
              </a:rPr>
              <a:t>[B-01]</a:t>
            </a:r>
            <a:endParaRPr lang="en-US" sz="1200" dirty="0"/>
          </a:p>
        </p:txBody>
      </p:sp>
      <p:sp>
        <p:nvSpPr>
          <p:cNvPr id="25" name="Text 23"/>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26" name="Text 24"/>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11</a:t>
            </a:r>
            <a:endParaRPr lang="en-US" sz="10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02 · THE SOLUTION</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The same sentence. Three policies. Three verdicts.</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Identical detector stack, identical content. Only the YAML differs, and there is no use-case name anywhere in executable code.</a:t>
            </a:r>
            <a:endParaRPr lang="en-US" sz="2000" dirty="0"/>
          </a:p>
        </p:txBody>
      </p:sp>
      <p:sp>
        <p:nvSpPr>
          <p:cNvPr id="5" name="Shape 3"/>
          <p:cNvSpPr/>
          <p:nvPr/>
        </p:nvSpPr>
        <p:spPr>
          <a:xfrm>
            <a:off x="685800" y="3154680"/>
            <a:ext cx="16916400" cy="960120"/>
          </a:xfrm>
          <a:prstGeom prst="roundRect">
            <a:avLst>
              <a:gd name="adj" fmla="val 11429"/>
            </a:avLst>
          </a:prstGeom>
          <a:solidFill>
            <a:srgbClr val="EEECE7"/>
          </a:solidFill>
          <a:ln w="12700">
            <a:solidFill>
              <a:srgbClr val="EEECE7"/>
            </a:solidFill>
            <a:prstDash val="solid"/>
          </a:ln>
        </p:spPr>
      </p:sp>
      <p:sp>
        <p:nvSpPr>
          <p:cNvPr id="6" name="Text 4"/>
          <p:cNvSpPr txBox="1"/>
          <p:nvPr/>
        </p:nvSpPr>
        <p:spPr>
          <a:xfrm>
            <a:off x="1051560" y="3154680"/>
            <a:ext cx="12344400" cy="960120"/>
          </a:xfrm>
          <a:prstGeom prst="rect">
            <a:avLst/>
          </a:prstGeom>
          <a:noFill/>
          <a:ln/>
        </p:spPr>
        <p:txBody>
          <a:bodyPr wrap="square" lIns="0" tIns="0" rIns="0" bIns="0" rtlCol="0" anchor="ctr"/>
          <a:lstStyle/>
          <a:p>
            <a:pPr indent="0" marL="0">
              <a:buNone/>
            </a:pPr>
            <a:r>
              <a:rPr lang="en-US" sz="2200" dirty="0">
                <a:solidFill>
                  <a:srgbClr val="17171C"/>
                </a:solidFill>
                <a:latin typeface="Arial"/>
                <a:ea typeface="Arial"/>
                <a:cs typeface="Arial"/>
              </a:rPr>
              <a:t>“I confirmed your refund with Priya on +91 98765 43210.”</a:t>
            </a:r>
            <a:endParaRPr lang="en-US" sz="2200" dirty="0"/>
          </a:p>
        </p:txBody>
      </p:sp>
      <p:sp>
        <p:nvSpPr>
          <p:cNvPr id="7" name="Text 5"/>
          <p:cNvSpPr txBox="1"/>
          <p:nvPr/>
        </p:nvSpPr>
        <p:spPr>
          <a:xfrm>
            <a:off x="13075920" y="3154680"/>
            <a:ext cx="4480560" cy="960120"/>
          </a:xfrm>
          <a:prstGeom prst="rect">
            <a:avLst/>
          </a:prstGeom>
          <a:noFill/>
          <a:ln/>
        </p:spPr>
        <p:txBody>
          <a:bodyPr wrap="square" lIns="0" tIns="0" rIns="0" bIns="0" rtlCol="0" anchor="ctr"/>
          <a:lstStyle/>
          <a:p>
            <a:pPr algn="r" indent="0" marL="0">
              <a:buNone/>
            </a:pPr>
            <a:r>
              <a:rPr lang="en-US" sz="1100" dirty="0">
                <a:solidFill>
                  <a:srgbClr val="75758A"/>
                </a:solidFill>
                <a:latin typeface="Courier New"/>
                <a:ea typeface="Courier New"/>
                <a:cs typeface="Courier New"/>
              </a:rPr>
              <a:t>hallucination.ungrounded_claim</a:t>
            </a:r>
            <a:pPr algn="r" indent="0" marL="0">
              <a:buNone/>
            </a:pPr>
            <a:r>
              <a:rPr lang="en-US" sz="1100" dirty="0">
                <a:solidFill>
                  <a:srgbClr val="93939F"/>
                </a:solidFill>
                <a:latin typeface="Arial"/>
                <a:ea typeface="Arial"/>
                <a:cs typeface="Arial"/>
              </a:rPr>
              <a:t>  +  </a:t>
            </a:r>
            <a:pPr algn="r" indent="0" marL="0">
              <a:buNone/>
            </a:pPr>
            <a:r>
              <a:rPr lang="en-US" sz="1100" dirty="0">
                <a:solidFill>
                  <a:srgbClr val="75758A"/>
                </a:solidFill>
                <a:latin typeface="Courier New"/>
                <a:ea typeface="Courier New"/>
                <a:cs typeface="Courier New"/>
              </a:rPr>
              <a:t>privacy.person</a:t>
            </a:r>
            <a:pPr algn="r" indent="0" marL="0">
              <a:buNone/>
            </a:pPr>
            <a:r>
              <a:rPr lang="en-US" sz="1100" dirty="0">
                <a:solidFill>
                  <a:srgbClr val="93939F"/>
                </a:solidFill>
                <a:latin typeface="Arial"/>
                <a:ea typeface="Arial"/>
                <a:cs typeface="Arial"/>
              </a:rPr>
              <a:t>  +  </a:t>
            </a:r>
            <a:pPr algn="r" indent="0" marL="0">
              <a:buNone/>
            </a:pPr>
            <a:r>
              <a:rPr lang="en-US" sz="1100" dirty="0">
                <a:solidFill>
                  <a:srgbClr val="75758A"/>
                </a:solidFill>
                <a:latin typeface="Courier New"/>
                <a:ea typeface="Courier New"/>
                <a:cs typeface="Courier New"/>
              </a:rPr>
              <a:t>pii.phone</a:t>
            </a:r>
            <a:endParaRPr lang="en-US" sz="1100" dirty="0"/>
          </a:p>
        </p:txBody>
      </p:sp>
      <p:sp>
        <p:nvSpPr>
          <p:cNvPr id="8" name="Text 6"/>
          <p:cNvSpPr txBox="1"/>
          <p:nvPr/>
        </p:nvSpPr>
        <p:spPr>
          <a:xfrm>
            <a:off x="685800" y="4526280"/>
            <a:ext cx="5349240" cy="320040"/>
          </a:xfrm>
          <a:prstGeom prst="rect">
            <a:avLst/>
          </a:prstGeom>
          <a:noFill/>
          <a:ln/>
        </p:spPr>
        <p:txBody>
          <a:bodyPr wrap="square" lIns="0" tIns="0" rIns="0" bIns="0" rtlCol="0" anchor="ctr"/>
          <a:lstStyle/>
          <a:p>
            <a:pPr indent="0" marL="0">
              <a:buNone/>
            </a:pPr>
            <a:r>
              <a:rPr lang="en-US" sz="1300" b="1" dirty="0">
                <a:solidFill>
                  <a:srgbClr val="17171C"/>
                </a:solidFill>
                <a:latin typeface="Courier New"/>
                <a:ea typeface="Courier New"/>
                <a:cs typeface="Courier New"/>
              </a:rPr>
              <a:t>support_bot</a:t>
            </a:r>
            <a:endParaRPr lang="en-US" sz="1300" dirty="0"/>
          </a:p>
        </p:txBody>
      </p:sp>
      <p:sp>
        <p:nvSpPr>
          <p:cNvPr id="9" name="Shape 7"/>
          <p:cNvSpPr/>
          <p:nvPr/>
        </p:nvSpPr>
        <p:spPr>
          <a:xfrm>
            <a:off x="685800" y="4937760"/>
            <a:ext cx="2286000" cy="384048"/>
          </a:xfrm>
          <a:prstGeom prst="roundRect">
            <a:avLst>
              <a:gd name="adj" fmla="val 50000"/>
            </a:avLst>
          </a:prstGeom>
          <a:solidFill>
            <a:srgbClr val="FFFFFF"/>
          </a:solidFill>
          <a:ln w="12700">
            <a:solidFill>
              <a:srgbClr val="D9D9DD"/>
            </a:solidFill>
            <a:prstDash val="solid"/>
          </a:ln>
        </p:spPr>
      </p:sp>
      <p:sp>
        <p:nvSpPr>
          <p:cNvPr id="10" name="Shape 8"/>
          <p:cNvSpPr/>
          <p:nvPr/>
        </p:nvSpPr>
        <p:spPr>
          <a:xfrm>
            <a:off x="868680" y="5074920"/>
            <a:ext cx="109728" cy="109728"/>
          </a:xfrm>
          <a:prstGeom prst="ellipse">
            <a:avLst/>
          </a:prstGeom>
          <a:solidFill>
            <a:srgbClr val="1863DC"/>
          </a:solidFill>
          <a:ln w="12700">
            <a:solidFill>
              <a:srgbClr val="1863DC"/>
            </a:solidFill>
            <a:prstDash val="solid"/>
          </a:ln>
        </p:spPr>
      </p:sp>
      <p:sp>
        <p:nvSpPr>
          <p:cNvPr id="11" name="Text 9"/>
          <p:cNvSpPr txBox="1"/>
          <p:nvPr/>
        </p:nvSpPr>
        <p:spPr>
          <a:xfrm>
            <a:off x="1069848" y="4937760"/>
            <a:ext cx="1828800" cy="384048"/>
          </a:xfrm>
          <a:prstGeom prst="rect">
            <a:avLst/>
          </a:prstGeom>
          <a:noFill/>
          <a:ln/>
        </p:spPr>
        <p:txBody>
          <a:bodyPr wrap="square" lIns="0" tIns="0" rIns="0" bIns="0" rtlCol="0" anchor="ctr"/>
          <a:lstStyle/>
          <a:p>
            <a:pPr indent="0" marL="0">
              <a:buNone/>
            </a:pPr>
            <a:r>
              <a:rPr lang="en-US" sz="1200" b="1" spc="150" kern="0" dirty="0">
                <a:solidFill>
                  <a:srgbClr val="17171C"/>
                </a:solidFill>
                <a:latin typeface="Courier New"/>
                <a:ea typeface="Courier New"/>
                <a:cs typeface="Courier New"/>
              </a:rPr>
              <a:t>EDIT</a:t>
            </a:r>
            <a:endParaRPr lang="en-US" sz="1200" dirty="0"/>
          </a:p>
        </p:txBody>
      </p:sp>
      <p:sp>
        <p:nvSpPr>
          <p:cNvPr id="12" name="Shape 10"/>
          <p:cNvSpPr/>
          <p:nvPr/>
        </p:nvSpPr>
        <p:spPr>
          <a:xfrm>
            <a:off x="685800" y="5577840"/>
            <a:ext cx="5349240" cy="2103120"/>
          </a:xfrm>
          <a:prstGeom prst="roundRect">
            <a:avLst>
              <a:gd name="adj" fmla="val 5217"/>
            </a:avLst>
          </a:prstGeom>
          <a:solidFill>
            <a:srgbClr val="F7F7F5"/>
          </a:solidFill>
          <a:ln w="12700">
            <a:solidFill>
              <a:srgbClr val="D9D9DD"/>
            </a:solidFill>
            <a:prstDash val="solid"/>
          </a:ln>
        </p:spPr>
      </p:sp>
      <p:sp>
        <p:nvSpPr>
          <p:cNvPr id="13" name="Text 11"/>
          <p:cNvSpPr txBox="1"/>
          <p:nvPr/>
        </p:nvSpPr>
        <p:spPr>
          <a:xfrm>
            <a:off x="960120" y="5760720"/>
            <a:ext cx="4800600" cy="1783080"/>
          </a:xfrm>
          <a:prstGeom prst="rect">
            <a:avLst/>
          </a:prstGeom>
          <a:noFill/>
          <a:ln/>
        </p:spPr>
        <p:txBody>
          <a:bodyPr wrap="square" lIns="0" tIns="0" rIns="0" bIns="0" rtlCol="0" anchor="t"/>
          <a:lstStyle/>
          <a:p>
            <a:pPr indent="0" marL="0">
              <a:lnSpc>
                <a:spcPct val="135000"/>
              </a:lnSpc>
              <a:buNone/>
            </a:pPr>
            <a:r>
              <a:rPr lang="en-US" sz="1200" dirty="0">
                <a:solidFill>
                  <a:srgbClr val="212121"/>
                </a:solidFill>
                <a:latin typeface="Courier New"/>
                <a:ea typeface="Courier New"/>
                <a:cs typeface="Courier New"/>
              </a:rPr>
              <a:t>pii.*: edit</a:t>
            </a:r>
            <a:endParaRPr lang="en-US" sz="1200" dirty="0"/>
          </a:p>
          <a:p>
            <a:pPr indent="0" marL="0">
              <a:lnSpc>
                <a:spcPct val="135000"/>
              </a:lnSpc>
              <a:buNone/>
            </a:pPr>
            <a:r>
              <a:rPr lang="en-US" sz="1200" dirty="0">
                <a:solidFill>
                  <a:srgbClr val="212121"/>
                </a:solidFill>
                <a:latin typeface="Courier New"/>
                <a:ea typeface="Courier New"/>
                <a:cs typeface="Courier New"/>
              </a:rPr>
              <a:t>privacy.person: pass</a:t>
            </a:r>
            <a:endParaRPr lang="en-US" sz="1200" dirty="0"/>
          </a:p>
          <a:p>
            <a:pPr indent="0" marL="0">
              <a:lnSpc>
                <a:spcPct val="135000"/>
              </a:lnSpc>
              <a:buNone/>
            </a:pPr>
            <a:r>
              <a:rPr lang="en-US" sz="1200" dirty="0">
                <a:solidFill>
                  <a:srgbClr val="212121"/>
                </a:solidFill>
                <a:latin typeface="Courier New"/>
                <a:ea typeface="Courier New"/>
                <a:cs typeface="Courier New"/>
              </a:rPr>
              <a:t>hallucination.ungrounded_claim: edit</a:t>
            </a:r>
            <a:endParaRPr lang="en-US" sz="1200" dirty="0"/>
          </a:p>
          <a:p>
            <a:pPr indent="0" marL="0">
              <a:lnSpc>
                <a:spcPct val="135000"/>
              </a:lnSpc>
              <a:buNone/>
            </a:pPr>
            <a:r>
              <a:rPr lang="en-US" sz="1200" dirty="0">
                <a:solidFill>
                  <a:srgbClr val="212121"/>
                </a:solidFill>
                <a:latin typeface="Courier New"/>
                <a:ea typeface="Courier New"/>
                <a:cs typeface="Courier New"/>
              </a:rPr>
              <a:t>borderline_action: edit</a:t>
            </a:r>
            <a:endParaRPr lang="en-US" sz="1200" dirty="0"/>
          </a:p>
        </p:txBody>
      </p:sp>
      <p:sp>
        <p:nvSpPr>
          <p:cNvPr id="14" name="Text 12"/>
          <p:cNvSpPr txBox="1"/>
          <p:nvPr/>
        </p:nvSpPr>
        <p:spPr>
          <a:xfrm>
            <a:off x="685800" y="7818120"/>
            <a:ext cx="5349240" cy="502920"/>
          </a:xfrm>
          <a:prstGeom prst="rect">
            <a:avLst/>
          </a:prstGeom>
          <a:noFill/>
          <a:ln/>
        </p:spPr>
        <p:txBody>
          <a:bodyPr wrap="square" lIns="0" tIns="0" rIns="0" bIns="0" rtlCol="0" anchor="t"/>
          <a:lstStyle/>
          <a:p>
            <a:pPr indent="0" marL="0">
              <a:lnSpc>
                <a:spcPct val="115000"/>
              </a:lnSpc>
              <a:buNone/>
            </a:pPr>
            <a:r>
              <a:rPr lang="en-US" sz="1400" dirty="0">
                <a:solidFill>
                  <a:srgbClr val="616161"/>
                </a:solidFill>
                <a:latin typeface="Arial"/>
                <a:ea typeface="Arial"/>
                <a:cs typeface="Arial"/>
              </a:rPr>
              <a:t>The span is redacted and the claim softened. The customer still gets an answer.</a:t>
            </a:r>
            <a:endParaRPr lang="en-US" sz="1400" dirty="0"/>
          </a:p>
        </p:txBody>
      </p:sp>
      <p:sp>
        <p:nvSpPr>
          <p:cNvPr id="15" name="Text 13"/>
          <p:cNvSpPr txBox="1"/>
          <p:nvPr/>
        </p:nvSpPr>
        <p:spPr>
          <a:xfrm>
            <a:off x="6419088" y="4526280"/>
            <a:ext cx="5349240" cy="320040"/>
          </a:xfrm>
          <a:prstGeom prst="rect">
            <a:avLst/>
          </a:prstGeom>
          <a:noFill/>
          <a:ln/>
        </p:spPr>
        <p:txBody>
          <a:bodyPr wrap="square" lIns="0" tIns="0" rIns="0" bIns="0" rtlCol="0" anchor="ctr"/>
          <a:lstStyle/>
          <a:p>
            <a:pPr indent="0" marL="0">
              <a:buNone/>
            </a:pPr>
            <a:r>
              <a:rPr lang="en-US" sz="1300" b="1" dirty="0">
                <a:solidFill>
                  <a:srgbClr val="17171C"/>
                </a:solidFill>
                <a:latin typeface="Courier New"/>
                <a:ea typeface="Courier New"/>
                <a:cs typeface="Courier New"/>
              </a:rPr>
              <a:t>hr_copilot</a:t>
            </a:r>
            <a:endParaRPr lang="en-US" sz="1300" dirty="0"/>
          </a:p>
        </p:txBody>
      </p:sp>
      <p:sp>
        <p:nvSpPr>
          <p:cNvPr id="16" name="Shape 14"/>
          <p:cNvSpPr/>
          <p:nvPr/>
        </p:nvSpPr>
        <p:spPr>
          <a:xfrm>
            <a:off x="6419088" y="4937760"/>
            <a:ext cx="2286000" cy="384048"/>
          </a:xfrm>
          <a:prstGeom prst="roundRect">
            <a:avLst>
              <a:gd name="adj" fmla="val 50000"/>
            </a:avLst>
          </a:prstGeom>
          <a:solidFill>
            <a:srgbClr val="FFFFFF"/>
          </a:solidFill>
          <a:ln w="12700">
            <a:solidFill>
              <a:srgbClr val="D9D9DD"/>
            </a:solidFill>
            <a:prstDash val="solid"/>
          </a:ln>
        </p:spPr>
      </p:sp>
      <p:sp>
        <p:nvSpPr>
          <p:cNvPr id="17" name="Shape 15"/>
          <p:cNvSpPr/>
          <p:nvPr/>
        </p:nvSpPr>
        <p:spPr>
          <a:xfrm>
            <a:off x="6601968" y="5074920"/>
            <a:ext cx="109728" cy="109728"/>
          </a:xfrm>
          <a:prstGeom prst="ellipse">
            <a:avLst/>
          </a:prstGeom>
          <a:solidFill>
            <a:srgbClr val="17171C"/>
          </a:solidFill>
          <a:ln w="12700">
            <a:solidFill>
              <a:srgbClr val="17171C"/>
            </a:solidFill>
            <a:prstDash val="solid"/>
          </a:ln>
        </p:spPr>
      </p:sp>
      <p:sp>
        <p:nvSpPr>
          <p:cNvPr id="18" name="Text 16"/>
          <p:cNvSpPr txBox="1"/>
          <p:nvPr/>
        </p:nvSpPr>
        <p:spPr>
          <a:xfrm>
            <a:off x="6803136" y="4937760"/>
            <a:ext cx="1828800" cy="384048"/>
          </a:xfrm>
          <a:prstGeom prst="rect">
            <a:avLst/>
          </a:prstGeom>
          <a:noFill/>
          <a:ln/>
        </p:spPr>
        <p:txBody>
          <a:bodyPr wrap="square" lIns="0" tIns="0" rIns="0" bIns="0" rtlCol="0" anchor="ctr"/>
          <a:lstStyle/>
          <a:p>
            <a:pPr indent="0" marL="0">
              <a:buNone/>
            </a:pPr>
            <a:r>
              <a:rPr lang="en-US" sz="1200" b="1" spc="150" kern="0" dirty="0">
                <a:solidFill>
                  <a:srgbClr val="17171C"/>
                </a:solidFill>
                <a:latin typeface="Courier New"/>
                <a:ea typeface="Courier New"/>
                <a:cs typeface="Courier New"/>
              </a:rPr>
              <a:t>BLOCK</a:t>
            </a:r>
            <a:endParaRPr lang="en-US" sz="1200" dirty="0"/>
          </a:p>
        </p:txBody>
      </p:sp>
      <p:sp>
        <p:nvSpPr>
          <p:cNvPr id="19" name="Shape 17"/>
          <p:cNvSpPr/>
          <p:nvPr/>
        </p:nvSpPr>
        <p:spPr>
          <a:xfrm>
            <a:off x="6419088" y="5577840"/>
            <a:ext cx="5349240" cy="2103120"/>
          </a:xfrm>
          <a:prstGeom prst="roundRect">
            <a:avLst>
              <a:gd name="adj" fmla="val 5217"/>
            </a:avLst>
          </a:prstGeom>
          <a:solidFill>
            <a:srgbClr val="F7F7F5"/>
          </a:solidFill>
          <a:ln w="12700">
            <a:solidFill>
              <a:srgbClr val="D9D9DD"/>
            </a:solidFill>
            <a:prstDash val="solid"/>
          </a:ln>
        </p:spPr>
      </p:sp>
      <p:sp>
        <p:nvSpPr>
          <p:cNvPr id="20" name="Text 18"/>
          <p:cNvSpPr txBox="1"/>
          <p:nvPr/>
        </p:nvSpPr>
        <p:spPr>
          <a:xfrm>
            <a:off x="6693408" y="5760720"/>
            <a:ext cx="4800600" cy="1783080"/>
          </a:xfrm>
          <a:prstGeom prst="rect">
            <a:avLst/>
          </a:prstGeom>
          <a:noFill/>
          <a:ln/>
        </p:spPr>
        <p:txBody>
          <a:bodyPr wrap="square" lIns="0" tIns="0" rIns="0" bIns="0" rtlCol="0" anchor="t"/>
          <a:lstStyle/>
          <a:p>
            <a:pPr indent="0" marL="0">
              <a:lnSpc>
                <a:spcPct val="135000"/>
              </a:lnSpc>
              <a:buNone/>
            </a:pPr>
            <a:r>
              <a:rPr lang="en-US" sz="1200" dirty="0">
                <a:solidFill>
                  <a:srgbClr val="212121"/>
                </a:solidFill>
                <a:latin typeface="Courier New"/>
                <a:ea typeface="Courier New"/>
                <a:cs typeface="Courier New"/>
              </a:rPr>
              <a:t>pii.*: block</a:t>
            </a:r>
            <a:endParaRPr lang="en-US" sz="1200" dirty="0"/>
          </a:p>
          <a:p>
            <a:pPr indent="0" marL="0">
              <a:lnSpc>
                <a:spcPct val="135000"/>
              </a:lnSpc>
              <a:buNone/>
            </a:pPr>
            <a:r>
              <a:rPr lang="en-US" sz="1200" dirty="0">
                <a:solidFill>
                  <a:srgbClr val="212121"/>
                </a:solidFill>
                <a:latin typeface="Courier New"/>
                <a:ea typeface="Courier New"/>
                <a:cs typeface="Courier New"/>
              </a:rPr>
              <a:t>privacy.person: block</a:t>
            </a:r>
            <a:endParaRPr lang="en-US" sz="1200" dirty="0"/>
          </a:p>
          <a:p>
            <a:pPr indent="0" marL="0">
              <a:lnSpc>
                <a:spcPct val="135000"/>
              </a:lnSpc>
              <a:buNone/>
            </a:pPr>
            <a:r>
              <a:rPr lang="en-US" sz="1200" dirty="0">
                <a:solidFill>
                  <a:srgbClr val="212121"/>
                </a:solidFill>
                <a:latin typeface="Courier New"/>
                <a:ea typeface="Courier New"/>
                <a:cs typeface="Courier New"/>
              </a:rPr>
              <a:t>hallucination.*: pass</a:t>
            </a:r>
            <a:endParaRPr lang="en-US" sz="1200" dirty="0"/>
          </a:p>
          <a:p>
            <a:pPr indent="0" marL="0">
              <a:lnSpc>
                <a:spcPct val="135000"/>
              </a:lnSpc>
              <a:buNone/>
            </a:pPr>
            <a:r>
              <a:rPr lang="en-US" sz="1200" dirty="0">
                <a:solidFill>
                  <a:srgbClr val="212121"/>
                </a:solidFill>
                <a:latin typeface="Courier New"/>
                <a:ea typeface="Courier New"/>
                <a:cs typeface="Courier New"/>
              </a:rPr>
              <a:t>borderline_action: pass</a:t>
            </a:r>
            <a:endParaRPr lang="en-US" sz="1200" dirty="0"/>
          </a:p>
        </p:txBody>
      </p:sp>
      <p:sp>
        <p:nvSpPr>
          <p:cNvPr id="21" name="Text 19"/>
          <p:cNvSpPr txBox="1"/>
          <p:nvPr/>
        </p:nvSpPr>
        <p:spPr>
          <a:xfrm>
            <a:off x="6419088" y="7818120"/>
            <a:ext cx="5349240" cy="502920"/>
          </a:xfrm>
          <a:prstGeom prst="rect">
            <a:avLst/>
          </a:prstGeom>
          <a:noFill/>
          <a:ln/>
        </p:spPr>
        <p:txBody>
          <a:bodyPr wrap="square" lIns="0" tIns="0" rIns="0" bIns="0" rtlCol="0" anchor="t"/>
          <a:lstStyle/>
          <a:p>
            <a:pPr indent="0" marL="0">
              <a:lnSpc>
                <a:spcPct val="115000"/>
              </a:lnSpc>
              <a:buNone/>
            </a:pPr>
            <a:r>
              <a:rPr lang="en-US" sz="1400" dirty="0">
                <a:solidFill>
                  <a:srgbClr val="616161"/>
                </a:solidFill>
                <a:latin typeface="Arial"/>
                <a:ea typeface="Arial"/>
                <a:cs typeface="Arial"/>
              </a:rPr>
              <a:t>Employee personal data is not transformable here, so the response is replaced outright.</a:t>
            </a:r>
            <a:endParaRPr lang="en-US" sz="1400" dirty="0"/>
          </a:p>
        </p:txBody>
      </p:sp>
      <p:sp>
        <p:nvSpPr>
          <p:cNvPr id="22" name="Text 20"/>
          <p:cNvSpPr txBox="1"/>
          <p:nvPr/>
        </p:nvSpPr>
        <p:spPr>
          <a:xfrm>
            <a:off x="12152376" y="4526280"/>
            <a:ext cx="5349240" cy="320040"/>
          </a:xfrm>
          <a:prstGeom prst="rect">
            <a:avLst/>
          </a:prstGeom>
          <a:noFill/>
          <a:ln/>
        </p:spPr>
        <p:txBody>
          <a:bodyPr wrap="square" lIns="0" tIns="0" rIns="0" bIns="0" rtlCol="0" anchor="ctr"/>
          <a:lstStyle/>
          <a:p>
            <a:pPr indent="0" marL="0">
              <a:buNone/>
            </a:pPr>
            <a:r>
              <a:rPr lang="en-US" sz="1300" b="1" dirty="0">
                <a:solidFill>
                  <a:srgbClr val="17171C"/>
                </a:solidFill>
                <a:latin typeface="Courier New"/>
                <a:ea typeface="Courier New"/>
                <a:cs typeface="Courier New"/>
              </a:rPr>
              <a:t>finance_advisor</a:t>
            </a:r>
            <a:endParaRPr lang="en-US" sz="1300" dirty="0"/>
          </a:p>
        </p:txBody>
      </p:sp>
      <p:sp>
        <p:nvSpPr>
          <p:cNvPr id="23" name="Shape 21"/>
          <p:cNvSpPr/>
          <p:nvPr/>
        </p:nvSpPr>
        <p:spPr>
          <a:xfrm>
            <a:off x="12152376" y="4937760"/>
            <a:ext cx="2286000" cy="384048"/>
          </a:xfrm>
          <a:prstGeom prst="roundRect">
            <a:avLst>
              <a:gd name="adj" fmla="val 50000"/>
            </a:avLst>
          </a:prstGeom>
          <a:solidFill>
            <a:srgbClr val="FFFFFF"/>
          </a:solidFill>
          <a:ln w="12700">
            <a:solidFill>
              <a:srgbClr val="D9D9DD"/>
            </a:solidFill>
            <a:prstDash val="solid"/>
          </a:ln>
        </p:spPr>
      </p:sp>
      <p:sp>
        <p:nvSpPr>
          <p:cNvPr id="24" name="Shape 22"/>
          <p:cNvSpPr/>
          <p:nvPr/>
        </p:nvSpPr>
        <p:spPr>
          <a:xfrm>
            <a:off x="12335256" y="5074920"/>
            <a:ext cx="109728" cy="109728"/>
          </a:xfrm>
          <a:prstGeom prst="ellipse">
            <a:avLst/>
          </a:prstGeom>
          <a:solidFill>
            <a:srgbClr val="A100FF"/>
          </a:solidFill>
          <a:ln w="12700">
            <a:solidFill>
              <a:srgbClr val="A100FF"/>
            </a:solidFill>
            <a:prstDash val="solid"/>
          </a:ln>
        </p:spPr>
      </p:sp>
      <p:sp>
        <p:nvSpPr>
          <p:cNvPr id="25" name="Text 23"/>
          <p:cNvSpPr txBox="1"/>
          <p:nvPr/>
        </p:nvSpPr>
        <p:spPr>
          <a:xfrm>
            <a:off x="12536424" y="4937760"/>
            <a:ext cx="1828800" cy="384048"/>
          </a:xfrm>
          <a:prstGeom prst="rect">
            <a:avLst/>
          </a:prstGeom>
          <a:noFill/>
          <a:ln/>
        </p:spPr>
        <p:txBody>
          <a:bodyPr wrap="square" lIns="0" tIns="0" rIns="0" bIns="0" rtlCol="0" anchor="ctr"/>
          <a:lstStyle/>
          <a:p>
            <a:pPr indent="0" marL="0">
              <a:buNone/>
            </a:pPr>
            <a:r>
              <a:rPr lang="en-US" sz="1200" b="1" spc="150" kern="0" dirty="0">
                <a:solidFill>
                  <a:srgbClr val="17171C"/>
                </a:solidFill>
                <a:latin typeface="Courier New"/>
                <a:ea typeface="Courier New"/>
                <a:cs typeface="Courier New"/>
              </a:rPr>
              <a:t>ESCALATE</a:t>
            </a:r>
            <a:endParaRPr lang="en-US" sz="1200" dirty="0"/>
          </a:p>
        </p:txBody>
      </p:sp>
      <p:sp>
        <p:nvSpPr>
          <p:cNvPr id="26" name="Shape 24"/>
          <p:cNvSpPr/>
          <p:nvPr/>
        </p:nvSpPr>
        <p:spPr>
          <a:xfrm>
            <a:off x="12152376" y="5577840"/>
            <a:ext cx="5349240" cy="2103120"/>
          </a:xfrm>
          <a:prstGeom prst="roundRect">
            <a:avLst>
              <a:gd name="adj" fmla="val 5217"/>
            </a:avLst>
          </a:prstGeom>
          <a:solidFill>
            <a:srgbClr val="F7F7F5"/>
          </a:solidFill>
          <a:ln w="12700">
            <a:solidFill>
              <a:srgbClr val="D9D9DD"/>
            </a:solidFill>
            <a:prstDash val="solid"/>
          </a:ln>
        </p:spPr>
      </p:sp>
      <p:sp>
        <p:nvSpPr>
          <p:cNvPr id="27" name="Text 25"/>
          <p:cNvSpPr txBox="1"/>
          <p:nvPr/>
        </p:nvSpPr>
        <p:spPr>
          <a:xfrm>
            <a:off x="12426696" y="5760720"/>
            <a:ext cx="4800600" cy="1783080"/>
          </a:xfrm>
          <a:prstGeom prst="rect">
            <a:avLst/>
          </a:prstGeom>
          <a:noFill/>
          <a:ln/>
        </p:spPr>
        <p:txBody>
          <a:bodyPr wrap="square" lIns="0" tIns="0" rIns="0" bIns="0" rtlCol="0" anchor="t"/>
          <a:lstStyle/>
          <a:p>
            <a:pPr indent="0" marL="0">
              <a:lnSpc>
                <a:spcPct val="135000"/>
              </a:lnSpc>
              <a:buNone/>
            </a:pPr>
            <a:r>
              <a:rPr lang="en-US" sz="1200" dirty="0">
                <a:solidFill>
                  <a:srgbClr val="212121"/>
                </a:solidFill>
                <a:latin typeface="Courier New"/>
                <a:ea typeface="Courier New"/>
                <a:cs typeface="Courier New"/>
              </a:rPr>
              <a:t>pii.*: escalate</a:t>
            </a:r>
            <a:endParaRPr lang="en-US" sz="1200" dirty="0"/>
          </a:p>
          <a:p>
            <a:pPr indent="0" marL="0">
              <a:lnSpc>
                <a:spcPct val="135000"/>
              </a:lnSpc>
              <a:buNone/>
            </a:pPr>
            <a:r>
              <a:rPr lang="en-US" sz="1200" dirty="0">
                <a:solidFill>
                  <a:srgbClr val="212121"/>
                </a:solidFill>
                <a:latin typeface="Courier New"/>
                <a:ea typeface="Courier New"/>
                <a:cs typeface="Courier New"/>
              </a:rPr>
              <a:t>privacy.person: escalate</a:t>
            </a:r>
            <a:endParaRPr lang="en-US" sz="1200" dirty="0"/>
          </a:p>
          <a:p>
            <a:pPr indent="0" marL="0">
              <a:lnSpc>
                <a:spcPct val="135000"/>
              </a:lnSpc>
              <a:buNone/>
            </a:pPr>
            <a:r>
              <a:rPr lang="en-US" sz="1200" dirty="0">
                <a:solidFill>
                  <a:srgbClr val="212121"/>
                </a:solidFill>
                <a:latin typeface="Courier New"/>
                <a:ea typeface="Courier New"/>
                <a:cs typeface="Courier New"/>
              </a:rPr>
              <a:t>hallucination.ungrounded_claim: escalate</a:t>
            </a:r>
            <a:endParaRPr lang="en-US" sz="1200" dirty="0"/>
          </a:p>
          <a:p>
            <a:pPr indent="0" marL="0">
              <a:lnSpc>
                <a:spcPct val="135000"/>
              </a:lnSpc>
              <a:buNone/>
            </a:pPr>
            <a:r>
              <a:rPr lang="en-US" sz="1200" dirty="0">
                <a:solidFill>
                  <a:srgbClr val="212121"/>
                </a:solidFill>
                <a:latin typeface="Courier New"/>
                <a:ea typeface="Courier New"/>
                <a:cs typeface="Courier New"/>
              </a:rPr>
              <a:t>borderline_action: escalate</a:t>
            </a:r>
            <a:endParaRPr lang="en-US" sz="1200" dirty="0"/>
          </a:p>
        </p:txBody>
      </p:sp>
      <p:sp>
        <p:nvSpPr>
          <p:cNvPr id="28" name="Text 26"/>
          <p:cNvSpPr txBox="1"/>
          <p:nvPr/>
        </p:nvSpPr>
        <p:spPr>
          <a:xfrm>
            <a:off x="12152376" y="7818120"/>
            <a:ext cx="5349240" cy="502920"/>
          </a:xfrm>
          <a:prstGeom prst="rect">
            <a:avLst/>
          </a:prstGeom>
          <a:noFill/>
          <a:ln/>
        </p:spPr>
        <p:txBody>
          <a:bodyPr wrap="square" lIns="0" tIns="0" rIns="0" bIns="0" rtlCol="0" anchor="t"/>
          <a:lstStyle/>
          <a:p>
            <a:pPr indent="0" marL="0">
              <a:lnSpc>
                <a:spcPct val="115000"/>
              </a:lnSpc>
              <a:buNone/>
            </a:pPr>
            <a:r>
              <a:rPr lang="en-US" sz="1400" dirty="0">
                <a:solidFill>
                  <a:srgbClr val="616161"/>
                </a:solidFill>
                <a:latin typeface="Arial"/>
                <a:ea typeface="Arial"/>
                <a:cs typeface="Arial"/>
              </a:rPr>
              <a:t>Quarantined for a human reviewer. Nothing reaches the client until someone decides.</a:t>
            </a:r>
            <a:endParaRPr lang="en-US" sz="1400" dirty="0"/>
          </a:p>
        </p:txBody>
      </p:sp>
      <p:sp>
        <p:nvSpPr>
          <p:cNvPr id="29" name="Text 27"/>
          <p:cNvSpPr txBox="1"/>
          <p:nvPr/>
        </p:nvSpPr>
        <p:spPr>
          <a:xfrm>
            <a:off x="685800" y="8503920"/>
            <a:ext cx="15544800" cy="411480"/>
          </a:xfrm>
          <a:prstGeom prst="rect">
            <a:avLst/>
          </a:prstGeom>
          <a:noFill/>
          <a:ln/>
        </p:spPr>
        <p:txBody>
          <a:bodyPr wrap="square" lIns="0" tIns="0" rIns="0" bIns="0" rtlCol="0" anchor="ctr"/>
          <a:lstStyle/>
          <a:p>
            <a:pPr indent="0" marL="0">
              <a:buNone/>
            </a:pPr>
            <a:r>
              <a:rPr lang="en-US" sz="1800" spc="-50" kern="0" dirty="0">
                <a:solidFill>
                  <a:srgbClr val="17171C"/>
                </a:solidFill>
                <a:latin typeface="Arial"/>
                <a:ea typeface="Arial"/>
                <a:cs typeface="Arial"/>
              </a:rPr>
              <a:t>Verified by running the engine, not by reading the config: three verdicts from one set of signals.</a:t>
            </a:r>
            <a:endParaRPr lang="en-US" sz="1800" dirty="0"/>
          </a:p>
        </p:txBody>
      </p:sp>
      <p:sp>
        <p:nvSpPr>
          <p:cNvPr id="30" name="Text 28"/>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Source: policies/*.yaml via controlplane.policy.engine.evaluate</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Arial"/>
                <a:ea typeface="Arial"/>
                <a:cs typeface="Arial"/>
              </a:rPr>
              <a:t>reports/eval_report.md §Policy-level</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Courier New"/>
                <a:ea typeface="Courier New"/>
                <a:cs typeface="Courier New"/>
              </a:rPr>
              <a:t>[B-01]</a:t>
            </a:r>
            <a:endParaRPr lang="en-US" sz="1200" dirty="0"/>
          </a:p>
        </p:txBody>
      </p:sp>
      <p:sp>
        <p:nvSpPr>
          <p:cNvPr id="31" name="Text 29"/>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32" name="Text 30"/>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12</a:t>
            </a:r>
            <a:endParaRPr lang="en-US" sz="10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3C33"/>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C77DFF"/>
                </a:solidFill>
                <a:latin typeface="Courier New"/>
                <a:ea typeface="Courier New"/>
                <a:cs typeface="Courier New"/>
              </a:rPr>
              <a:t>02 · THE SOLUTION</a:t>
            </a:r>
            <a:endParaRPr lang="en-US" sz="1200" dirty="0"/>
          </a:p>
        </p:txBody>
      </p:sp>
      <p:sp>
        <p:nvSpPr>
          <p:cNvPr id="3" name="Text 1"/>
          <p:cNvSpPr txBox="1"/>
          <p:nvPr/>
        </p:nvSpPr>
        <p:spPr>
          <a:xfrm>
            <a:off x="685800" y="1005840"/>
            <a:ext cx="7315200" cy="914400"/>
          </a:xfrm>
          <a:prstGeom prst="rect">
            <a:avLst/>
          </a:prstGeom>
          <a:noFill/>
          <a:ln/>
        </p:spPr>
        <p:txBody>
          <a:bodyPr wrap="square" lIns="0" tIns="0" rIns="0" bIns="0" rtlCol="0" anchor="t"/>
          <a:lstStyle/>
          <a:p>
            <a:pPr indent="0" marL="0">
              <a:buNone/>
            </a:pPr>
            <a:r>
              <a:rPr lang="en-US" sz="4000" spc="-100" kern="0" dirty="0">
                <a:solidFill>
                  <a:srgbClr val="FFFFFF"/>
                </a:solidFill>
                <a:latin typeface="Arial"/>
                <a:ea typeface="Arial"/>
                <a:cs typeface="Arial"/>
              </a:rPr>
              <a:t>The oversight console.</a:t>
            </a:r>
            <a:endParaRPr lang="en-US" sz="4000" dirty="0"/>
          </a:p>
        </p:txBody>
      </p:sp>
      <p:sp>
        <p:nvSpPr>
          <p:cNvPr id="4" name="Text 2"/>
          <p:cNvSpPr txBox="1"/>
          <p:nvPr/>
        </p:nvSpPr>
        <p:spPr>
          <a:xfrm>
            <a:off x="685800" y="2103120"/>
            <a:ext cx="6858000" cy="1463040"/>
          </a:xfrm>
          <a:prstGeom prst="rect">
            <a:avLst/>
          </a:prstGeom>
          <a:noFill/>
          <a:ln/>
        </p:spPr>
        <p:txBody>
          <a:bodyPr wrap="square" lIns="0" tIns="0" rIns="0" bIns="0" rtlCol="0" anchor="t"/>
          <a:lstStyle/>
          <a:p>
            <a:pPr indent="0" marL="0">
              <a:lnSpc>
                <a:spcPct val="118000"/>
              </a:lnSpc>
              <a:buNone/>
            </a:pPr>
            <a:r>
              <a:rPr lang="en-US" sz="1700" dirty="0">
                <a:solidFill>
                  <a:srgbClr val="B9B9C2"/>
                </a:solidFill>
                <a:latin typeface="Arial"/>
                <a:ea typeface="Arial"/>
                <a:cs typeface="Arial"/>
              </a:rPr>
              <a:t>Three pages served same-origin by the gateway itself: an overview, this verdict board, and a test chat. Every static figure on the page cites the committed report it came from.</a:t>
            </a:r>
            <a:endParaRPr lang="en-US" sz="1700" dirty="0"/>
          </a:p>
        </p:txBody>
      </p:sp>
      <p:sp>
        <p:nvSpPr>
          <p:cNvPr id="5" name="Text 3"/>
          <p:cNvSpPr txBox="1"/>
          <p:nvPr/>
        </p:nvSpPr>
        <p:spPr>
          <a:xfrm>
            <a:off x="685800" y="3794760"/>
            <a:ext cx="6858000" cy="274320"/>
          </a:xfrm>
          <a:prstGeom prst="rect">
            <a:avLst/>
          </a:prstGeom>
          <a:noFill/>
          <a:ln/>
        </p:spPr>
        <p:txBody>
          <a:bodyPr wrap="square" lIns="0" tIns="0" rIns="0" bIns="0" rtlCol="0" anchor="ctr"/>
          <a:lstStyle/>
          <a:p>
            <a:pPr indent="0" marL="0">
              <a:buNone/>
            </a:pPr>
            <a:r>
              <a:rPr lang="en-US" sz="1100" b="1" spc="150" kern="0" dirty="0">
                <a:solidFill>
                  <a:srgbClr val="C77DFF"/>
                </a:solidFill>
                <a:latin typeface="Courier New"/>
                <a:ea typeface="Courier New"/>
                <a:cs typeface="Courier New"/>
              </a:rPr>
              <a:t>LIVE COUNTERS</a:t>
            </a:r>
            <a:endParaRPr lang="en-US" sz="1100" dirty="0"/>
          </a:p>
        </p:txBody>
      </p:sp>
      <p:sp>
        <p:nvSpPr>
          <p:cNvPr id="6" name="Text 4"/>
          <p:cNvSpPr txBox="1"/>
          <p:nvPr/>
        </p:nvSpPr>
        <p:spPr>
          <a:xfrm>
            <a:off x="685800" y="4105656"/>
            <a:ext cx="6766560" cy="822960"/>
          </a:xfrm>
          <a:prstGeom prst="rect">
            <a:avLst/>
          </a:prstGeom>
          <a:noFill/>
          <a:ln/>
        </p:spPr>
        <p:txBody>
          <a:bodyPr wrap="square" lIns="0" tIns="0" rIns="0" bIns="0" rtlCol="0" anchor="t"/>
          <a:lstStyle/>
          <a:p>
            <a:pPr indent="0" marL="0">
              <a:lnSpc>
                <a:spcPct val="112000"/>
              </a:lnSpc>
              <a:buNone/>
            </a:pPr>
            <a:r>
              <a:rPr lang="en-US" sz="1400" dirty="0">
                <a:solidFill>
                  <a:srgbClr val="B9B9C2"/>
                </a:solidFill>
                <a:latin typeface="Arial"/>
                <a:ea typeface="Arial"/>
                <a:cs typeface="Arial"/>
              </a:rPr>
              <a:t>cp_requests_total and cp_pii_intercepts_total, read from GET /metrics.</a:t>
            </a:r>
            <a:endParaRPr lang="en-US" sz="1400" dirty="0"/>
          </a:p>
        </p:txBody>
      </p:sp>
      <p:sp>
        <p:nvSpPr>
          <p:cNvPr id="7" name="Text 5"/>
          <p:cNvSpPr txBox="1"/>
          <p:nvPr/>
        </p:nvSpPr>
        <p:spPr>
          <a:xfrm>
            <a:off x="685800" y="5093208"/>
            <a:ext cx="6858000" cy="274320"/>
          </a:xfrm>
          <a:prstGeom prst="rect">
            <a:avLst/>
          </a:prstGeom>
          <a:noFill/>
          <a:ln/>
        </p:spPr>
        <p:txBody>
          <a:bodyPr wrap="square" lIns="0" tIns="0" rIns="0" bIns="0" rtlCol="0" anchor="ctr"/>
          <a:lstStyle/>
          <a:p>
            <a:pPr indent="0" marL="0">
              <a:buNone/>
            </a:pPr>
            <a:r>
              <a:rPr lang="en-US" sz="1100" b="1" spc="150" kern="0" dirty="0">
                <a:solidFill>
                  <a:srgbClr val="C77DFF"/>
                </a:solidFill>
                <a:latin typeface="Courier New"/>
                <a:ea typeface="Courier New"/>
                <a:cs typeface="Courier New"/>
              </a:rPr>
              <a:t>CATEGORY, NEVER THE VALUE</a:t>
            </a:r>
            <a:endParaRPr lang="en-US" sz="1100" dirty="0"/>
          </a:p>
        </p:txBody>
      </p:sp>
      <p:sp>
        <p:nvSpPr>
          <p:cNvPr id="8" name="Text 6"/>
          <p:cNvSpPr txBox="1"/>
          <p:nvPr/>
        </p:nvSpPr>
        <p:spPr>
          <a:xfrm>
            <a:off x="685800" y="5404104"/>
            <a:ext cx="6766560" cy="822960"/>
          </a:xfrm>
          <a:prstGeom prst="rect">
            <a:avLst/>
          </a:prstGeom>
          <a:noFill/>
          <a:ln/>
        </p:spPr>
        <p:txBody>
          <a:bodyPr wrap="square" lIns="0" tIns="0" rIns="0" bIns="0" rtlCol="0" anchor="t"/>
          <a:lstStyle/>
          <a:p>
            <a:pPr indent="0" marL="0">
              <a:lnSpc>
                <a:spcPct val="112000"/>
              </a:lnSpc>
              <a:buNone/>
            </a:pPr>
            <a:r>
              <a:rPr lang="en-US" sz="1400" dirty="0">
                <a:solidFill>
                  <a:srgbClr val="B9B9C2"/>
                </a:solidFill>
                <a:latin typeface="Arial"/>
                <a:ea typeface="Arial"/>
                <a:cs typeface="Arial"/>
              </a:rPr>
              <a:t>A PII interception is counted by category. The matched text is never stored or shown.</a:t>
            </a:r>
            <a:endParaRPr lang="en-US" sz="1400" dirty="0"/>
          </a:p>
        </p:txBody>
      </p:sp>
      <p:sp>
        <p:nvSpPr>
          <p:cNvPr id="9" name="Text 7"/>
          <p:cNvSpPr txBox="1"/>
          <p:nvPr/>
        </p:nvSpPr>
        <p:spPr>
          <a:xfrm>
            <a:off x="685800" y="6391656"/>
            <a:ext cx="6858000" cy="274320"/>
          </a:xfrm>
          <a:prstGeom prst="rect">
            <a:avLst/>
          </a:prstGeom>
          <a:noFill/>
          <a:ln/>
        </p:spPr>
        <p:txBody>
          <a:bodyPr wrap="square" lIns="0" tIns="0" rIns="0" bIns="0" rtlCol="0" anchor="ctr"/>
          <a:lstStyle/>
          <a:p>
            <a:pPr indent="0" marL="0">
              <a:buNone/>
            </a:pPr>
            <a:r>
              <a:rPr lang="en-US" sz="1100" b="1" spc="150" kern="0" dirty="0">
                <a:solidFill>
                  <a:srgbClr val="C77DFF"/>
                </a:solidFill>
                <a:latin typeface="Courier New"/>
                <a:ea typeface="Courier New"/>
                <a:cs typeface="Courier New"/>
              </a:rPr>
              <a:t>HUMAN REVIEW QUEUE</a:t>
            </a:r>
            <a:endParaRPr lang="en-US" sz="1100" dirty="0"/>
          </a:p>
        </p:txBody>
      </p:sp>
      <p:sp>
        <p:nvSpPr>
          <p:cNvPr id="10" name="Text 8"/>
          <p:cNvSpPr txBox="1"/>
          <p:nvPr/>
        </p:nvSpPr>
        <p:spPr>
          <a:xfrm>
            <a:off x="685800" y="6702552"/>
            <a:ext cx="6766560" cy="822960"/>
          </a:xfrm>
          <a:prstGeom prst="rect">
            <a:avLst/>
          </a:prstGeom>
          <a:noFill/>
          <a:ln/>
        </p:spPr>
        <p:txBody>
          <a:bodyPr wrap="square" lIns="0" tIns="0" rIns="0" bIns="0" rtlCol="0" anchor="t"/>
          <a:lstStyle/>
          <a:p>
            <a:pPr indent="0" marL="0">
              <a:lnSpc>
                <a:spcPct val="112000"/>
              </a:lnSpc>
              <a:buNone/>
            </a:pPr>
            <a:r>
              <a:rPr lang="en-US" sz="1400" dirty="0">
                <a:solidFill>
                  <a:srgbClr val="B9B9C2"/>
                </a:solidFill>
                <a:latin typeface="Arial"/>
                <a:ea typeface="Arial"/>
                <a:cs typeface="Arial"/>
              </a:rPr>
              <a:t>Escalated responses are quarantined, never delivered, until a reviewer decides. The decision is one-shot and written into the audit lineage.</a:t>
            </a:r>
            <a:endParaRPr lang="en-US" sz="1400" dirty="0"/>
          </a:p>
        </p:txBody>
      </p:sp>
      <p:sp>
        <p:nvSpPr>
          <p:cNvPr id="11" name="Text 9"/>
          <p:cNvSpPr txBox="1"/>
          <p:nvPr/>
        </p:nvSpPr>
        <p:spPr>
          <a:xfrm>
            <a:off x="685800" y="7690104"/>
            <a:ext cx="6858000" cy="274320"/>
          </a:xfrm>
          <a:prstGeom prst="rect">
            <a:avLst/>
          </a:prstGeom>
          <a:noFill/>
          <a:ln/>
        </p:spPr>
        <p:txBody>
          <a:bodyPr wrap="square" lIns="0" tIns="0" rIns="0" bIns="0" rtlCol="0" anchor="ctr"/>
          <a:lstStyle/>
          <a:p>
            <a:pPr indent="0" marL="0">
              <a:buNone/>
            </a:pPr>
            <a:r>
              <a:rPr lang="en-US" sz="1100" b="1" spc="150" kern="0" dirty="0">
                <a:solidFill>
                  <a:srgbClr val="C77DFF"/>
                </a:solidFill>
                <a:latin typeface="Courier New"/>
                <a:ea typeface="Courier New"/>
                <a:cs typeface="Courier New"/>
              </a:rPr>
              <a:t>COUNTERS READ ZERO HERE</a:t>
            </a:r>
            <a:endParaRPr lang="en-US" sz="1100" dirty="0"/>
          </a:p>
        </p:txBody>
      </p:sp>
      <p:sp>
        <p:nvSpPr>
          <p:cNvPr id="12" name="Text 10"/>
          <p:cNvSpPr txBox="1"/>
          <p:nvPr/>
        </p:nvSpPr>
        <p:spPr>
          <a:xfrm>
            <a:off x="685800" y="8001000"/>
            <a:ext cx="6766560" cy="822960"/>
          </a:xfrm>
          <a:prstGeom prst="rect">
            <a:avLst/>
          </a:prstGeom>
          <a:noFill/>
          <a:ln/>
        </p:spPr>
        <p:txBody>
          <a:bodyPr wrap="square" lIns="0" tIns="0" rIns="0" bIns="0" rtlCol="0" anchor="t"/>
          <a:lstStyle/>
          <a:p>
            <a:pPr indent="0" marL="0">
              <a:lnSpc>
                <a:spcPct val="112000"/>
              </a:lnSpc>
              <a:buNone/>
            </a:pPr>
            <a:r>
              <a:rPr lang="en-US" sz="1400" dirty="0">
                <a:solidFill>
                  <a:srgbClr val="B9B9C2"/>
                </a:solidFill>
                <a:latin typeface="Arial"/>
                <a:ea typeface="Arial"/>
                <a:cs typeface="Arial"/>
              </a:rPr>
              <a:t>This capture ran on the offline factory, whose provider is dev class. Populating them would publish figures ADR-018 forbids, so they stay empty rather than invented.</a:t>
            </a:r>
            <a:endParaRPr lang="en-US" sz="1400" dirty="0"/>
          </a:p>
        </p:txBody>
      </p:sp>
      <p:pic>
        <p:nvPicPr>
          <p:cNvPr id="13" name="Picture 12" descr="console-capture-dashboard.png"/>
          <p:cNvPicPr>
            <a:picLocks noChangeAspect="1"/>
          </p:cNvPicPr>
          <p:nvPr/>
        </p:nvPicPr>
        <p:blipFill>
          <a:blip r:embed="rId2"/>
          <a:stretch>
            <a:fillRect/>
          </a:stretch>
        </p:blipFill>
        <p:spPr>
          <a:xfrm>
            <a:off x="8001000" y="2331720"/>
            <a:ext cx="9601200" cy="5925312"/>
          </a:xfrm>
          <a:prstGeom prst="rect">
            <a:avLst/>
          </a:prstGeom>
        </p:spPr>
      </p:pic>
      <p:sp>
        <p:nvSpPr>
          <p:cNvPr id="14" name="Text 11"/>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B9B9C2"/>
                </a:solidFill>
                <a:latin typeface="Courier New"/>
                <a:ea typeface="Courier New"/>
                <a:cs typeface="Courier New"/>
              </a:rPr>
              <a:t>Live capture: uvicorn --factory controlplane.gateway.app:create_app --port 8099</a:t>
            </a:r>
            <a:pPr indent="0" marL="0">
              <a:buNone/>
            </a:pPr>
            <a:r>
              <a:rPr lang="en-US" sz="1200" dirty="0">
                <a:solidFill>
                  <a:srgbClr val="B9B9C2"/>
                </a:solidFill>
                <a:latin typeface="Arial"/>
                <a:ea typeface="Arial"/>
                <a:cs typeface="Arial"/>
              </a:rPr>
              <a:t>  ·  </a:t>
            </a:r>
            <a:pPr indent="0" marL="0">
              <a:buNone/>
            </a:pPr>
            <a:r>
              <a:rPr lang="en-US" sz="1200" dirty="0">
                <a:solidFill>
                  <a:srgbClr val="B9B9C2"/>
                </a:solidFill>
                <a:latin typeface="Arial"/>
                <a:ea typeface="Arial"/>
                <a:cs typeface="Arial"/>
              </a:rPr>
              <a:t>docs/09 §Console</a:t>
            </a:r>
            <a:endParaRPr lang="en-US" sz="1200" dirty="0"/>
          </a:p>
        </p:txBody>
      </p:sp>
      <p:sp>
        <p:nvSpPr>
          <p:cNvPr id="15" name="Text 12"/>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B9B9C2"/>
                </a:solidFill>
                <a:latin typeface="Arial"/>
                <a:ea typeface="Arial"/>
                <a:cs typeface="Arial"/>
              </a:rPr>
              <a:t>Copyright © 2026 Accenture. All rights reserved.</a:t>
            </a:r>
            <a:endParaRPr lang="en-US" sz="1000" dirty="0"/>
          </a:p>
        </p:txBody>
      </p:sp>
      <p:sp>
        <p:nvSpPr>
          <p:cNvPr id="16" name="Text 13"/>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B9B9C2"/>
                </a:solidFill>
                <a:latin typeface="Arial"/>
                <a:ea typeface="Arial"/>
                <a:cs typeface="Arial"/>
              </a:rPr>
              <a:t>13</a:t>
            </a:r>
            <a:endParaRPr lang="en-US" sz="10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02 · THE SOLUTION</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The cost ladder: what ships, and what is next.</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Three rungs, and we are explicit about which one carries load today. The gate is built. The router is not.</a:t>
            </a:r>
            <a:endParaRPr lang="en-US" sz="2000" dirty="0"/>
          </a:p>
        </p:txBody>
      </p:sp>
      <p:sp>
        <p:nvSpPr>
          <p:cNvPr id="5" name="Shape 3"/>
          <p:cNvSpPr/>
          <p:nvPr/>
        </p:nvSpPr>
        <p:spPr>
          <a:xfrm>
            <a:off x="685800" y="3291840"/>
            <a:ext cx="16916400" cy="1572768"/>
          </a:xfrm>
          <a:prstGeom prst="roundRect">
            <a:avLst>
              <a:gd name="adj" fmla="val 6977"/>
            </a:avLst>
          </a:prstGeom>
          <a:solidFill>
            <a:srgbClr val="EEECE7"/>
          </a:solidFill>
          <a:ln w="12700">
            <a:solidFill>
              <a:srgbClr val="EEECE7"/>
            </a:solidFill>
            <a:prstDash val="solid"/>
          </a:ln>
        </p:spPr>
      </p:sp>
      <p:sp>
        <p:nvSpPr>
          <p:cNvPr id="6" name="Text 4"/>
          <p:cNvSpPr txBox="1"/>
          <p:nvPr/>
        </p:nvSpPr>
        <p:spPr>
          <a:xfrm>
            <a:off x="1051560" y="3547872"/>
            <a:ext cx="182880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RUNG 1</a:t>
            </a:r>
            <a:endParaRPr lang="en-US" sz="1100" dirty="0"/>
          </a:p>
        </p:txBody>
      </p:sp>
      <p:sp>
        <p:nvSpPr>
          <p:cNvPr id="7" name="Text 5"/>
          <p:cNvSpPr txBox="1"/>
          <p:nvPr/>
        </p:nvSpPr>
        <p:spPr>
          <a:xfrm>
            <a:off x="1051560" y="3858768"/>
            <a:ext cx="6035040" cy="685800"/>
          </a:xfrm>
          <a:prstGeom prst="rect">
            <a:avLst/>
          </a:prstGeom>
          <a:noFill/>
          <a:ln/>
        </p:spPr>
        <p:txBody>
          <a:bodyPr wrap="square" lIns="0" tIns="0" rIns="0" bIns="0" rtlCol="0" anchor="t"/>
          <a:lstStyle/>
          <a:p>
            <a:pPr indent="0" marL="0">
              <a:buNone/>
            </a:pPr>
            <a:r>
              <a:rPr lang="en-US" sz="2400" spc="-50" kern="0" dirty="0">
                <a:solidFill>
                  <a:srgbClr val="17171C"/>
                </a:solidFill>
                <a:latin typeface="Arial"/>
                <a:ea typeface="Arial"/>
                <a:cs typeface="Arial"/>
              </a:rPr>
              <a:t>Cheap deterministic screening</a:t>
            </a:r>
            <a:endParaRPr lang="en-US" sz="2400" dirty="0"/>
          </a:p>
        </p:txBody>
      </p:sp>
      <p:sp>
        <p:nvSpPr>
          <p:cNvPr id="8" name="Shape 6"/>
          <p:cNvSpPr/>
          <p:nvPr/>
        </p:nvSpPr>
        <p:spPr>
          <a:xfrm>
            <a:off x="7543800" y="3858768"/>
            <a:ext cx="2148840" cy="384048"/>
          </a:xfrm>
          <a:prstGeom prst="roundRect">
            <a:avLst>
              <a:gd name="adj" fmla="val 50000"/>
            </a:avLst>
          </a:prstGeom>
          <a:solidFill>
            <a:srgbClr val="FFFFFF"/>
          </a:solidFill>
          <a:ln w="12700">
            <a:solidFill>
              <a:srgbClr val="D9D9DD"/>
            </a:solidFill>
            <a:prstDash val="solid"/>
          </a:ln>
        </p:spPr>
      </p:sp>
      <p:sp>
        <p:nvSpPr>
          <p:cNvPr id="9" name="Shape 7"/>
          <p:cNvSpPr/>
          <p:nvPr/>
        </p:nvSpPr>
        <p:spPr>
          <a:xfrm>
            <a:off x="7726680" y="3995928"/>
            <a:ext cx="109728" cy="109728"/>
          </a:xfrm>
          <a:prstGeom prst="ellipse">
            <a:avLst/>
          </a:prstGeom>
          <a:solidFill>
            <a:srgbClr val="1F7A4D"/>
          </a:solidFill>
          <a:ln w="12700">
            <a:solidFill>
              <a:srgbClr val="1F7A4D"/>
            </a:solidFill>
            <a:prstDash val="solid"/>
          </a:ln>
        </p:spPr>
      </p:sp>
      <p:sp>
        <p:nvSpPr>
          <p:cNvPr id="10" name="Text 8"/>
          <p:cNvSpPr txBox="1"/>
          <p:nvPr/>
        </p:nvSpPr>
        <p:spPr>
          <a:xfrm>
            <a:off x="7927848" y="3858768"/>
            <a:ext cx="1691640" cy="384048"/>
          </a:xfrm>
          <a:prstGeom prst="rect">
            <a:avLst/>
          </a:prstGeom>
          <a:noFill/>
          <a:ln/>
        </p:spPr>
        <p:txBody>
          <a:bodyPr wrap="square" lIns="0" tIns="0" rIns="0" bIns="0" rtlCol="0" anchor="ctr"/>
          <a:lstStyle/>
          <a:p>
            <a:pPr indent="0" marL="0">
              <a:buNone/>
            </a:pPr>
            <a:r>
              <a:rPr lang="en-US" sz="1200" b="1" spc="150" kern="0" dirty="0">
                <a:solidFill>
                  <a:srgbClr val="17171C"/>
                </a:solidFill>
                <a:latin typeface="Courier New"/>
                <a:ea typeface="Courier New"/>
                <a:cs typeface="Courier New"/>
              </a:rPr>
              <a:t>SHIPS</a:t>
            </a:r>
            <a:endParaRPr lang="en-US" sz="1200" dirty="0"/>
          </a:p>
        </p:txBody>
      </p:sp>
      <p:sp>
        <p:nvSpPr>
          <p:cNvPr id="11" name="Text 9"/>
          <p:cNvSpPr txBox="1"/>
          <p:nvPr/>
        </p:nvSpPr>
        <p:spPr>
          <a:xfrm>
            <a:off x="10104120" y="3611880"/>
            <a:ext cx="7315200" cy="1005840"/>
          </a:xfrm>
          <a:prstGeom prst="rect">
            <a:avLst/>
          </a:prstGeom>
          <a:noFill/>
          <a:ln/>
        </p:spPr>
        <p:txBody>
          <a:bodyPr wrap="square" lIns="0" tIns="0" rIns="0" bIns="0" rtlCol="0" anchor="ctr"/>
          <a:lstStyle/>
          <a:p>
            <a:pPr indent="0" marL="0">
              <a:lnSpc>
                <a:spcPct val="112000"/>
              </a:lnSpc>
              <a:buNone/>
            </a:pPr>
            <a:r>
              <a:rPr lang="en-US" sz="1400" dirty="0">
                <a:solidFill>
                  <a:srgbClr val="616161"/>
                </a:solidFill>
                <a:latin typeface="Arial"/>
                <a:ea typeface="Arial"/>
                <a:cs typeface="Arial"/>
              </a:rPr>
              <a:t>Input-stage matchers reject before dispatch. A blocked injection costs zero upstream tokens, because nothing is sent.</a:t>
            </a:r>
            <a:endParaRPr lang="en-US" sz="1400" dirty="0"/>
          </a:p>
        </p:txBody>
      </p:sp>
      <p:sp>
        <p:nvSpPr>
          <p:cNvPr id="12" name="Shape 10"/>
          <p:cNvSpPr/>
          <p:nvPr/>
        </p:nvSpPr>
        <p:spPr>
          <a:xfrm>
            <a:off x="685800" y="5074920"/>
            <a:ext cx="16916400" cy="1572768"/>
          </a:xfrm>
          <a:prstGeom prst="roundRect">
            <a:avLst>
              <a:gd name="adj" fmla="val 6977"/>
            </a:avLst>
          </a:prstGeom>
          <a:solidFill>
            <a:srgbClr val="EEECE7"/>
          </a:solidFill>
          <a:ln w="12700">
            <a:solidFill>
              <a:srgbClr val="EEECE7"/>
            </a:solidFill>
            <a:prstDash val="solid"/>
          </a:ln>
        </p:spPr>
      </p:sp>
      <p:sp>
        <p:nvSpPr>
          <p:cNvPr id="13" name="Text 11"/>
          <p:cNvSpPr txBox="1"/>
          <p:nvPr/>
        </p:nvSpPr>
        <p:spPr>
          <a:xfrm>
            <a:off x="1051560" y="5330952"/>
            <a:ext cx="182880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RUNG 2</a:t>
            </a:r>
            <a:endParaRPr lang="en-US" sz="1100" dirty="0"/>
          </a:p>
        </p:txBody>
      </p:sp>
      <p:sp>
        <p:nvSpPr>
          <p:cNvPr id="14" name="Text 12"/>
          <p:cNvSpPr txBox="1"/>
          <p:nvPr/>
        </p:nvSpPr>
        <p:spPr>
          <a:xfrm>
            <a:off x="1051560" y="5641848"/>
            <a:ext cx="6035040" cy="685800"/>
          </a:xfrm>
          <a:prstGeom prst="rect">
            <a:avLst/>
          </a:prstGeom>
          <a:noFill/>
          <a:ln/>
        </p:spPr>
        <p:txBody>
          <a:bodyPr wrap="square" lIns="0" tIns="0" rIns="0" bIns="0" rtlCol="0" anchor="t"/>
          <a:lstStyle/>
          <a:p>
            <a:pPr indent="0" marL="0">
              <a:buNone/>
            </a:pPr>
            <a:r>
              <a:rPr lang="en-US" sz="2400" spc="-50" kern="0" dirty="0">
                <a:solidFill>
                  <a:srgbClr val="17171C"/>
                </a:solidFill>
                <a:latin typeface="Arial"/>
                <a:ea typeface="Arial"/>
                <a:cs typeface="Arial"/>
              </a:rPr>
              <a:t>Budget and loop enforcement</a:t>
            </a:r>
            <a:endParaRPr lang="en-US" sz="2400" dirty="0"/>
          </a:p>
        </p:txBody>
      </p:sp>
      <p:sp>
        <p:nvSpPr>
          <p:cNvPr id="15" name="Shape 13"/>
          <p:cNvSpPr/>
          <p:nvPr/>
        </p:nvSpPr>
        <p:spPr>
          <a:xfrm>
            <a:off x="7543800" y="5641848"/>
            <a:ext cx="2148840" cy="384048"/>
          </a:xfrm>
          <a:prstGeom prst="roundRect">
            <a:avLst>
              <a:gd name="adj" fmla="val 50000"/>
            </a:avLst>
          </a:prstGeom>
          <a:solidFill>
            <a:srgbClr val="FFFFFF"/>
          </a:solidFill>
          <a:ln w="12700">
            <a:solidFill>
              <a:srgbClr val="D9D9DD"/>
            </a:solidFill>
            <a:prstDash val="solid"/>
          </a:ln>
        </p:spPr>
      </p:sp>
      <p:sp>
        <p:nvSpPr>
          <p:cNvPr id="16" name="Shape 14"/>
          <p:cNvSpPr/>
          <p:nvPr/>
        </p:nvSpPr>
        <p:spPr>
          <a:xfrm>
            <a:off x="7726680" y="5779008"/>
            <a:ext cx="109728" cy="109728"/>
          </a:xfrm>
          <a:prstGeom prst="ellipse">
            <a:avLst/>
          </a:prstGeom>
          <a:solidFill>
            <a:srgbClr val="1F7A4D"/>
          </a:solidFill>
          <a:ln w="12700">
            <a:solidFill>
              <a:srgbClr val="1F7A4D"/>
            </a:solidFill>
            <a:prstDash val="solid"/>
          </a:ln>
        </p:spPr>
      </p:sp>
      <p:sp>
        <p:nvSpPr>
          <p:cNvPr id="17" name="Text 15"/>
          <p:cNvSpPr txBox="1"/>
          <p:nvPr/>
        </p:nvSpPr>
        <p:spPr>
          <a:xfrm>
            <a:off x="7927848" y="5641848"/>
            <a:ext cx="1691640" cy="384048"/>
          </a:xfrm>
          <a:prstGeom prst="rect">
            <a:avLst/>
          </a:prstGeom>
          <a:noFill/>
          <a:ln/>
        </p:spPr>
        <p:txBody>
          <a:bodyPr wrap="square" lIns="0" tIns="0" rIns="0" bIns="0" rtlCol="0" anchor="ctr"/>
          <a:lstStyle/>
          <a:p>
            <a:pPr indent="0" marL="0">
              <a:buNone/>
            </a:pPr>
            <a:r>
              <a:rPr lang="en-US" sz="1200" b="1" spc="150" kern="0" dirty="0">
                <a:solidFill>
                  <a:srgbClr val="17171C"/>
                </a:solidFill>
                <a:latin typeface="Courier New"/>
                <a:ea typeface="Courier New"/>
                <a:cs typeface="Courier New"/>
              </a:rPr>
              <a:t>SHIPS</a:t>
            </a:r>
            <a:endParaRPr lang="en-US" sz="1200" dirty="0"/>
          </a:p>
        </p:txBody>
      </p:sp>
      <p:sp>
        <p:nvSpPr>
          <p:cNvPr id="18" name="Text 16"/>
          <p:cNvSpPr txBox="1"/>
          <p:nvPr/>
        </p:nvSpPr>
        <p:spPr>
          <a:xfrm>
            <a:off x="10104120" y="5394960"/>
            <a:ext cx="7315200" cy="1005840"/>
          </a:xfrm>
          <a:prstGeom prst="rect">
            <a:avLst/>
          </a:prstGeom>
          <a:noFill/>
          <a:ln/>
        </p:spPr>
        <p:txBody>
          <a:bodyPr wrap="square" lIns="0" tIns="0" rIns="0" bIns="0" rtlCol="0" anchor="ctr"/>
          <a:lstStyle/>
          <a:p>
            <a:pPr indent="0" marL="0">
              <a:lnSpc>
                <a:spcPct val="112000"/>
              </a:lnSpc>
              <a:buNone/>
            </a:pPr>
            <a:r>
              <a:rPr lang="en-US" sz="1400" dirty="0">
                <a:solidFill>
                  <a:srgbClr val="616161"/>
                </a:solidFill>
                <a:latin typeface="Arial"/>
                <a:ea typeface="Arial"/>
                <a:cs typeface="Arial"/>
              </a:rPr>
              <a:t>cost_budget and loop_guard run live in the gateway pipeline at the input stage, each inside a 1 ms budget.</a:t>
            </a:r>
            <a:endParaRPr lang="en-US" sz="1400" dirty="0"/>
          </a:p>
        </p:txBody>
      </p:sp>
      <p:sp>
        <p:nvSpPr>
          <p:cNvPr id="19" name="Shape 17"/>
          <p:cNvSpPr/>
          <p:nvPr/>
        </p:nvSpPr>
        <p:spPr>
          <a:xfrm>
            <a:off x="685800" y="6858000"/>
            <a:ext cx="16916400" cy="1572768"/>
          </a:xfrm>
          <a:prstGeom prst="roundRect">
            <a:avLst>
              <a:gd name="adj" fmla="val 6977"/>
            </a:avLst>
          </a:prstGeom>
          <a:solidFill>
            <a:srgbClr val="FFFFFF"/>
          </a:solidFill>
          <a:ln w="12700">
            <a:solidFill>
              <a:srgbClr val="D9D9DD"/>
            </a:solidFill>
            <a:prstDash val="solid"/>
          </a:ln>
        </p:spPr>
      </p:sp>
      <p:sp>
        <p:nvSpPr>
          <p:cNvPr id="20" name="Text 18"/>
          <p:cNvSpPr txBox="1"/>
          <p:nvPr/>
        </p:nvSpPr>
        <p:spPr>
          <a:xfrm>
            <a:off x="1051560" y="7114032"/>
            <a:ext cx="182880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RUNG 3</a:t>
            </a:r>
            <a:endParaRPr lang="en-US" sz="1100" dirty="0"/>
          </a:p>
        </p:txBody>
      </p:sp>
      <p:sp>
        <p:nvSpPr>
          <p:cNvPr id="21" name="Text 19"/>
          <p:cNvSpPr txBox="1"/>
          <p:nvPr/>
        </p:nvSpPr>
        <p:spPr>
          <a:xfrm>
            <a:off x="1051560" y="7424928"/>
            <a:ext cx="6035040" cy="685800"/>
          </a:xfrm>
          <a:prstGeom prst="rect">
            <a:avLst/>
          </a:prstGeom>
          <a:noFill/>
          <a:ln/>
        </p:spPr>
        <p:txBody>
          <a:bodyPr wrap="square" lIns="0" tIns="0" rIns="0" bIns="0" rtlCol="0" anchor="t"/>
          <a:lstStyle/>
          <a:p>
            <a:pPr indent="0" marL="0">
              <a:buNone/>
            </a:pPr>
            <a:r>
              <a:rPr lang="en-US" sz="2400" spc="-50" kern="0" dirty="0">
                <a:solidFill>
                  <a:srgbClr val="17171C"/>
                </a:solidFill>
                <a:latin typeface="Arial"/>
                <a:ea typeface="Arial"/>
                <a:cs typeface="Arial"/>
              </a:rPr>
              <a:t>Model cascade routing</a:t>
            </a:r>
            <a:endParaRPr lang="en-US" sz="2400" dirty="0"/>
          </a:p>
        </p:txBody>
      </p:sp>
      <p:sp>
        <p:nvSpPr>
          <p:cNvPr id="22" name="Shape 20"/>
          <p:cNvSpPr/>
          <p:nvPr/>
        </p:nvSpPr>
        <p:spPr>
          <a:xfrm>
            <a:off x="7543800" y="7424928"/>
            <a:ext cx="2148840" cy="384048"/>
          </a:xfrm>
          <a:prstGeom prst="roundRect">
            <a:avLst>
              <a:gd name="adj" fmla="val 50000"/>
            </a:avLst>
          </a:prstGeom>
          <a:solidFill>
            <a:srgbClr val="FFFFFF"/>
          </a:solidFill>
          <a:ln w="12700">
            <a:solidFill>
              <a:srgbClr val="D9D9DD"/>
            </a:solidFill>
            <a:prstDash val="solid"/>
          </a:ln>
        </p:spPr>
      </p:sp>
      <p:sp>
        <p:nvSpPr>
          <p:cNvPr id="23" name="Shape 21"/>
          <p:cNvSpPr/>
          <p:nvPr/>
        </p:nvSpPr>
        <p:spPr>
          <a:xfrm>
            <a:off x="7726680" y="7562088"/>
            <a:ext cx="109728" cy="109728"/>
          </a:xfrm>
          <a:prstGeom prst="ellipse">
            <a:avLst/>
          </a:prstGeom>
          <a:solidFill>
            <a:srgbClr val="A100FF"/>
          </a:solidFill>
          <a:ln w="12700">
            <a:solidFill>
              <a:srgbClr val="A100FF"/>
            </a:solidFill>
            <a:prstDash val="solid"/>
          </a:ln>
        </p:spPr>
      </p:sp>
      <p:sp>
        <p:nvSpPr>
          <p:cNvPr id="24" name="Text 22"/>
          <p:cNvSpPr txBox="1"/>
          <p:nvPr/>
        </p:nvSpPr>
        <p:spPr>
          <a:xfrm>
            <a:off x="7927848" y="7424928"/>
            <a:ext cx="1691640" cy="384048"/>
          </a:xfrm>
          <a:prstGeom prst="rect">
            <a:avLst/>
          </a:prstGeom>
          <a:noFill/>
          <a:ln/>
        </p:spPr>
        <p:txBody>
          <a:bodyPr wrap="square" lIns="0" tIns="0" rIns="0" bIns="0" rtlCol="0" anchor="ctr"/>
          <a:lstStyle/>
          <a:p>
            <a:pPr indent="0" marL="0">
              <a:buNone/>
            </a:pPr>
            <a:r>
              <a:rPr lang="en-US" sz="1200" b="1" spc="150" kern="0" dirty="0">
                <a:solidFill>
                  <a:srgbClr val="17171C"/>
                </a:solidFill>
                <a:latin typeface="Courier New"/>
                <a:ea typeface="Courier New"/>
                <a:cs typeface="Courier New"/>
              </a:rPr>
              <a:t>ROADMAP</a:t>
            </a:r>
            <a:endParaRPr lang="en-US" sz="1200" dirty="0"/>
          </a:p>
        </p:txBody>
      </p:sp>
      <p:sp>
        <p:nvSpPr>
          <p:cNvPr id="25" name="Text 23"/>
          <p:cNvSpPr txBox="1"/>
          <p:nvPr/>
        </p:nvSpPr>
        <p:spPr>
          <a:xfrm>
            <a:off x="10104120" y="7178040"/>
            <a:ext cx="7315200" cy="1005840"/>
          </a:xfrm>
          <a:prstGeom prst="rect">
            <a:avLst/>
          </a:prstGeom>
          <a:noFill/>
          <a:ln/>
        </p:spPr>
        <p:txBody>
          <a:bodyPr wrap="square" lIns="0" tIns="0" rIns="0" bIns="0" rtlCol="0" anchor="ctr"/>
          <a:lstStyle/>
          <a:p>
            <a:pPr indent="0" marL="0">
              <a:lnSpc>
                <a:spcPct val="112000"/>
              </a:lnSpc>
              <a:buNone/>
            </a:pPr>
            <a:r>
              <a:rPr lang="en-US" sz="1400" dirty="0">
                <a:solidFill>
                  <a:srgbClr val="616161"/>
                </a:solidFill>
                <a:latin typeface="Arial"/>
                <a:ea typeface="Arial"/>
                <a:cs typeface="Arial"/>
              </a:rPr>
              <a:t>Routing a request to a cheaper model and probing for agreement is specified and not built. It is tracked as SL-10, not presented as a capability.</a:t>
            </a:r>
            <a:endParaRPr lang="en-US" sz="1400" dirty="0"/>
          </a:p>
        </p:txBody>
      </p:sp>
      <p:sp>
        <p:nvSpPr>
          <p:cNvPr id="26" name="Text 24"/>
          <p:cNvSpPr txBox="1"/>
          <p:nvPr/>
        </p:nvSpPr>
        <p:spPr>
          <a:xfrm>
            <a:off x="685800" y="8549640"/>
            <a:ext cx="15544800" cy="411480"/>
          </a:xfrm>
          <a:prstGeom prst="rect">
            <a:avLst/>
          </a:prstGeom>
          <a:noFill/>
          <a:ln/>
        </p:spPr>
        <p:txBody>
          <a:bodyPr wrap="square" lIns="0" tIns="0" rIns="0" bIns="0" rtlCol="0" anchor="ctr"/>
          <a:lstStyle/>
          <a:p>
            <a:pPr indent="0" marL="0">
              <a:buNone/>
            </a:pPr>
            <a:r>
              <a:rPr lang="en-US" sz="1800" spc="-50" kern="0" dirty="0">
                <a:solidFill>
                  <a:srgbClr val="17171C"/>
                </a:solidFill>
                <a:latin typeface="Arial"/>
                <a:ea typeface="Arial"/>
                <a:cs typeface="Arial"/>
              </a:rPr>
              <a:t>A roadmap rung is drawn as a roadmap rung. The savings we quote come from the two that run.</a:t>
            </a:r>
            <a:endParaRPr lang="en-US" sz="1800" dirty="0"/>
          </a:p>
        </p:txBody>
      </p:sp>
      <p:sp>
        <p:nvSpPr>
          <p:cNvPr id="27" name="Text 25"/>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Source: controlplane/gateway/pipeline.py, docs/08 SL-10</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Arial"/>
                <a:ea typeface="Arial"/>
                <a:cs typeface="Arial"/>
              </a:rPr>
              <a:t>ADR-013</a:t>
            </a:r>
            <a:endParaRPr lang="en-US" sz="1200" dirty="0"/>
          </a:p>
        </p:txBody>
      </p:sp>
      <p:sp>
        <p:nvSpPr>
          <p:cNvPr id="28" name="Text 26"/>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29" name="Text 27"/>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14</a:t>
            </a:r>
            <a:endParaRPr lang="en-US" sz="10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171C"/>
        </a:solidFill>
      </p:bgPr>
    </p:bg>
    <p:spTree>
      <p:nvGrpSpPr>
        <p:cNvPr id="1" name=""/>
        <p:cNvGrpSpPr/>
        <p:nvPr/>
      </p:nvGrpSpPr>
      <p:grpSpPr/>
      <p:sp>
        <p:nvSpPr>
          <p:cNvPr id="2" name="Text 0"/>
          <p:cNvSpPr txBox="1"/>
          <p:nvPr/>
        </p:nvSpPr>
        <p:spPr>
          <a:xfrm>
            <a:off x="685800" y="5669280"/>
            <a:ext cx="10972800" cy="320040"/>
          </a:xfrm>
          <a:prstGeom prst="rect">
            <a:avLst/>
          </a:prstGeom>
          <a:noFill/>
          <a:ln/>
        </p:spPr>
        <p:txBody>
          <a:bodyPr wrap="square" lIns="0" tIns="0" rIns="0" bIns="0" rtlCol="0" anchor="ctr"/>
          <a:lstStyle/>
          <a:p>
            <a:pPr indent="0" marL="0">
              <a:buNone/>
            </a:pPr>
            <a:r>
              <a:rPr lang="en-US" sz="1200" b="1" spc="150" kern="0" dirty="0">
                <a:solidFill>
                  <a:srgbClr val="C77DFF"/>
                </a:solidFill>
                <a:latin typeface="Courier New"/>
                <a:ea typeface="Courier New"/>
                <a:cs typeface="Courier New"/>
              </a:rPr>
              <a:t>03  ·  EVIDENCE AND SCOPE</a:t>
            </a:r>
            <a:endParaRPr lang="en-US" sz="1200" dirty="0"/>
          </a:p>
        </p:txBody>
      </p:sp>
      <p:sp>
        <p:nvSpPr>
          <p:cNvPr id="3" name="Text 1"/>
          <p:cNvSpPr txBox="1"/>
          <p:nvPr/>
        </p:nvSpPr>
        <p:spPr>
          <a:xfrm>
            <a:off x="685800" y="6126480"/>
            <a:ext cx="14630400" cy="2103120"/>
          </a:xfrm>
          <a:prstGeom prst="rect">
            <a:avLst/>
          </a:prstGeom>
          <a:noFill/>
          <a:ln/>
        </p:spPr>
        <p:txBody>
          <a:bodyPr wrap="square" lIns="0" tIns="0" rIns="0" bIns="0" rtlCol="0" anchor="t"/>
          <a:lstStyle/>
          <a:p>
            <a:pPr indent="0" marL="0">
              <a:lnSpc>
                <a:spcPct val="100000"/>
              </a:lnSpc>
              <a:buNone/>
            </a:pPr>
            <a:r>
              <a:rPr lang="en-US" sz="6000" spc="-200" kern="0" dirty="0">
                <a:solidFill>
                  <a:srgbClr val="FFFFFF"/>
                </a:solidFill>
                <a:latin typeface="Arial"/>
                <a:ea typeface="Arial"/>
                <a:cs typeface="Arial"/>
              </a:rPr>
              <a:t>We report what we measured,</a:t>
            </a:r>
            <a:endParaRPr lang="en-US" sz="6000" dirty="0"/>
          </a:p>
          <a:p>
            <a:pPr indent="0" marL="0">
              <a:lnSpc>
                <a:spcPct val="100000"/>
              </a:lnSpc>
              <a:buNone/>
            </a:pPr>
            <a:r>
              <a:rPr lang="en-US" sz="6000" spc="-200" kern="0" dirty="0">
                <a:solidFill>
                  <a:srgbClr val="FFFFFF"/>
                </a:solidFill>
                <a:latin typeface="Arial"/>
                <a:ea typeface="Arial"/>
                <a:cs typeface="Arial"/>
              </a:rPr>
              <a:t>including where we fell short.</a:t>
            </a:r>
            <a:endParaRPr lang="en-US" sz="6000" dirty="0"/>
          </a:p>
        </p:txBody>
      </p:sp>
      <p:sp>
        <p:nvSpPr>
          <p:cNvPr id="4" name="Text 2"/>
          <p:cNvSpPr txBox="1"/>
          <p:nvPr/>
        </p:nvSpPr>
        <p:spPr>
          <a:xfrm>
            <a:off x="685800" y="8321040"/>
            <a:ext cx="13716000" cy="548640"/>
          </a:xfrm>
          <a:prstGeom prst="rect">
            <a:avLst/>
          </a:prstGeom>
          <a:noFill/>
          <a:ln/>
        </p:spPr>
        <p:txBody>
          <a:bodyPr wrap="square" lIns="0" tIns="0" rIns="0" bIns="0" rtlCol="0" anchor="ctr"/>
          <a:lstStyle/>
          <a:p>
            <a:pPr indent="0" marL="0">
              <a:buNone/>
            </a:pPr>
            <a:r>
              <a:rPr lang="en-US" sz="2000" dirty="0">
                <a:solidFill>
                  <a:srgbClr val="B9B9C2"/>
                </a:solidFill>
                <a:latin typeface="Arial"/>
                <a:ea typeface="Arial"/>
                <a:cs typeface="Arial"/>
              </a:rPr>
              <a:t>Blind first contact on a frozen corpus. Targets were never moved to meet a result.</a:t>
            </a:r>
            <a:endParaRPr lang="en-US" sz="2000" dirty="0"/>
          </a:p>
        </p:txBody>
      </p:sp>
      <p:sp>
        <p:nvSpPr>
          <p:cNvPr id="5" name="Text 3"/>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B9B9C2"/>
                </a:solidFill>
                <a:latin typeface="Arial"/>
                <a:ea typeface="Arial"/>
                <a:cs typeface="Arial"/>
              </a:rPr>
              <a:t>Copyright © 2026 Accenture. All rights reserved.</a:t>
            </a:r>
            <a:endParaRPr lang="en-US" sz="1000" dirty="0"/>
          </a:p>
        </p:txBody>
      </p:sp>
      <p:sp>
        <p:nvSpPr>
          <p:cNvPr id="6" name="Text 4"/>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B9B9C2"/>
                </a:solidFill>
                <a:latin typeface="Arial"/>
                <a:ea typeface="Arial"/>
                <a:cs typeface="Arial"/>
              </a:rPr>
              <a:t>15</a:t>
            </a:r>
            <a:endParaRPr lang="en-US" sz="10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03 · EVIDENCE AND SCOPE</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What ships today, and what does not.</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The honest inventory. Nothing on the left is aspirational, and nothing on the right is hidden.</a:t>
            </a:r>
            <a:endParaRPr lang="en-US" sz="2000" dirty="0"/>
          </a:p>
        </p:txBody>
      </p:sp>
      <p:sp>
        <p:nvSpPr>
          <p:cNvPr id="5" name="Text 3"/>
          <p:cNvSpPr txBox="1"/>
          <p:nvPr/>
        </p:nvSpPr>
        <p:spPr>
          <a:xfrm>
            <a:off x="685800" y="3154680"/>
            <a:ext cx="832104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SHIPS TODAY</a:t>
            </a:r>
            <a:endParaRPr lang="en-US" sz="1100" dirty="0"/>
          </a:p>
        </p:txBody>
      </p:sp>
      <p:sp>
        <p:nvSpPr>
          <p:cNvPr id="6" name="Shape 4"/>
          <p:cNvSpPr/>
          <p:nvPr/>
        </p:nvSpPr>
        <p:spPr>
          <a:xfrm>
            <a:off x="685800" y="3502152"/>
            <a:ext cx="8321040" cy="0"/>
          </a:xfrm>
          <a:prstGeom prst="line">
            <a:avLst/>
          </a:prstGeom>
          <a:noFill/>
          <a:ln w="9525">
            <a:solidFill>
              <a:srgbClr val="17171C"/>
            </a:solidFill>
            <a:prstDash val="solid"/>
          </a:ln>
        </p:spPr>
      </p:sp>
      <p:sp>
        <p:nvSpPr>
          <p:cNvPr id="7" name="Shape 5"/>
          <p:cNvSpPr/>
          <p:nvPr/>
        </p:nvSpPr>
        <p:spPr>
          <a:xfrm>
            <a:off x="685800" y="3758184"/>
            <a:ext cx="100584" cy="100584"/>
          </a:xfrm>
          <a:prstGeom prst="ellipse">
            <a:avLst/>
          </a:prstGeom>
          <a:solidFill>
            <a:srgbClr val="1F7A4D"/>
          </a:solidFill>
          <a:ln w="12700">
            <a:solidFill>
              <a:srgbClr val="1F7A4D"/>
            </a:solidFill>
            <a:prstDash val="solid"/>
          </a:ln>
        </p:spPr>
      </p:sp>
      <p:sp>
        <p:nvSpPr>
          <p:cNvPr id="8" name="Text 6"/>
          <p:cNvSpPr txBox="1"/>
          <p:nvPr/>
        </p:nvSpPr>
        <p:spPr>
          <a:xfrm>
            <a:off x="941832" y="3611880"/>
            <a:ext cx="4663440" cy="329184"/>
          </a:xfrm>
          <a:prstGeom prst="rect">
            <a:avLst/>
          </a:prstGeom>
          <a:noFill/>
          <a:ln/>
        </p:spPr>
        <p:txBody>
          <a:bodyPr wrap="square" lIns="0" tIns="0" rIns="0" bIns="0" rtlCol="0" anchor="ctr"/>
          <a:lstStyle/>
          <a:p>
            <a:pPr indent="0" marL="0">
              <a:buNone/>
            </a:pPr>
            <a:r>
              <a:rPr lang="en-US" sz="1600" dirty="0">
                <a:solidFill>
                  <a:srgbClr val="17171C"/>
                </a:solidFill>
                <a:latin typeface="Arial"/>
                <a:ea typeface="Arial"/>
                <a:cs typeface="Arial"/>
              </a:rPr>
              <a:t>Live detector registry</a:t>
            </a:r>
            <a:endParaRPr lang="en-US" sz="1600" dirty="0"/>
          </a:p>
        </p:txBody>
      </p:sp>
      <p:sp>
        <p:nvSpPr>
          <p:cNvPr id="9" name="Text 7"/>
          <p:cNvSpPr txBox="1"/>
          <p:nvPr/>
        </p:nvSpPr>
        <p:spPr>
          <a:xfrm>
            <a:off x="5623560" y="3611880"/>
            <a:ext cx="3383280" cy="329184"/>
          </a:xfrm>
          <a:prstGeom prst="rect">
            <a:avLst/>
          </a:prstGeom>
          <a:noFill/>
          <a:ln/>
        </p:spPr>
        <p:txBody>
          <a:bodyPr wrap="square" lIns="0" tIns="0" rIns="0" bIns="0" rtlCol="0" anchor="ctr"/>
          <a:lstStyle/>
          <a:p>
            <a:pPr algn="r" indent="0" marL="0">
              <a:buNone/>
            </a:pPr>
            <a:r>
              <a:rPr lang="en-US" sz="1200" b="1" dirty="0">
                <a:solidFill>
                  <a:srgbClr val="1F7A4D"/>
                </a:solidFill>
                <a:latin typeface="Courier New"/>
                <a:ea typeface="Courier New"/>
                <a:cs typeface="Courier New"/>
              </a:rPr>
              <a:t>8 of 11</a:t>
            </a:r>
            <a:endParaRPr lang="en-US" sz="1200" dirty="0"/>
          </a:p>
        </p:txBody>
      </p:sp>
      <p:sp>
        <p:nvSpPr>
          <p:cNvPr id="10" name="Text 8"/>
          <p:cNvSpPr txBox="1"/>
          <p:nvPr/>
        </p:nvSpPr>
        <p:spPr>
          <a:xfrm>
            <a:off x="941832" y="3959352"/>
            <a:ext cx="7863840" cy="603504"/>
          </a:xfrm>
          <a:prstGeom prst="rect">
            <a:avLst/>
          </a:prstGeom>
          <a:noFill/>
          <a:ln/>
        </p:spPr>
        <p:txBody>
          <a:bodyPr wrap="square" lIns="0" tIns="0" rIns="0" bIns="0" rtlCol="0" anchor="t"/>
          <a:lstStyle/>
          <a:p>
            <a:pPr indent="0" marL="0">
              <a:lnSpc>
                <a:spcPct val="108000"/>
              </a:lnSpc>
              <a:buNone/>
            </a:pPr>
            <a:r>
              <a:rPr lang="en-US" sz="1300" dirty="0">
                <a:solidFill>
                  <a:srgbClr val="616161"/>
                </a:solidFill>
                <a:latin typeface="Arial"/>
                <a:ea typeface="Arial"/>
                <a:cs typeface="Arial"/>
              </a:rPr>
              <a:t>The three deterministic matchers plus injection, toxicity, grounding, budget and loop guard, with entity_enricher live as the enrichment stage.</a:t>
            </a:r>
            <a:endParaRPr lang="en-US" sz="1300" dirty="0"/>
          </a:p>
        </p:txBody>
      </p:sp>
      <p:sp>
        <p:nvSpPr>
          <p:cNvPr id="11" name="Shape 9"/>
          <p:cNvSpPr/>
          <p:nvPr/>
        </p:nvSpPr>
        <p:spPr>
          <a:xfrm>
            <a:off x="685800" y="4581144"/>
            <a:ext cx="8321040" cy="0"/>
          </a:xfrm>
          <a:prstGeom prst="line">
            <a:avLst/>
          </a:prstGeom>
          <a:noFill/>
          <a:ln w="9525">
            <a:solidFill>
              <a:srgbClr val="D9D9DD"/>
            </a:solidFill>
            <a:prstDash val="solid"/>
          </a:ln>
        </p:spPr>
      </p:sp>
      <p:sp>
        <p:nvSpPr>
          <p:cNvPr id="12" name="Shape 10"/>
          <p:cNvSpPr/>
          <p:nvPr/>
        </p:nvSpPr>
        <p:spPr>
          <a:xfrm>
            <a:off x="685800" y="4818888"/>
            <a:ext cx="100584" cy="100584"/>
          </a:xfrm>
          <a:prstGeom prst="ellipse">
            <a:avLst/>
          </a:prstGeom>
          <a:solidFill>
            <a:srgbClr val="1F7A4D"/>
          </a:solidFill>
          <a:ln w="12700">
            <a:solidFill>
              <a:srgbClr val="1F7A4D"/>
            </a:solidFill>
            <a:prstDash val="solid"/>
          </a:ln>
        </p:spPr>
      </p:sp>
      <p:sp>
        <p:nvSpPr>
          <p:cNvPr id="13" name="Text 11"/>
          <p:cNvSpPr txBox="1"/>
          <p:nvPr/>
        </p:nvSpPr>
        <p:spPr>
          <a:xfrm>
            <a:off x="941832" y="4672584"/>
            <a:ext cx="4663440" cy="329184"/>
          </a:xfrm>
          <a:prstGeom prst="rect">
            <a:avLst/>
          </a:prstGeom>
          <a:noFill/>
          <a:ln/>
        </p:spPr>
        <p:txBody>
          <a:bodyPr wrap="square" lIns="0" tIns="0" rIns="0" bIns="0" rtlCol="0" anchor="ctr"/>
          <a:lstStyle/>
          <a:p>
            <a:pPr indent="0" marL="0">
              <a:buNone/>
            </a:pPr>
            <a:r>
              <a:rPr lang="en-US" sz="1600" dirty="0">
                <a:solidFill>
                  <a:srgbClr val="17171C"/>
                </a:solidFill>
                <a:latin typeface="Arial"/>
                <a:ea typeface="Arial"/>
                <a:cs typeface="Arial"/>
              </a:rPr>
              <a:t>Gateway hot path</a:t>
            </a:r>
            <a:endParaRPr lang="en-US" sz="1600" dirty="0"/>
          </a:p>
        </p:txBody>
      </p:sp>
      <p:sp>
        <p:nvSpPr>
          <p:cNvPr id="14" name="Text 12"/>
          <p:cNvSpPr txBox="1"/>
          <p:nvPr/>
        </p:nvSpPr>
        <p:spPr>
          <a:xfrm>
            <a:off x="5623560" y="4672584"/>
            <a:ext cx="3383280" cy="329184"/>
          </a:xfrm>
          <a:prstGeom prst="rect">
            <a:avLst/>
          </a:prstGeom>
          <a:noFill/>
          <a:ln/>
        </p:spPr>
        <p:txBody>
          <a:bodyPr wrap="square" lIns="0" tIns="0" rIns="0" bIns="0" rtlCol="0" anchor="ctr"/>
          <a:lstStyle/>
          <a:p>
            <a:pPr algn="r" indent="0" marL="0">
              <a:buNone/>
            </a:pPr>
            <a:r>
              <a:rPr lang="en-US" sz="1200" b="1" dirty="0">
                <a:solidFill>
                  <a:srgbClr val="1F7A4D"/>
                </a:solidFill>
                <a:latin typeface="Courier New"/>
                <a:ea typeface="Courier New"/>
                <a:cs typeface="Courier New"/>
              </a:rPr>
              <a:t>Implemented</a:t>
            </a:r>
            <a:endParaRPr lang="en-US" sz="1200" dirty="0"/>
          </a:p>
        </p:txBody>
      </p:sp>
      <p:sp>
        <p:nvSpPr>
          <p:cNvPr id="15" name="Text 13"/>
          <p:cNvSpPr txBox="1"/>
          <p:nvPr/>
        </p:nvSpPr>
        <p:spPr>
          <a:xfrm>
            <a:off x="941832" y="5020056"/>
            <a:ext cx="7863840" cy="603504"/>
          </a:xfrm>
          <a:prstGeom prst="rect">
            <a:avLst/>
          </a:prstGeom>
          <a:noFill/>
          <a:ln/>
        </p:spPr>
        <p:txBody>
          <a:bodyPr wrap="square" lIns="0" tIns="0" rIns="0" bIns="0" rtlCol="0" anchor="t"/>
          <a:lstStyle/>
          <a:p>
            <a:pPr indent="0" marL="0">
              <a:lnSpc>
                <a:spcPct val="108000"/>
              </a:lnSpc>
              <a:buNone/>
            </a:pPr>
            <a:r>
              <a:rPr lang="en-US" sz="1300" dirty="0">
                <a:solidFill>
                  <a:srgbClr val="616161"/>
                </a:solidFill>
                <a:latin typeface="Arial"/>
                <a:ea typeface="Arial"/>
                <a:cs typeface="Arial"/>
              </a:rPr>
              <a:t>Ingress lane, sentence buffer, buffered and streaming delivery, SSE proxy, boot-time canary.</a:t>
            </a:r>
            <a:endParaRPr lang="en-US" sz="1300" dirty="0"/>
          </a:p>
        </p:txBody>
      </p:sp>
      <p:sp>
        <p:nvSpPr>
          <p:cNvPr id="16" name="Shape 14"/>
          <p:cNvSpPr/>
          <p:nvPr/>
        </p:nvSpPr>
        <p:spPr>
          <a:xfrm>
            <a:off x="685800" y="5641848"/>
            <a:ext cx="8321040" cy="0"/>
          </a:xfrm>
          <a:prstGeom prst="line">
            <a:avLst/>
          </a:prstGeom>
          <a:noFill/>
          <a:ln w="9525">
            <a:solidFill>
              <a:srgbClr val="D9D9DD"/>
            </a:solidFill>
            <a:prstDash val="solid"/>
          </a:ln>
        </p:spPr>
      </p:sp>
      <p:sp>
        <p:nvSpPr>
          <p:cNvPr id="17" name="Shape 15"/>
          <p:cNvSpPr/>
          <p:nvPr/>
        </p:nvSpPr>
        <p:spPr>
          <a:xfrm>
            <a:off x="685800" y="5879592"/>
            <a:ext cx="100584" cy="100584"/>
          </a:xfrm>
          <a:prstGeom prst="ellipse">
            <a:avLst/>
          </a:prstGeom>
          <a:solidFill>
            <a:srgbClr val="1F7A4D"/>
          </a:solidFill>
          <a:ln w="12700">
            <a:solidFill>
              <a:srgbClr val="1F7A4D"/>
            </a:solidFill>
            <a:prstDash val="solid"/>
          </a:ln>
        </p:spPr>
      </p:sp>
      <p:sp>
        <p:nvSpPr>
          <p:cNvPr id="18" name="Text 16"/>
          <p:cNvSpPr txBox="1"/>
          <p:nvPr/>
        </p:nvSpPr>
        <p:spPr>
          <a:xfrm>
            <a:off x="941832" y="5733288"/>
            <a:ext cx="4663440" cy="329184"/>
          </a:xfrm>
          <a:prstGeom prst="rect">
            <a:avLst/>
          </a:prstGeom>
          <a:noFill/>
          <a:ln/>
        </p:spPr>
        <p:txBody>
          <a:bodyPr wrap="square" lIns="0" tIns="0" rIns="0" bIns="0" rtlCol="0" anchor="ctr"/>
          <a:lstStyle/>
          <a:p>
            <a:pPr indent="0" marL="0">
              <a:buNone/>
            </a:pPr>
            <a:r>
              <a:rPr lang="en-US" sz="1600" dirty="0">
                <a:solidFill>
                  <a:srgbClr val="17171C"/>
                </a:solidFill>
                <a:latin typeface="Arial"/>
                <a:ea typeface="Arial"/>
                <a:cs typeface="Arial"/>
              </a:rPr>
              <a:t>Policy engine</a:t>
            </a:r>
            <a:endParaRPr lang="en-US" sz="1600" dirty="0"/>
          </a:p>
        </p:txBody>
      </p:sp>
      <p:sp>
        <p:nvSpPr>
          <p:cNvPr id="19" name="Text 17"/>
          <p:cNvSpPr txBox="1"/>
          <p:nvPr/>
        </p:nvSpPr>
        <p:spPr>
          <a:xfrm>
            <a:off x="5623560" y="5733288"/>
            <a:ext cx="3383280" cy="329184"/>
          </a:xfrm>
          <a:prstGeom prst="rect">
            <a:avLst/>
          </a:prstGeom>
          <a:noFill/>
          <a:ln/>
        </p:spPr>
        <p:txBody>
          <a:bodyPr wrap="square" lIns="0" tIns="0" rIns="0" bIns="0" rtlCol="0" anchor="ctr"/>
          <a:lstStyle/>
          <a:p>
            <a:pPr algn="r" indent="0" marL="0">
              <a:buNone/>
            </a:pPr>
            <a:r>
              <a:rPr lang="en-US" sz="1200" b="1" dirty="0">
                <a:solidFill>
                  <a:srgbClr val="1F7A4D"/>
                </a:solidFill>
                <a:latin typeface="Courier New"/>
                <a:ea typeface="Courier New"/>
                <a:cs typeface="Courier New"/>
              </a:rPr>
              <a:t>Implemented</a:t>
            </a:r>
            <a:endParaRPr lang="en-US" sz="1200" dirty="0"/>
          </a:p>
        </p:txBody>
      </p:sp>
      <p:sp>
        <p:nvSpPr>
          <p:cNvPr id="20" name="Text 18"/>
          <p:cNvSpPr txBox="1"/>
          <p:nvPr/>
        </p:nvSpPr>
        <p:spPr>
          <a:xfrm>
            <a:off x="941832" y="6080760"/>
            <a:ext cx="7863840" cy="603504"/>
          </a:xfrm>
          <a:prstGeom prst="rect">
            <a:avLst/>
          </a:prstGeom>
          <a:noFill/>
          <a:ln/>
        </p:spPr>
        <p:txBody>
          <a:bodyPr wrap="square" lIns="0" tIns="0" rIns="0" bIns="0" rtlCol="0" anchor="t"/>
          <a:lstStyle/>
          <a:p>
            <a:pPr indent="0" marL="0">
              <a:lnSpc>
                <a:spcPct val="108000"/>
              </a:lnSpc>
              <a:buNone/>
            </a:pPr>
            <a:r>
              <a:rPr lang="en-US" sz="1300" dirty="0">
                <a:solidFill>
                  <a:srgbClr val="616161"/>
                </a:solidFill>
                <a:latin typeface="Arial"/>
                <a:ea typeface="Arial"/>
                <a:cs typeface="Arial"/>
              </a:rPr>
              <a:t>All four verdicts, band logic, and per-use-case fail-open and fail-closed resolution.</a:t>
            </a:r>
            <a:endParaRPr lang="en-US" sz="1300" dirty="0"/>
          </a:p>
        </p:txBody>
      </p:sp>
      <p:sp>
        <p:nvSpPr>
          <p:cNvPr id="21" name="Shape 19"/>
          <p:cNvSpPr/>
          <p:nvPr/>
        </p:nvSpPr>
        <p:spPr>
          <a:xfrm>
            <a:off x="685800" y="6702552"/>
            <a:ext cx="8321040" cy="0"/>
          </a:xfrm>
          <a:prstGeom prst="line">
            <a:avLst/>
          </a:prstGeom>
          <a:noFill/>
          <a:ln w="9525">
            <a:solidFill>
              <a:srgbClr val="D9D9DD"/>
            </a:solidFill>
            <a:prstDash val="solid"/>
          </a:ln>
        </p:spPr>
      </p:sp>
      <p:sp>
        <p:nvSpPr>
          <p:cNvPr id="22" name="Shape 20"/>
          <p:cNvSpPr/>
          <p:nvPr/>
        </p:nvSpPr>
        <p:spPr>
          <a:xfrm>
            <a:off x="685800" y="6940296"/>
            <a:ext cx="100584" cy="100584"/>
          </a:xfrm>
          <a:prstGeom prst="ellipse">
            <a:avLst/>
          </a:prstGeom>
          <a:solidFill>
            <a:srgbClr val="1F7A4D"/>
          </a:solidFill>
          <a:ln w="12700">
            <a:solidFill>
              <a:srgbClr val="1F7A4D"/>
            </a:solidFill>
            <a:prstDash val="solid"/>
          </a:ln>
        </p:spPr>
      </p:sp>
      <p:sp>
        <p:nvSpPr>
          <p:cNvPr id="23" name="Text 21"/>
          <p:cNvSpPr txBox="1"/>
          <p:nvPr/>
        </p:nvSpPr>
        <p:spPr>
          <a:xfrm>
            <a:off x="941832" y="6793992"/>
            <a:ext cx="4663440" cy="329184"/>
          </a:xfrm>
          <a:prstGeom prst="rect">
            <a:avLst/>
          </a:prstGeom>
          <a:noFill/>
          <a:ln/>
        </p:spPr>
        <p:txBody>
          <a:bodyPr wrap="square" lIns="0" tIns="0" rIns="0" bIns="0" rtlCol="0" anchor="ctr"/>
          <a:lstStyle/>
          <a:p>
            <a:pPr indent="0" marL="0">
              <a:buNone/>
            </a:pPr>
            <a:r>
              <a:rPr lang="en-US" sz="1600" dirty="0">
                <a:solidFill>
                  <a:srgbClr val="17171C"/>
                </a:solidFill>
                <a:latin typeface="Arial"/>
                <a:ea typeface="Arial"/>
                <a:cs typeface="Arial"/>
              </a:rPr>
              <a:t>Cost plane</a:t>
            </a:r>
            <a:endParaRPr lang="en-US" sz="1600" dirty="0"/>
          </a:p>
        </p:txBody>
      </p:sp>
      <p:sp>
        <p:nvSpPr>
          <p:cNvPr id="24" name="Text 22"/>
          <p:cNvSpPr txBox="1"/>
          <p:nvPr/>
        </p:nvSpPr>
        <p:spPr>
          <a:xfrm>
            <a:off x="5623560" y="6793992"/>
            <a:ext cx="3383280" cy="329184"/>
          </a:xfrm>
          <a:prstGeom prst="rect">
            <a:avLst/>
          </a:prstGeom>
          <a:noFill/>
          <a:ln/>
        </p:spPr>
        <p:txBody>
          <a:bodyPr wrap="square" lIns="0" tIns="0" rIns="0" bIns="0" rtlCol="0" anchor="ctr"/>
          <a:lstStyle/>
          <a:p>
            <a:pPr algn="r" indent="0" marL="0">
              <a:buNone/>
            </a:pPr>
            <a:r>
              <a:rPr lang="en-US" sz="1200" b="1" dirty="0">
                <a:solidFill>
                  <a:srgbClr val="1F7A4D"/>
                </a:solidFill>
                <a:latin typeface="Courier New"/>
                <a:ea typeface="Courier New"/>
                <a:cs typeface="Courier New"/>
              </a:rPr>
              <a:t>Enforces</a:t>
            </a:r>
            <a:endParaRPr lang="en-US" sz="1200" dirty="0"/>
          </a:p>
        </p:txBody>
      </p:sp>
      <p:sp>
        <p:nvSpPr>
          <p:cNvPr id="25" name="Text 23"/>
          <p:cNvSpPr txBox="1"/>
          <p:nvPr/>
        </p:nvSpPr>
        <p:spPr>
          <a:xfrm>
            <a:off x="941832" y="7141464"/>
            <a:ext cx="7863840" cy="603504"/>
          </a:xfrm>
          <a:prstGeom prst="rect">
            <a:avLst/>
          </a:prstGeom>
          <a:noFill/>
          <a:ln/>
        </p:spPr>
        <p:txBody>
          <a:bodyPr wrap="square" lIns="0" tIns="0" rIns="0" bIns="0" rtlCol="0" anchor="t"/>
          <a:lstStyle/>
          <a:p>
            <a:pPr indent="0" marL="0">
              <a:lnSpc>
                <a:spcPct val="108000"/>
              </a:lnSpc>
              <a:buNone/>
            </a:pPr>
            <a:r>
              <a:rPr lang="en-US" sz="1300" dirty="0">
                <a:solidFill>
                  <a:srgbClr val="616161"/>
                </a:solidFill>
                <a:latin typeface="Arial"/>
                <a:ea typeface="Arial"/>
                <a:cs typeface="Arial"/>
              </a:rPr>
              <a:t>cost_budget, loop_guard and the spend ledger run live at the input stage.</a:t>
            </a:r>
            <a:endParaRPr lang="en-US" sz="1300" dirty="0"/>
          </a:p>
        </p:txBody>
      </p:sp>
      <p:sp>
        <p:nvSpPr>
          <p:cNvPr id="26" name="Shape 24"/>
          <p:cNvSpPr/>
          <p:nvPr/>
        </p:nvSpPr>
        <p:spPr>
          <a:xfrm>
            <a:off x="685800" y="7763256"/>
            <a:ext cx="8321040" cy="0"/>
          </a:xfrm>
          <a:prstGeom prst="line">
            <a:avLst/>
          </a:prstGeom>
          <a:noFill/>
          <a:ln w="9525">
            <a:solidFill>
              <a:srgbClr val="D9D9DD"/>
            </a:solidFill>
            <a:prstDash val="solid"/>
          </a:ln>
        </p:spPr>
      </p:sp>
      <p:sp>
        <p:nvSpPr>
          <p:cNvPr id="27" name="Shape 25"/>
          <p:cNvSpPr/>
          <p:nvPr/>
        </p:nvSpPr>
        <p:spPr>
          <a:xfrm>
            <a:off x="685800" y="8001000"/>
            <a:ext cx="100584" cy="100584"/>
          </a:xfrm>
          <a:prstGeom prst="ellipse">
            <a:avLst/>
          </a:prstGeom>
          <a:solidFill>
            <a:srgbClr val="1F7A4D"/>
          </a:solidFill>
          <a:ln w="12700">
            <a:solidFill>
              <a:srgbClr val="1F7A4D"/>
            </a:solidFill>
            <a:prstDash val="solid"/>
          </a:ln>
        </p:spPr>
      </p:sp>
      <p:sp>
        <p:nvSpPr>
          <p:cNvPr id="28" name="Text 26"/>
          <p:cNvSpPr txBox="1"/>
          <p:nvPr/>
        </p:nvSpPr>
        <p:spPr>
          <a:xfrm>
            <a:off x="941832" y="7854696"/>
            <a:ext cx="4663440" cy="329184"/>
          </a:xfrm>
          <a:prstGeom prst="rect">
            <a:avLst/>
          </a:prstGeom>
          <a:noFill/>
          <a:ln/>
        </p:spPr>
        <p:txBody>
          <a:bodyPr wrap="square" lIns="0" tIns="0" rIns="0" bIns="0" rtlCol="0" anchor="ctr"/>
          <a:lstStyle/>
          <a:p>
            <a:pPr indent="0" marL="0">
              <a:buNone/>
            </a:pPr>
            <a:r>
              <a:rPr lang="en-US" sz="1600" dirty="0">
                <a:solidFill>
                  <a:srgbClr val="17171C"/>
                </a:solidFill>
                <a:latin typeface="Arial"/>
                <a:ea typeface="Arial"/>
                <a:cs typeface="Arial"/>
              </a:rPr>
              <a:t>Oversight console</a:t>
            </a:r>
            <a:endParaRPr lang="en-US" sz="1600" dirty="0"/>
          </a:p>
        </p:txBody>
      </p:sp>
      <p:sp>
        <p:nvSpPr>
          <p:cNvPr id="29" name="Text 27"/>
          <p:cNvSpPr txBox="1"/>
          <p:nvPr/>
        </p:nvSpPr>
        <p:spPr>
          <a:xfrm>
            <a:off x="5623560" y="7854696"/>
            <a:ext cx="3383280" cy="329184"/>
          </a:xfrm>
          <a:prstGeom prst="rect">
            <a:avLst/>
          </a:prstGeom>
          <a:noFill/>
          <a:ln/>
        </p:spPr>
        <p:txBody>
          <a:bodyPr wrap="square" lIns="0" tIns="0" rIns="0" bIns="0" rtlCol="0" anchor="ctr"/>
          <a:lstStyle/>
          <a:p>
            <a:pPr algn="r" indent="0" marL="0">
              <a:buNone/>
            </a:pPr>
            <a:r>
              <a:rPr lang="en-US" sz="1200" b="1" dirty="0">
                <a:solidFill>
                  <a:srgbClr val="1F7A4D"/>
                </a:solidFill>
                <a:latin typeface="Courier New"/>
                <a:ea typeface="Courier New"/>
                <a:cs typeface="Courier New"/>
              </a:rPr>
              <a:t>Implemented</a:t>
            </a:r>
            <a:endParaRPr lang="en-US" sz="1200" dirty="0"/>
          </a:p>
        </p:txBody>
      </p:sp>
      <p:sp>
        <p:nvSpPr>
          <p:cNvPr id="30" name="Text 28"/>
          <p:cNvSpPr txBox="1"/>
          <p:nvPr/>
        </p:nvSpPr>
        <p:spPr>
          <a:xfrm>
            <a:off x="941832" y="8202168"/>
            <a:ext cx="7863840" cy="603504"/>
          </a:xfrm>
          <a:prstGeom prst="rect">
            <a:avLst/>
          </a:prstGeom>
          <a:noFill/>
          <a:ln/>
        </p:spPr>
        <p:txBody>
          <a:bodyPr wrap="square" lIns="0" tIns="0" rIns="0" bIns="0" rtlCol="0" anchor="t"/>
          <a:lstStyle/>
          <a:p>
            <a:pPr indent="0" marL="0">
              <a:lnSpc>
                <a:spcPct val="108000"/>
              </a:lnSpc>
              <a:buNone/>
            </a:pPr>
            <a:r>
              <a:rPr lang="en-US" sz="1300" dirty="0">
                <a:solidFill>
                  <a:srgbClr val="616161"/>
                </a:solidFill>
                <a:latin typeface="Arial"/>
                <a:ea typeface="Arial"/>
                <a:cs typeface="Arial"/>
              </a:rPr>
              <a:t>Three pages served same-origin, each static figure citing the report it came from.</a:t>
            </a:r>
            <a:endParaRPr lang="en-US" sz="1300" dirty="0"/>
          </a:p>
        </p:txBody>
      </p:sp>
      <p:sp>
        <p:nvSpPr>
          <p:cNvPr id="31" name="Shape 29"/>
          <p:cNvSpPr/>
          <p:nvPr/>
        </p:nvSpPr>
        <p:spPr>
          <a:xfrm>
            <a:off x="685800" y="8823960"/>
            <a:ext cx="8321040" cy="0"/>
          </a:xfrm>
          <a:prstGeom prst="line">
            <a:avLst/>
          </a:prstGeom>
          <a:noFill/>
          <a:ln w="9525">
            <a:solidFill>
              <a:srgbClr val="D9D9DD"/>
            </a:solidFill>
            <a:prstDash val="solid"/>
          </a:ln>
        </p:spPr>
      </p:sp>
      <p:sp>
        <p:nvSpPr>
          <p:cNvPr id="32" name="Text 30"/>
          <p:cNvSpPr txBox="1"/>
          <p:nvPr/>
        </p:nvSpPr>
        <p:spPr>
          <a:xfrm>
            <a:off x="9281160" y="3154680"/>
            <a:ext cx="832104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CUT, STUBBED OR UNMEASURED</a:t>
            </a:r>
            <a:endParaRPr lang="en-US" sz="1100" dirty="0"/>
          </a:p>
        </p:txBody>
      </p:sp>
      <p:sp>
        <p:nvSpPr>
          <p:cNvPr id="33" name="Shape 31"/>
          <p:cNvSpPr/>
          <p:nvPr/>
        </p:nvSpPr>
        <p:spPr>
          <a:xfrm>
            <a:off x="9281160" y="3502152"/>
            <a:ext cx="8321040" cy="0"/>
          </a:xfrm>
          <a:prstGeom prst="line">
            <a:avLst/>
          </a:prstGeom>
          <a:noFill/>
          <a:ln w="9525">
            <a:solidFill>
              <a:srgbClr val="17171C"/>
            </a:solidFill>
            <a:prstDash val="solid"/>
          </a:ln>
        </p:spPr>
      </p:sp>
      <p:sp>
        <p:nvSpPr>
          <p:cNvPr id="34" name="Shape 32"/>
          <p:cNvSpPr/>
          <p:nvPr/>
        </p:nvSpPr>
        <p:spPr>
          <a:xfrm>
            <a:off x="9281160" y="3758184"/>
            <a:ext cx="100584" cy="100584"/>
          </a:xfrm>
          <a:prstGeom prst="ellipse">
            <a:avLst/>
          </a:prstGeom>
          <a:solidFill>
            <a:srgbClr val="A100FF"/>
          </a:solidFill>
          <a:ln w="12700">
            <a:solidFill>
              <a:srgbClr val="A100FF"/>
            </a:solidFill>
            <a:prstDash val="solid"/>
          </a:ln>
        </p:spPr>
      </p:sp>
      <p:sp>
        <p:nvSpPr>
          <p:cNvPr id="35" name="Text 33"/>
          <p:cNvSpPr txBox="1"/>
          <p:nvPr/>
        </p:nvSpPr>
        <p:spPr>
          <a:xfrm>
            <a:off x="9537192" y="3611880"/>
            <a:ext cx="4663440" cy="329184"/>
          </a:xfrm>
          <a:prstGeom prst="rect">
            <a:avLst/>
          </a:prstGeom>
          <a:noFill/>
          <a:ln/>
        </p:spPr>
        <p:txBody>
          <a:bodyPr wrap="square" lIns="0" tIns="0" rIns="0" bIns="0" rtlCol="0" anchor="ctr"/>
          <a:lstStyle/>
          <a:p>
            <a:pPr indent="0" marL="0">
              <a:buNone/>
            </a:pPr>
            <a:r>
              <a:rPr lang="en-US" sz="1600" dirty="0">
                <a:solidFill>
                  <a:srgbClr val="17171C"/>
                </a:solidFill>
                <a:latin typeface="Arial"/>
                <a:ea typeface="Arial"/>
                <a:cs typeface="Arial"/>
              </a:rPr>
              <a:t>Scored by the eval harness</a:t>
            </a:r>
            <a:endParaRPr lang="en-US" sz="1600" dirty="0"/>
          </a:p>
        </p:txBody>
      </p:sp>
      <p:sp>
        <p:nvSpPr>
          <p:cNvPr id="36" name="Text 34"/>
          <p:cNvSpPr txBox="1"/>
          <p:nvPr/>
        </p:nvSpPr>
        <p:spPr>
          <a:xfrm>
            <a:off x="14218920" y="3611880"/>
            <a:ext cx="3383280" cy="329184"/>
          </a:xfrm>
          <a:prstGeom prst="rect">
            <a:avLst/>
          </a:prstGeom>
          <a:noFill/>
          <a:ln/>
        </p:spPr>
        <p:txBody>
          <a:bodyPr wrap="square" lIns="0" tIns="0" rIns="0" bIns="0" rtlCol="0" anchor="ctr"/>
          <a:lstStyle/>
          <a:p>
            <a:pPr algn="r" indent="0" marL="0">
              <a:buNone/>
            </a:pPr>
            <a:r>
              <a:rPr lang="en-US" sz="1200" b="1" dirty="0">
                <a:solidFill>
                  <a:srgbClr val="A100FF"/>
                </a:solidFill>
                <a:latin typeface="Courier New"/>
                <a:ea typeface="Courier New"/>
                <a:cs typeface="Courier New"/>
              </a:rPr>
              <a:t>5 of 11</a:t>
            </a:r>
            <a:endParaRPr lang="en-US" sz="1200" dirty="0"/>
          </a:p>
        </p:txBody>
      </p:sp>
      <p:sp>
        <p:nvSpPr>
          <p:cNvPr id="37" name="Text 35"/>
          <p:cNvSpPr txBox="1"/>
          <p:nvPr/>
        </p:nvSpPr>
        <p:spPr>
          <a:xfrm>
            <a:off x="9537192" y="3959352"/>
            <a:ext cx="7863840" cy="603504"/>
          </a:xfrm>
          <a:prstGeom prst="rect">
            <a:avLst/>
          </a:prstGeom>
          <a:noFill/>
          <a:ln/>
        </p:spPr>
        <p:txBody>
          <a:bodyPr wrap="square" lIns="0" tIns="0" rIns="0" bIns="0" rtlCol="0" anchor="t"/>
          <a:lstStyle/>
          <a:p>
            <a:pPr indent="0" marL="0">
              <a:lnSpc>
                <a:spcPct val="108000"/>
              </a:lnSpc>
              <a:buNone/>
            </a:pPr>
            <a:r>
              <a:rPr lang="en-US" sz="1300" dirty="0">
                <a:solidFill>
                  <a:srgbClr val="616161"/>
                </a:solidFill>
                <a:latin typeface="Arial"/>
                <a:ea typeface="Arial"/>
                <a:cs typeface="Arial"/>
              </a:rPr>
              <a:t>rag_grounding ships but is deliberately unscored. 101 of 218 labelled positives have no detector to emit them yet.</a:t>
            </a:r>
            <a:endParaRPr lang="en-US" sz="1300" dirty="0"/>
          </a:p>
        </p:txBody>
      </p:sp>
      <p:sp>
        <p:nvSpPr>
          <p:cNvPr id="38" name="Shape 36"/>
          <p:cNvSpPr/>
          <p:nvPr/>
        </p:nvSpPr>
        <p:spPr>
          <a:xfrm>
            <a:off x="9281160" y="4581144"/>
            <a:ext cx="8321040" cy="0"/>
          </a:xfrm>
          <a:prstGeom prst="line">
            <a:avLst/>
          </a:prstGeom>
          <a:noFill/>
          <a:ln w="9525">
            <a:solidFill>
              <a:srgbClr val="D9D9DD"/>
            </a:solidFill>
            <a:prstDash val="solid"/>
          </a:ln>
        </p:spPr>
      </p:sp>
      <p:sp>
        <p:nvSpPr>
          <p:cNvPr id="39" name="Shape 37"/>
          <p:cNvSpPr/>
          <p:nvPr/>
        </p:nvSpPr>
        <p:spPr>
          <a:xfrm>
            <a:off x="9281160" y="4818888"/>
            <a:ext cx="100584" cy="100584"/>
          </a:xfrm>
          <a:prstGeom prst="ellipse">
            <a:avLst/>
          </a:prstGeom>
          <a:solidFill>
            <a:srgbClr val="A100FF"/>
          </a:solidFill>
          <a:ln w="12700">
            <a:solidFill>
              <a:srgbClr val="A100FF"/>
            </a:solidFill>
            <a:prstDash val="solid"/>
          </a:ln>
        </p:spPr>
      </p:sp>
      <p:sp>
        <p:nvSpPr>
          <p:cNvPr id="40" name="Text 38"/>
          <p:cNvSpPr txBox="1"/>
          <p:nvPr/>
        </p:nvSpPr>
        <p:spPr>
          <a:xfrm>
            <a:off x="9537192" y="4672584"/>
            <a:ext cx="4663440" cy="329184"/>
          </a:xfrm>
          <a:prstGeom prst="rect">
            <a:avLst/>
          </a:prstGeom>
          <a:noFill/>
          <a:ln/>
        </p:spPr>
        <p:txBody>
          <a:bodyPr wrap="square" lIns="0" tIns="0" rIns="0" bIns="0" rtlCol="0" anchor="ctr"/>
          <a:lstStyle/>
          <a:p>
            <a:pPr indent="0" marL="0">
              <a:buNone/>
            </a:pPr>
            <a:r>
              <a:rPr lang="en-US" sz="1600" dirty="0">
                <a:solidFill>
                  <a:srgbClr val="17171C"/>
                </a:solidFill>
                <a:latin typeface="Arial"/>
                <a:ea typeface="Arial"/>
                <a:cs typeface="Arial"/>
              </a:rPr>
              <a:t>fast_consistency</a:t>
            </a:r>
            <a:endParaRPr lang="en-US" sz="1600" dirty="0"/>
          </a:p>
        </p:txBody>
      </p:sp>
      <p:sp>
        <p:nvSpPr>
          <p:cNvPr id="41" name="Text 39"/>
          <p:cNvSpPr txBox="1"/>
          <p:nvPr/>
        </p:nvSpPr>
        <p:spPr>
          <a:xfrm>
            <a:off x="14218920" y="4672584"/>
            <a:ext cx="3383280" cy="329184"/>
          </a:xfrm>
          <a:prstGeom prst="rect">
            <a:avLst/>
          </a:prstGeom>
          <a:noFill/>
          <a:ln/>
        </p:spPr>
        <p:txBody>
          <a:bodyPr wrap="square" lIns="0" tIns="0" rIns="0" bIns="0" rtlCol="0" anchor="ctr"/>
          <a:lstStyle/>
          <a:p>
            <a:pPr algn="r" indent="0" marL="0">
              <a:buNone/>
            </a:pPr>
            <a:r>
              <a:rPr lang="en-US" sz="1200" b="1" dirty="0">
                <a:solidFill>
                  <a:srgbClr val="A100FF"/>
                </a:solidFill>
                <a:latin typeface="Courier New"/>
                <a:ea typeface="Courier New"/>
                <a:cs typeface="Courier New"/>
              </a:rPr>
              <a:t>Cut to roadmap</a:t>
            </a:r>
            <a:endParaRPr lang="en-US" sz="1200" dirty="0"/>
          </a:p>
        </p:txBody>
      </p:sp>
      <p:sp>
        <p:nvSpPr>
          <p:cNvPr id="42" name="Text 40"/>
          <p:cNvSpPr txBox="1"/>
          <p:nvPr/>
        </p:nvSpPr>
        <p:spPr>
          <a:xfrm>
            <a:off x="9537192" y="5020056"/>
            <a:ext cx="7863840" cy="603504"/>
          </a:xfrm>
          <a:prstGeom prst="rect">
            <a:avLst/>
          </a:prstGeom>
          <a:noFill/>
          <a:ln/>
        </p:spPr>
        <p:txBody>
          <a:bodyPr wrap="square" lIns="0" tIns="0" rIns="0" bIns="0" rtlCol="0" anchor="t"/>
          <a:lstStyle/>
          <a:p>
            <a:pPr indent="0" marL="0">
              <a:lnSpc>
                <a:spcPct val="108000"/>
              </a:lnSpc>
              <a:buNone/>
            </a:pPr>
            <a:r>
              <a:rPr lang="en-US" sz="1300" dirty="0">
                <a:solidFill>
                  <a:srgbClr val="616161"/>
                </a:solidFill>
                <a:latin typeface="Arial"/>
                <a:ea typeface="Arial"/>
                <a:cs typeface="Arial"/>
              </a:rPr>
              <a:t>Tracked as SL-6. Not counted as a detector and not inside any figure we quote.</a:t>
            </a:r>
            <a:endParaRPr lang="en-US" sz="1300" dirty="0"/>
          </a:p>
        </p:txBody>
      </p:sp>
      <p:sp>
        <p:nvSpPr>
          <p:cNvPr id="43" name="Shape 41"/>
          <p:cNvSpPr/>
          <p:nvPr/>
        </p:nvSpPr>
        <p:spPr>
          <a:xfrm>
            <a:off x="9281160" y="5641848"/>
            <a:ext cx="8321040" cy="0"/>
          </a:xfrm>
          <a:prstGeom prst="line">
            <a:avLst/>
          </a:prstGeom>
          <a:noFill/>
          <a:ln w="9525">
            <a:solidFill>
              <a:srgbClr val="D9D9DD"/>
            </a:solidFill>
            <a:prstDash val="solid"/>
          </a:ln>
        </p:spPr>
      </p:sp>
      <p:sp>
        <p:nvSpPr>
          <p:cNvPr id="44" name="Shape 42"/>
          <p:cNvSpPr/>
          <p:nvPr/>
        </p:nvSpPr>
        <p:spPr>
          <a:xfrm>
            <a:off x="9281160" y="5879592"/>
            <a:ext cx="100584" cy="100584"/>
          </a:xfrm>
          <a:prstGeom prst="ellipse">
            <a:avLst/>
          </a:prstGeom>
          <a:solidFill>
            <a:srgbClr val="A100FF"/>
          </a:solidFill>
          <a:ln w="12700">
            <a:solidFill>
              <a:srgbClr val="A100FF"/>
            </a:solidFill>
            <a:prstDash val="solid"/>
          </a:ln>
        </p:spPr>
      </p:sp>
      <p:sp>
        <p:nvSpPr>
          <p:cNvPr id="45" name="Text 43"/>
          <p:cNvSpPr txBox="1"/>
          <p:nvPr/>
        </p:nvSpPr>
        <p:spPr>
          <a:xfrm>
            <a:off x="9537192" y="5733288"/>
            <a:ext cx="4663440" cy="329184"/>
          </a:xfrm>
          <a:prstGeom prst="rect">
            <a:avLst/>
          </a:prstGeom>
          <a:noFill/>
          <a:ln/>
        </p:spPr>
        <p:txBody>
          <a:bodyPr wrap="square" lIns="0" tIns="0" rIns="0" bIns="0" rtlCol="0" anchor="ctr"/>
          <a:lstStyle/>
          <a:p>
            <a:pPr indent="0" marL="0">
              <a:buNone/>
            </a:pPr>
            <a:r>
              <a:rPr lang="en-US" sz="1600" dirty="0">
                <a:solidFill>
                  <a:srgbClr val="17171C"/>
                </a:solidFill>
                <a:latin typeface="Arial"/>
                <a:ea typeface="Arial"/>
                <a:cs typeface="Arial"/>
              </a:rPr>
              <a:t>Bias and fairness auditing</a:t>
            </a:r>
            <a:endParaRPr lang="en-US" sz="1600" dirty="0"/>
          </a:p>
        </p:txBody>
      </p:sp>
      <p:sp>
        <p:nvSpPr>
          <p:cNvPr id="46" name="Text 44"/>
          <p:cNvSpPr txBox="1"/>
          <p:nvPr/>
        </p:nvSpPr>
        <p:spPr>
          <a:xfrm>
            <a:off x="14218920" y="5733288"/>
            <a:ext cx="3383280" cy="329184"/>
          </a:xfrm>
          <a:prstGeom prst="rect">
            <a:avLst/>
          </a:prstGeom>
          <a:noFill/>
          <a:ln/>
        </p:spPr>
        <p:txBody>
          <a:bodyPr wrap="square" lIns="0" tIns="0" rIns="0" bIns="0" rtlCol="0" anchor="ctr"/>
          <a:lstStyle/>
          <a:p>
            <a:pPr algn="r" indent="0" marL="0">
              <a:buNone/>
            </a:pPr>
            <a:r>
              <a:rPr lang="en-US" sz="1200" b="1" dirty="0">
                <a:solidFill>
                  <a:srgbClr val="A100FF"/>
                </a:solidFill>
                <a:latin typeface="Courier New"/>
                <a:ea typeface="Courier New"/>
                <a:cs typeface="Courier New"/>
              </a:rPr>
              <a:t>Not built</a:t>
            </a:r>
            <a:endParaRPr lang="en-US" sz="1200" dirty="0"/>
          </a:p>
        </p:txBody>
      </p:sp>
      <p:sp>
        <p:nvSpPr>
          <p:cNvPr id="47" name="Text 45"/>
          <p:cNvSpPr txBox="1"/>
          <p:nvPr/>
        </p:nvSpPr>
        <p:spPr>
          <a:xfrm>
            <a:off x="9537192" y="6080760"/>
            <a:ext cx="7863840" cy="603504"/>
          </a:xfrm>
          <a:prstGeom prst="rect">
            <a:avLst/>
          </a:prstGeom>
          <a:noFill/>
          <a:ln/>
        </p:spPr>
        <p:txBody>
          <a:bodyPr wrap="square" lIns="0" tIns="0" rIns="0" bIns="0" rtlCol="0" anchor="t"/>
          <a:lstStyle/>
          <a:p>
            <a:pPr indent="0" marL="0">
              <a:lnSpc>
                <a:spcPct val="108000"/>
              </a:lnSpc>
              <a:buNone/>
            </a:pPr>
            <a:r>
              <a:rPr lang="en-US" sz="1300" dirty="0">
                <a:solidFill>
                  <a:srgbClr val="616161"/>
                </a:solidFill>
                <a:latin typeface="Arial"/>
                <a:ea typeface="Arial"/>
                <a:cs typeface="Arial"/>
              </a:rPr>
              <a:t>The async lane is specified. No fairness number appears in this deck, because none has been measured.</a:t>
            </a:r>
            <a:endParaRPr lang="en-US" sz="1300" dirty="0"/>
          </a:p>
        </p:txBody>
      </p:sp>
      <p:sp>
        <p:nvSpPr>
          <p:cNvPr id="48" name="Shape 46"/>
          <p:cNvSpPr/>
          <p:nvPr/>
        </p:nvSpPr>
        <p:spPr>
          <a:xfrm>
            <a:off x="9281160" y="6702552"/>
            <a:ext cx="8321040" cy="0"/>
          </a:xfrm>
          <a:prstGeom prst="line">
            <a:avLst/>
          </a:prstGeom>
          <a:noFill/>
          <a:ln w="9525">
            <a:solidFill>
              <a:srgbClr val="D9D9DD"/>
            </a:solidFill>
            <a:prstDash val="solid"/>
          </a:ln>
        </p:spPr>
      </p:sp>
      <p:sp>
        <p:nvSpPr>
          <p:cNvPr id="49" name="Shape 47"/>
          <p:cNvSpPr/>
          <p:nvPr/>
        </p:nvSpPr>
        <p:spPr>
          <a:xfrm>
            <a:off x="9281160" y="6940296"/>
            <a:ext cx="100584" cy="100584"/>
          </a:xfrm>
          <a:prstGeom prst="ellipse">
            <a:avLst/>
          </a:prstGeom>
          <a:solidFill>
            <a:srgbClr val="A100FF"/>
          </a:solidFill>
          <a:ln w="12700">
            <a:solidFill>
              <a:srgbClr val="A100FF"/>
            </a:solidFill>
            <a:prstDash val="solid"/>
          </a:ln>
        </p:spPr>
      </p:sp>
      <p:sp>
        <p:nvSpPr>
          <p:cNvPr id="50" name="Text 48"/>
          <p:cNvSpPr txBox="1"/>
          <p:nvPr/>
        </p:nvSpPr>
        <p:spPr>
          <a:xfrm>
            <a:off x="9537192" y="6793992"/>
            <a:ext cx="4663440" cy="329184"/>
          </a:xfrm>
          <a:prstGeom prst="rect">
            <a:avLst/>
          </a:prstGeom>
          <a:noFill/>
          <a:ln/>
        </p:spPr>
        <p:txBody>
          <a:bodyPr wrap="square" lIns="0" tIns="0" rIns="0" bIns="0" rtlCol="0" anchor="ctr"/>
          <a:lstStyle/>
          <a:p>
            <a:pPr indent="0" marL="0">
              <a:buNone/>
            </a:pPr>
            <a:r>
              <a:rPr lang="en-US" sz="1600" dirty="0">
                <a:solidFill>
                  <a:srgbClr val="17171C"/>
                </a:solidFill>
                <a:latin typeface="Arial"/>
                <a:ea typeface="Arial"/>
                <a:cs typeface="Arial"/>
              </a:rPr>
              <a:t>Multi-turn and agent risk</a:t>
            </a:r>
            <a:endParaRPr lang="en-US" sz="1600" dirty="0"/>
          </a:p>
        </p:txBody>
      </p:sp>
      <p:sp>
        <p:nvSpPr>
          <p:cNvPr id="51" name="Text 49"/>
          <p:cNvSpPr txBox="1"/>
          <p:nvPr/>
        </p:nvSpPr>
        <p:spPr>
          <a:xfrm>
            <a:off x="14218920" y="6793992"/>
            <a:ext cx="3383280" cy="329184"/>
          </a:xfrm>
          <a:prstGeom prst="rect">
            <a:avLst/>
          </a:prstGeom>
          <a:noFill/>
          <a:ln/>
        </p:spPr>
        <p:txBody>
          <a:bodyPr wrap="square" lIns="0" tIns="0" rIns="0" bIns="0" rtlCol="0" anchor="ctr"/>
          <a:lstStyle/>
          <a:p>
            <a:pPr algn="r" indent="0" marL="0">
              <a:buNone/>
            </a:pPr>
            <a:r>
              <a:rPr lang="en-US" sz="1200" b="1" dirty="0">
                <a:solidFill>
                  <a:srgbClr val="A100FF"/>
                </a:solidFill>
                <a:latin typeface="Courier New"/>
                <a:ea typeface="Courier New"/>
                <a:cs typeface="Courier New"/>
              </a:rPr>
              <a:t>Stub</a:t>
            </a:r>
            <a:endParaRPr lang="en-US" sz="1200" dirty="0"/>
          </a:p>
        </p:txBody>
      </p:sp>
      <p:sp>
        <p:nvSpPr>
          <p:cNvPr id="52" name="Text 50"/>
          <p:cNvSpPr txBox="1"/>
          <p:nvPr/>
        </p:nvSpPr>
        <p:spPr>
          <a:xfrm>
            <a:off x="9537192" y="7141464"/>
            <a:ext cx="7863840" cy="603504"/>
          </a:xfrm>
          <a:prstGeom prst="rect">
            <a:avLst/>
          </a:prstGeom>
          <a:noFill/>
          <a:ln/>
        </p:spPr>
        <p:txBody>
          <a:bodyPr wrap="square" lIns="0" tIns="0" rIns="0" bIns="0" rtlCol="0" anchor="t"/>
          <a:lstStyle/>
          <a:p>
            <a:pPr indent="0" marL="0">
              <a:lnSpc>
                <a:spcPct val="108000"/>
              </a:lnSpc>
              <a:buNone/>
            </a:pPr>
            <a:r>
              <a:rPr lang="en-US" sz="1300" dirty="0">
                <a:solidFill>
                  <a:srgbClr val="616161"/>
                </a:solidFill>
                <a:latin typeface="Arial"/>
                <a:ea typeface="Arial"/>
                <a:cs typeface="Arial"/>
              </a:rPr>
              <a:t>conv_tracker has a specified scope and no implementation, so cumulative-risk escalation is not demonstrable.</a:t>
            </a:r>
            <a:endParaRPr lang="en-US" sz="1300" dirty="0"/>
          </a:p>
        </p:txBody>
      </p:sp>
      <p:sp>
        <p:nvSpPr>
          <p:cNvPr id="53" name="Shape 51"/>
          <p:cNvSpPr/>
          <p:nvPr/>
        </p:nvSpPr>
        <p:spPr>
          <a:xfrm>
            <a:off x="9281160" y="7763256"/>
            <a:ext cx="8321040" cy="0"/>
          </a:xfrm>
          <a:prstGeom prst="line">
            <a:avLst/>
          </a:prstGeom>
          <a:noFill/>
          <a:ln w="9525">
            <a:solidFill>
              <a:srgbClr val="D9D9DD"/>
            </a:solidFill>
            <a:prstDash val="solid"/>
          </a:ln>
        </p:spPr>
      </p:sp>
      <p:sp>
        <p:nvSpPr>
          <p:cNvPr id="54" name="Shape 52"/>
          <p:cNvSpPr/>
          <p:nvPr/>
        </p:nvSpPr>
        <p:spPr>
          <a:xfrm>
            <a:off x="9281160" y="8001000"/>
            <a:ext cx="100584" cy="100584"/>
          </a:xfrm>
          <a:prstGeom prst="ellipse">
            <a:avLst/>
          </a:prstGeom>
          <a:solidFill>
            <a:srgbClr val="A100FF"/>
          </a:solidFill>
          <a:ln w="12700">
            <a:solidFill>
              <a:srgbClr val="A100FF"/>
            </a:solidFill>
            <a:prstDash val="solid"/>
          </a:ln>
        </p:spPr>
      </p:sp>
      <p:sp>
        <p:nvSpPr>
          <p:cNvPr id="55" name="Text 53"/>
          <p:cNvSpPr txBox="1"/>
          <p:nvPr/>
        </p:nvSpPr>
        <p:spPr>
          <a:xfrm>
            <a:off x="9537192" y="7854696"/>
            <a:ext cx="4663440" cy="329184"/>
          </a:xfrm>
          <a:prstGeom prst="rect">
            <a:avLst/>
          </a:prstGeom>
          <a:noFill/>
          <a:ln/>
        </p:spPr>
        <p:txBody>
          <a:bodyPr wrap="square" lIns="0" tIns="0" rIns="0" bIns="0" rtlCol="0" anchor="ctr"/>
          <a:lstStyle/>
          <a:p>
            <a:pPr indent="0" marL="0">
              <a:buNone/>
            </a:pPr>
            <a:r>
              <a:rPr lang="en-US" sz="1600" dirty="0">
                <a:solidFill>
                  <a:srgbClr val="17171C"/>
                </a:solidFill>
                <a:latin typeface="Arial"/>
                <a:ea typeface="Arial"/>
                <a:cs typeface="Arial"/>
              </a:rPr>
              <a:t>pii_leak_scan, dashboard</a:t>
            </a:r>
            <a:endParaRPr lang="en-US" sz="1600" dirty="0"/>
          </a:p>
        </p:txBody>
      </p:sp>
      <p:sp>
        <p:nvSpPr>
          <p:cNvPr id="56" name="Text 54"/>
          <p:cNvSpPr txBox="1"/>
          <p:nvPr/>
        </p:nvSpPr>
        <p:spPr>
          <a:xfrm>
            <a:off x="14218920" y="7854696"/>
            <a:ext cx="3383280" cy="329184"/>
          </a:xfrm>
          <a:prstGeom prst="rect">
            <a:avLst/>
          </a:prstGeom>
          <a:noFill/>
          <a:ln/>
        </p:spPr>
        <p:txBody>
          <a:bodyPr wrap="square" lIns="0" tIns="0" rIns="0" bIns="0" rtlCol="0" anchor="ctr"/>
          <a:lstStyle/>
          <a:p>
            <a:pPr algn="r" indent="0" marL="0">
              <a:buNone/>
            </a:pPr>
            <a:r>
              <a:rPr lang="en-US" sz="1200" b="1" dirty="0">
                <a:solidFill>
                  <a:srgbClr val="A100FF"/>
                </a:solidFill>
                <a:latin typeface="Courier New"/>
                <a:ea typeface="Courier New"/>
                <a:cs typeface="Courier New"/>
              </a:rPr>
              <a:t>Not built</a:t>
            </a:r>
            <a:endParaRPr lang="en-US" sz="1200" dirty="0"/>
          </a:p>
        </p:txBody>
      </p:sp>
      <p:sp>
        <p:nvSpPr>
          <p:cNvPr id="57" name="Text 55"/>
          <p:cNvSpPr txBox="1"/>
          <p:nvPr/>
        </p:nvSpPr>
        <p:spPr>
          <a:xfrm>
            <a:off x="9537192" y="8202168"/>
            <a:ext cx="7863840" cy="603504"/>
          </a:xfrm>
          <a:prstGeom prst="rect">
            <a:avLst/>
          </a:prstGeom>
          <a:noFill/>
          <a:ln/>
        </p:spPr>
        <p:txBody>
          <a:bodyPr wrap="square" lIns="0" tIns="0" rIns="0" bIns="0" rtlCol="0" anchor="t"/>
          <a:lstStyle/>
          <a:p>
            <a:pPr indent="0" marL="0">
              <a:lnSpc>
                <a:spcPct val="108000"/>
              </a:lnSpc>
              <a:buNone/>
            </a:pPr>
            <a:r>
              <a:rPr lang="en-US" sz="1300" dirty="0">
                <a:solidFill>
                  <a:srgbClr val="616161"/>
                </a:solidFill>
                <a:latin typeface="Arial"/>
                <a:ea typeface="Arial"/>
                <a:cs typeface="Arial"/>
              </a:rPr>
              <a:t>The console replaces the dashboard plan. The leak-scan harness is unwritten, so no leak-rate figure is claimed.</a:t>
            </a:r>
            <a:endParaRPr lang="en-US" sz="1300" dirty="0"/>
          </a:p>
        </p:txBody>
      </p:sp>
      <p:sp>
        <p:nvSpPr>
          <p:cNvPr id="58" name="Shape 56"/>
          <p:cNvSpPr/>
          <p:nvPr/>
        </p:nvSpPr>
        <p:spPr>
          <a:xfrm>
            <a:off x="9281160" y="8823960"/>
            <a:ext cx="8321040" cy="0"/>
          </a:xfrm>
          <a:prstGeom prst="line">
            <a:avLst/>
          </a:prstGeom>
          <a:noFill/>
          <a:ln w="9525">
            <a:solidFill>
              <a:srgbClr val="D9D9DD"/>
            </a:solidFill>
            <a:prstDash val="solid"/>
          </a:ln>
        </p:spPr>
      </p:sp>
      <p:sp>
        <p:nvSpPr>
          <p:cNvPr id="59" name="Text 57"/>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Source: docs/09-engineering-notes.md §Build status</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Arial"/>
                <a:ea typeface="Arial"/>
                <a:cs typeface="Arial"/>
              </a:rPr>
              <a:t>docs/08-open-questions.md ledger</a:t>
            </a:r>
            <a:endParaRPr lang="en-US" sz="1200" dirty="0"/>
          </a:p>
        </p:txBody>
      </p:sp>
      <p:sp>
        <p:nvSpPr>
          <p:cNvPr id="60" name="Text 58"/>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61" name="Text 59"/>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16</a:t>
            </a:r>
            <a:endParaRPr lang="en-US" sz="100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03 · EVIDENCE AND SCOPE</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Detection quality, including what we missed.</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Blind first contact, revised once under disclosure. One target was missed and the target did not move.</a:t>
            </a:r>
            <a:endParaRPr lang="en-US" sz="2000" dirty="0"/>
          </a:p>
        </p:txBody>
      </p:sp>
      <p:sp>
        <p:nvSpPr>
          <p:cNvPr id="5" name="Text 3"/>
          <p:cNvSpPr txBox="1"/>
          <p:nvPr/>
        </p:nvSpPr>
        <p:spPr>
          <a:xfrm>
            <a:off x="685800" y="3154680"/>
            <a:ext cx="484632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DETECTOR AND METRIC</a:t>
            </a:r>
            <a:endParaRPr lang="en-US" sz="1100" dirty="0"/>
          </a:p>
        </p:txBody>
      </p:sp>
      <p:sp>
        <p:nvSpPr>
          <p:cNvPr id="6" name="Text 4"/>
          <p:cNvSpPr txBox="1"/>
          <p:nvPr/>
        </p:nvSpPr>
        <p:spPr>
          <a:xfrm>
            <a:off x="5532120" y="3154680"/>
            <a:ext cx="2286000" cy="320040"/>
          </a:xfrm>
          <a:prstGeom prst="rect">
            <a:avLst/>
          </a:prstGeom>
          <a:noFill/>
          <a:ln/>
        </p:spPr>
        <p:txBody>
          <a:bodyPr wrap="square" lIns="0" tIns="0" rIns="0" bIns="0" rtlCol="0" anchor="ctr"/>
          <a:lstStyle/>
          <a:p>
            <a:pPr algn="r" indent="0" marL="0">
              <a:buNone/>
            </a:pPr>
            <a:r>
              <a:rPr lang="en-US" sz="1100" b="1" spc="150" kern="0" dirty="0">
                <a:solidFill>
                  <a:srgbClr val="75758A"/>
                </a:solidFill>
                <a:latin typeface="Courier New"/>
                <a:ea typeface="Courier New"/>
                <a:cs typeface="Courier New"/>
              </a:rPr>
              <a:t>BLIND</a:t>
            </a:r>
            <a:endParaRPr lang="en-US" sz="1100" dirty="0"/>
          </a:p>
        </p:txBody>
      </p:sp>
      <p:sp>
        <p:nvSpPr>
          <p:cNvPr id="7" name="Text 5"/>
          <p:cNvSpPr txBox="1"/>
          <p:nvPr/>
        </p:nvSpPr>
        <p:spPr>
          <a:xfrm>
            <a:off x="7818120" y="3154680"/>
            <a:ext cx="2286000" cy="320040"/>
          </a:xfrm>
          <a:prstGeom prst="rect">
            <a:avLst/>
          </a:prstGeom>
          <a:noFill/>
          <a:ln/>
        </p:spPr>
        <p:txBody>
          <a:bodyPr wrap="square" lIns="0" tIns="0" rIns="0" bIns="0" rtlCol="0" anchor="ctr"/>
          <a:lstStyle/>
          <a:p>
            <a:pPr algn="r" indent="0" marL="0">
              <a:buNone/>
            </a:pPr>
            <a:r>
              <a:rPr lang="en-US" sz="1100" b="1" spc="150" kern="0" dirty="0">
                <a:solidFill>
                  <a:srgbClr val="75758A"/>
                </a:solidFill>
                <a:latin typeface="Courier New"/>
                <a:ea typeface="Courier New"/>
                <a:cs typeface="Courier New"/>
              </a:rPr>
              <a:t>REVISED</a:t>
            </a:r>
            <a:endParaRPr lang="en-US" sz="1100" dirty="0"/>
          </a:p>
        </p:txBody>
      </p:sp>
      <p:sp>
        <p:nvSpPr>
          <p:cNvPr id="8" name="Text 6"/>
          <p:cNvSpPr txBox="1"/>
          <p:nvPr/>
        </p:nvSpPr>
        <p:spPr>
          <a:xfrm>
            <a:off x="10104120" y="3154680"/>
            <a:ext cx="1737360" cy="320040"/>
          </a:xfrm>
          <a:prstGeom prst="rect">
            <a:avLst/>
          </a:prstGeom>
          <a:noFill/>
          <a:ln/>
        </p:spPr>
        <p:txBody>
          <a:bodyPr wrap="square" lIns="0" tIns="0" rIns="0" bIns="0" rtlCol="0" anchor="ctr"/>
          <a:lstStyle/>
          <a:p>
            <a:pPr algn="r" indent="0" marL="0">
              <a:buNone/>
            </a:pPr>
            <a:r>
              <a:rPr lang="en-US" sz="1100" b="1" spc="150" kern="0" dirty="0">
                <a:solidFill>
                  <a:srgbClr val="75758A"/>
                </a:solidFill>
                <a:latin typeface="Courier New"/>
                <a:ea typeface="Courier New"/>
                <a:cs typeface="Courier New"/>
              </a:rPr>
              <a:t>TARGET</a:t>
            </a:r>
            <a:endParaRPr lang="en-US" sz="1100" dirty="0"/>
          </a:p>
        </p:txBody>
      </p:sp>
      <p:sp>
        <p:nvSpPr>
          <p:cNvPr id="9" name="Text 7"/>
          <p:cNvSpPr txBox="1"/>
          <p:nvPr/>
        </p:nvSpPr>
        <p:spPr>
          <a:xfrm>
            <a:off x="12161520" y="3154680"/>
            <a:ext cx="544068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STANDING</a:t>
            </a:r>
            <a:endParaRPr lang="en-US" sz="1100" dirty="0"/>
          </a:p>
        </p:txBody>
      </p:sp>
      <p:sp>
        <p:nvSpPr>
          <p:cNvPr id="10" name="Shape 8"/>
          <p:cNvSpPr/>
          <p:nvPr/>
        </p:nvSpPr>
        <p:spPr>
          <a:xfrm>
            <a:off x="685800" y="3502152"/>
            <a:ext cx="16916400" cy="0"/>
          </a:xfrm>
          <a:prstGeom prst="line">
            <a:avLst/>
          </a:prstGeom>
          <a:noFill/>
          <a:ln w="9525">
            <a:solidFill>
              <a:srgbClr val="17171C"/>
            </a:solidFill>
            <a:prstDash val="solid"/>
          </a:ln>
        </p:spPr>
      </p:sp>
      <p:sp>
        <p:nvSpPr>
          <p:cNvPr id="11" name="Text 9"/>
          <p:cNvSpPr txBox="1"/>
          <p:nvPr/>
        </p:nvSpPr>
        <p:spPr>
          <a:xfrm>
            <a:off x="685800" y="3566160"/>
            <a:ext cx="4846320" cy="585216"/>
          </a:xfrm>
          <a:prstGeom prst="rect">
            <a:avLst/>
          </a:prstGeom>
          <a:noFill/>
          <a:ln/>
        </p:spPr>
        <p:txBody>
          <a:bodyPr wrap="square" lIns="0" tIns="0" rIns="0" bIns="0" rtlCol="0" anchor="ctr"/>
          <a:lstStyle/>
          <a:p>
            <a:pPr algn="l" indent="0" marL="0">
              <a:buNone/>
            </a:pPr>
            <a:r>
              <a:rPr lang="en-US" sz="1500" dirty="0">
                <a:solidFill>
                  <a:srgbClr val="212121"/>
                </a:solidFill>
                <a:latin typeface="Courier New"/>
                <a:ea typeface="Courier New"/>
                <a:cs typeface="Courier New"/>
              </a:rPr>
              <a:t>tier1_pii recall</a:t>
            </a:r>
            <a:endParaRPr lang="en-US" sz="1500" dirty="0"/>
          </a:p>
        </p:txBody>
      </p:sp>
      <p:sp>
        <p:nvSpPr>
          <p:cNvPr id="12" name="Text 10"/>
          <p:cNvSpPr txBox="1"/>
          <p:nvPr/>
        </p:nvSpPr>
        <p:spPr>
          <a:xfrm>
            <a:off x="5532120" y="3566160"/>
            <a:ext cx="2286000" cy="585216"/>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0.836</a:t>
            </a:r>
            <a:endParaRPr lang="en-US" sz="1400" dirty="0"/>
          </a:p>
        </p:txBody>
      </p:sp>
      <p:sp>
        <p:nvSpPr>
          <p:cNvPr id="13" name="Text 11"/>
          <p:cNvSpPr txBox="1"/>
          <p:nvPr/>
        </p:nvSpPr>
        <p:spPr>
          <a:xfrm>
            <a:off x="7818120" y="3566160"/>
            <a:ext cx="2286000" cy="585216"/>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0.885</a:t>
            </a:r>
            <a:endParaRPr lang="en-US" sz="1400" dirty="0"/>
          </a:p>
        </p:txBody>
      </p:sp>
      <p:sp>
        <p:nvSpPr>
          <p:cNvPr id="14" name="Text 12"/>
          <p:cNvSpPr txBox="1"/>
          <p:nvPr/>
        </p:nvSpPr>
        <p:spPr>
          <a:xfrm>
            <a:off x="10104120" y="3566160"/>
            <a:ext cx="1737360" cy="585216"/>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0.95</a:t>
            </a:r>
            <a:endParaRPr lang="en-US" sz="1400" dirty="0"/>
          </a:p>
        </p:txBody>
      </p:sp>
      <p:sp>
        <p:nvSpPr>
          <p:cNvPr id="15" name="Text 13"/>
          <p:cNvSpPr txBox="1"/>
          <p:nvPr/>
        </p:nvSpPr>
        <p:spPr>
          <a:xfrm>
            <a:off x="12161520" y="3566160"/>
            <a:ext cx="5440680" cy="585216"/>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MISSED, target unmoved. All 7 residual misses are the documented bare-digit exclusion</a:t>
            </a:r>
            <a:endParaRPr lang="en-US" sz="1400" dirty="0"/>
          </a:p>
        </p:txBody>
      </p:sp>
      <p:sp>
        <p:nvSpPr>
          <p:cNvPr id="16" name="Shape 14"/>
          <p:cNvSpPr/>
          <p:nvPr/>
        </p:nvSpPr>
        <p:spPr>
          <a:xfrm>
            <a:off x="685800" y="4151376"/>
            <a:ext cx="16916400" cy="0"/>
          </a:xfrm>
          <a:prstGeom prst="line">
            <a:avLst/>
          </a:prstGeom>
          <a:noFill/>
          <a:ln w="9525">
            <a:solidFill>
              <a:srgbClr val="D9D9DD"/>
            </a:solidFill>
            <a:prstDash val="solid"/>
          </a:ln>
        </p:spPr>
      </p:sp>
      <p:sp>
        <p:nvSpPr>
          <p:cNvPr id="17" name="Text 15"/>
          <p:cNvSpPr txBox="1"/>
          <p:nvPr/>
        </p:nvSpPr>
        <p:spPr>
          <a:xfrm>
            <a:off x="685800" y="4151376"/>
            <a:ext cx="4846320" cy="585216"/>
          </a:xfrm>
          <a:prstGeom prst="rect">
            <a:avLst/>
          </a:prstGeom>
          <a:noFill/>
          <a:ln/>
        </p:spPr>
        <p:txBody>
          <a:bodyPr wrap="square" lIns="0" tIns="0" rIns="0" bIns="0" rtlCol="0" anchor="ctr"/>
          <a:lstStyle/>
          <a:p>
            <a:pPr algn="l" indent="0" marL="0">
              <a:buNone/>
            </a:pPr>
            <a:r>
              <a:rPr lang="en-US" sz="1500" dirty="0">
                <a:solidFill>
                  <a:srgbClr val="212121"/>
                </a:solidFill>
                <a:latin typeface="Courier New"/>
                <a:ea typeface="Courier New"/>
                <a:cs typeface="Courier New"/>
              </a:rPr>
              <a:t>tier1_pii precision</a:t>
            </a:r>
            <a:endParaRPr lang="en-US" sz="1500" dirty="0"/>
          </a:p>
        </p:txBody>
      </p:sp>
      <p:sp>
        <p:nvSpPr>
          <p:cNvPr id="18" name="Text 16"/>
          <p:cNvSpPr txBox="1"/>
          <p:nvPr/>
        </p:nvSpPr>
        <p:spPr>
          <a:xfrm>
            <a:off x="5532120" y="4151376"/>
            <a:ext cx="2286000" cy="585216"/>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1.000</a:t>
            </a:r>
            <a:endParaRPr lang="en-US" sz="1400" dirty="0"/>
          </a:p>
        </p:txBody>
      </p:sp>
      <p:sp>
        <p:nvSpPr>
          <p:cNvPr id="19" name="Text 17"/>
          <p:cNvSpPr txBox="1"/>
          <p:nvPr/>
        </p:nvSpPr>
        <p:spPr>
          <a:xfrm>
            <a:off x="7818120" y="4151376"/>
            <a:ext cx="2286000" cy="585216"/>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1.000</a:t>
            </a:r>
            <a:endParaRPr lang="en-US" sz="1400" dirty="0"/>
          </a:p>
        </p:txBody>
      </p:sp>
      <p:sp>
        <p:nvSpPr>
          <p:cNvPr id="20" name="Text 18"/>
          <p:cNvSpPr txBox="1"/>
          <p:nvPr/>
        </p:nvSpPr>
        <p:spPr>
          <a:xfrm>
            <a:off x="10104120" y="4151376"/>
            <a:ext cx="1737360" cy="585216"/>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none</a:t>
            </a:r>
            <a:endParaRPr lang="en-US" sz="1400" dirty="0"/>
          </a:p>
        </p:txBody>
      </p:sp>
      <p:sp>
        <p:nvSpPr>
          <p:cNvPr id="21" name="Text 19"/>
          <p:cNvSpPr txBox="1"/>
          <p:nvPr/>
        </p:nvSpPr>
        <p:spPr>
          <a:xfrm>
            <a:off x="12161520" y="4151376"/>
            <a:ext cx="5440680" cy="585216"/>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No over-firing in either version</a:t>
            </a:r>
            <a:endParaRPr lang="en-US" sz="1400" dirty="0"/>
          </a:p>
        </p:txBody>
      </p:sp>
      <p:sp>
        <p:nvSpPr>
          <p:cNvPr id="22" name="Shape 20"/>
          <p:cNvSpPr/>
          <p:nvPr/>
        </p:nvSpPr>
        <p:spPr>
          <a:xfrm>
            <a:off x="685800" y="4736592"/>
            <a:ext cx="16916400" cy="0"/>
          </a:xfrm>
          <a:prstGeom prst="line">
            <a:avLst/>
          </a:prstGeom>
          <a:noFill/>
          <a:ln w="9525">
            <a:solidFill>
              <a:srgbClr val="D9D9DD"/>
            </a:solidFill>
            <a:prstDash val="solid"/>
          </a:ln>
        </p:spPr>
      </p:sp>
      <p:sp>
        <p:nvSpPr>
          <p:cNvPr id="23" name="Text 21"/>
          <p:cNvSpPr txBox="1"/>
          <p:nvPr/>
        </p:nvSpPr>
        <p:spPr>
          <a:xfrm>
            <a:off x="685800" y="4736592"/>
            <a:ext cx="4846320" cy="585216"/>
          </a:xfrm>
          <a:prstGeom prst="rect">
            <a:avLst/>
          </a:prstGeom>
          <a:noFill/>
          <a:ln/>
        </p:spPr>
        <p:txBody>
          <a:bodyPr wrap="square" lIns="0" tIns="0" rIns="0" bIns="0" rtlCol="0" anchor="ctr"/>
          <a:lstStyle/>
          <a:p>
            <a:pPr algn="l" indent="0" marL="0">
              <a:buNone/>
            </a:pPr>
            <a:r>
              <a:rPr lang="en-US" sz="1500" dirty="0">
                <a:solidFill>
                  <a:srgbClr val="212121"/>
                </a:solidFill>
                <a:latin typeface="Courier New"/>
                <a:ea typeface="Courier New"/>
                <a:cs typeface="Courier New"/>
              </a:rPr>
              <a:t>numeric_claims precision</a:t>
            </a:r>
            <a:endParaRPr lang="en-US" sz="1500" dirty="0"/>
          </a:p>
        </p:txBody>
      </p:sp>
      <p:sp>
        <p:nvSpPr>
          <p:cNvPr id="24" name="Text 22"/>
          <p:cNvSpPr txBox="1"/>
          <p:nvPr/>
        </p:nvSpPr>
        <p:spPr>
          <a:xfrm>
            <a:off x="5532120" y="4736592"/>
            <a:ext cx="2286000" cy="585216"/>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0.267</a:t>
            </a:r>
            <a:endParaRPr lang="en-US" sz="1400" dirty="0"/>
          </a:p>
        </p:txBody>
      </p:sp>
      <p:sp>
        <p:nvSpPr>
          <p:cNvPr id="25" name="Text 23"/>
          <p:cNvSpPr txBox="1"/>
          <p:nvPr/>
        </p:nvSpPr>
        <p:spPr>
          <a:xfrm>
            <a:off x="7818120" y="4736592"/>
            <a:ext cx="2286000" cy="585216"/>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0.857</a:t>
            </a:r>
            <a:endParaRPr lang="en-US" sz="1400" dirty="0"/>
          </a:p>
        </p:txBody>
      </p:sp>
      <p:sp>
        <p:nvSpPr>
          <p:cNvPr id="26" name="Text 24"/>
          <p:cNvSpPr txBox="1"/>
          <p:nvPr/>
        </p:nvSpPr>
        <p:spPr>
          <a:xfrm>
            <a:off x="10104120" y="4736592"/>
            <a:ext cx="1737360" cy="585216"/>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none</a:t>
            </a:r>
            <a:endParaRPr lang="en-US" sz="1400" dirty="0"/>
          </a:p>
        </p:txBody>
      </p:sp>
      <p:sp>
        <p:nvSpPr>
          <p:cNvPr id="27" name="Text 25"/>
          <p:cNvSpPr txBox="1"/>
          <p:nvPr/>
        </p:nvSpPr>
        <p:spPr>
          <a:xfrm>
            <a:off x="12161520" y="4736592"/>
            <a:ext cx="5440680" cy="585216"/>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A rule was deleted, not tuned (ADR-025). Recall flat at 0.750</a:t>
            </a:r>
            <a:endParaRPr lang="en-US" sz="1400" dirty="0"/>
          </a:p>
        </p:txBody>
      </p:sp>
      <p:sp>
        <p:nvSpPr>
          <p:cNvPr id="28" name="Shape 26"/>
          <p:cNvSpPr/>
          <p:nvPr/>
        </p:nvSpPr>
        <p:spPr>
          <a:xfrm>
            <a:off x="685800" y="5321808"/>
            <a:ext cx="16916400" cy="0"/>
          </a:xfrm>
          <a:prstGeom prst="line">
            <a:avLst/>
          </a:prstGeom>
          <a:noFill/>
          <a:ln w="9525">
            <a:solidFill>
              <a:srgbClr val="D9D9DD"/>
            </a:solidFill>
            <a:prstDash val="solid"/>
          </a:ln>
        </p:spPr>
      </p:sp>
      <p:sp>
        <p:nvSpPr>
          <p:cNvPr id="29" name="Text 27"/>
          <p:cNvSpPr txBox="1"/>
          <p:nvPr/>
        </p:nvSpPr>
        <p:spPr>
          <a:xfrm>
            <a:off x="685800" y="5321808"/>
            <a:ext cx="4846320" cy="585216"/>
          </a:xfrm>
          <a:prstGeom prst="rect">
            <a:avLst/>
          </a:prstGeom>
          <a:noFill/>
          <a:ln/>
        </p:spPr>
        <p:txBody>
          <a:bodyPr wrap="square" lIns="0" tIns="0" rIns="0" bIns="0" rtlCol="0" anchor="ctr"/>
          <a:lstStyle/>
          <a:p>
            <a:pPr algn="l" indent="0" marL="0">
              <a:buNone/>
            </a:pPr>
            <a:r>
              <a:rPr lang="en-US" sz="1500" dirty="0">
                <a:solidFill>
                  <a:srgbClr val="212121"/>
                </a:solidFill>
                <a:latin typeface="Courier New"/>
                <a:ea typeface="Courier New"/>
                <a:cs typeface="Courier New"/>
              </a:rPr>
              <a:t>tier2_injection</a:t>
            </a:r>
            <a:endParaRPr lang="en-US" sz="1500" dirty="0"/>
          </a:p>
        </p:txBody>
      </p:sp>
      <p:sp>
        <p:nvSpPr>
          <p:cNvPr id="30" name="Text 28"/>
          <p:cNvSpPr txBox="1"/>
          <p:nvPr/>
        </p:nvSpPr>
        <p:spPr>
          <a:xfrm>
            <a:off x="5532120" y="5321808"/>
            <a:ext cx="2286000" cy="585216"/>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P 1.000 / R 0.150</a:t>
            </a:r>
            <a:endParaRPr lang="en-US" sz="1400" dirty="0"/>
          </a:p>
        </p:txBody>
      </p:sp>
      <p:sp>
        <p:nvSpPr>
          <p:cNvPr id="31" name="Text 29"/>
          <p:cNvSpPr txBox="1"/>
          <p:nvPr/>
        </p:nvSpPr>
        <p:spPr>
          <a:xfrm>
            <a:off x="7818120" y="5321808"/>
            <a:ext cx="2286000" cy="585216"/>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not tuned</a:t>
            </a:r>
            <a:endParaRPr lang="en-US" sz="1400" dirty="0"/>
          </a:p>
        </p:txBody>
      </p:sp>
      <p:sp>
        <p:nvSpPr>
          <p:cNvPr id="32" name="Text 30"/>
          <p:cNvSpPr txBox="1"/>
          <p:nvPr/>
        </p:nvSpPr>
        <p:spPr>
          <a:xfrm>
            <a:off x="10104120" y="5321808"/>
            <a:ext cx="1737360" cy="585216"/>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none</a:t>
            </a:r>
            <a:endParaRPr lang="en-US" sz="1400" dirty="0"/>
          </a:p>
        </p:txBody>
      </p:sp>
      <p:sp>
        <p:nvSpPr>
          <p:cNvPr id="33" name="Text 31"/>
          <p:cNvSpPr txBox="1"/>
          <p:nvPr/>
        </p:nvSpPr>
        <p:spPr>
          <a:xfrm>
            <a:off x="12161520" y="5321808"/>
            <a:ext cx="5440680" cy="585216"/>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Layered defence: blocks pre-dispatch at zero upstream tokens</a:t>
            </a:r>
            <a:endParaRPr lang="en-US" sz="1400" dirty="0"/>
          </a:p>
        </p:txBody>
      </p:sp>
      <p:sp>
        <p:nvSpPr>
          <p:cNvPr id="34" name="Shape 32"/>
          <p:cNvSpPr/>
          <p:nvPr/>
        </p:nvSpPr>
        <p:spPr>
          <a:xfrm>
            <a:off x="685800" y="5907024"/>
            <a:ext cx="16916400" cy="0"/>
          </a:xfrm>
          <a:prstGeom prst="line">
            <a:avLst/>
          </a:prstGeom>
          <a:noFill/>
          <a:ln w="9525">
            <a:solidFill>
              <a:srgbClr val="D9D9DD"/>
            </a:solidFill>
            <a:prstDash val="solid"/>
          </a:ln>
        </p:spPr>
      </p:sp>
      <p:sp>
        <p:nvSpPr>
          <p:cNvPr id="35" name="Text 33"/>
          <p:cNvSpPr txBox="1"/>
          <p:nvPr/>
        </p:nvSpPr>
        <p:spPr>
          <a:xfrm>
            <a:off x="685800" y="5907024"/>
            <a:ext cx="4846320" cy="585216"/>
          </a:xfrm>
          <a:prstGeom prst="rect">
            <a:avLst/>
          </a:prstGeom>
          <a:noFill/>
          <a:ln/>
        </p:spPr>
        <p:txBody>
          <a:bodyPr wrap="square" lIns="0" tIns="0" rIns="0" bIns="0" rtlCol="0" anchor="ctr"/>
          <a:lstStyle/>
          <a:p>
            <a:pPr algn="l" indent="0" marL="0">
              <a:buNone/>
            </a:pPr>
            <a:r>
              <a:rPr lang="en-US" sz="1500" dirty="0">
                <a:solidFill>
                  <a:srgbClr val="212121"/>
                </a:solidFill>
                <a:latin typeface="Courier New"/>
                <a:ea typeface="Courier New"/>
                <a:cs typeface="Courier New"/>
              </a:rPr>
              <a:t>tier2_toxicity high</a:t>
            </a:r>
            <a:endParaRPr lang="en-US" sz="1500" dirty="0"/>
          </a:p>
        </p:txBody>
      </p:sp>
      <p:sp>
        <p:nvSpPr>
          <p:cNvPr id="36" name="Text 34"/>
          <p:cNvSpPr txBox="1"/>
          <p:nvPr/>
        </p:nvSpPr>
        <p:spPr>
          <a:xfrm>
            <a:off x="5532120" y="5907024"/>
            <a:ext cx="2286000" cy="585216"/>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P 0.400 / R 0.250</a:t>
            </a:r>
            <a:endParaRPr lang="en-US" sz="1400" dirty="0"/>
          </a:p>
        </p:txBody>
      </p:sp>
      <p:sp>
        <p:nvSpPr>
          <p:cNvPr id="37" name="Text 35"/>
          <p:cNvSpPr txBox="1"/>
          <p:nvPr/>
        </p:nvSpPr>
        <p:spPr>
          <a:xfrm>
            <a:off x="7818120" y="5907024"/>
            <a:ext cx="2286000" cy="585216"/>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not tuned</a:t>
            </a:r>
            <a:endParaRPr lang="en-US" sz="1400" dirty="0"/>
          </a:p>
        </p:txBody>
      </p:sp>
      <p:sp>
        <p:nvSpPr>
          <p:cNvPr id="38" name="Text 36"/>
          <p:cNvSpPr txBox="1"/>
          <p:nvPr/>
        </p:nvSpPr>
        <p:spPr>
          <a:xfrm>
            <a:off x="10104120" y="5907024"/>
            <a:ext cx="1737360" cy="585216"/>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none</a:t>
            </a:r>
            <a:endParaRPr lang="en-US" sz="1400" dirty="0"/>
          </a:p>
        </p:txBody>
      </p:sp>
      <p:sp>
        <p:nvSpPr>
          <p:cNvPr id="39" name="Text 37"/>
          <p:cNvSpPr txBox="1"/>
          <p:nvPr/>
        </p:nvSpPr>
        <p:spPr>
          <a:xfrm>
            <a:off x="12161520" y="5907024"/>
            <a:ext cx="5440680" cy="585216"/>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Reported blind. No threshold was moved to improve it</a:t>
            </a:r>
            <a:endParaRPr lang="en-US" sz="1400" dirty="0"/>
          </a:p>
        </p:txBody>
      </p:sp>
      <p:sp>
        <p:nvSpPr>
          <p:cNvPr id="40" name="Shape 38"/>
          <p:cNvSpPr/>
          <p:nvPr/>
        </p:nvSpPr>
        <p:spPr>
          <a:xfrm>
            <a:off x="685800" y="6492240"/>
            <a:ext cx="16916400" cy="0"/>
          </a:xfrm>
          <a:prstGeom prst="line">
            <a:avLst/>
          </a:prstGeom>
          <a:noFill/>
          <a:ln w="9525">
            <a:solidFill>
              <a:srgbClr val="D9D9DD"/>
            </a:solidFill>
            <a:prstDash val="solid"/>
          </a:ln>
        </p:spPr>
      </p:sp>
      <p:sp>
        <p:nvSpPr>
          <p:cNvPr id="41" name="Shape 39"/>
          <p:cNvSpPr/>
          <p:nvPr/>
        </p:nvSpPr>
        <p:spPr>
          <a:xfrm>
            <a:off x="685800" y="6720840"/>
            <a:ext cx="16916400" cy="0"/>
          </a:xfrm>
          <a:prstGeom prst="line">
            <a:avLst/>
          </a:prstGeom>
          <a:noFill/>
          <a:ln w="9525">
            <a:solidFill>
              <a:srgbClr val="D9D9DD"/>
            </a:solidFill>
            <a:prstDash val="solid"/>
          </a:ln>
        </p:spPr>
      </p:sp>
      <p:sp>
        <p:nvSpPr>
          <p:cNvPr id="42" name="Shape 40"/>
          <p:cNvSpPr/>
          <p:nvPr/>
        </p:nvSpPr>
        <p:spPr>
          <a:xfrm>
            <a:off x="685800" y="6949440"/>
            <a:ext cx="5349240" cy="1920240"/>
          </a:xfrm>
          <a:prstGeom prst="roundRect">
            <a:avLst>
              <a:gd name="adj" fmla="val 5714"/>
            </a:avLst>
          </a:prstGeom>
          <a:solidFill>
            <a:srgbClr val="EEECE7"/>
          </a:solidFill>
          <a:ln w="12700">
            <a:solidFill>
              <a:srgbClr val="EEECE7"/>
            </a:solidFill>
            <a:prstDash val="solid"/>
          </a:ln>
        </p:spPr>
      </p:sp>
      <p:sp>
        <p:nvSpPr>
          <p:cNvPr id="43" name="Text 41"/>
          <p:cNvSpPr txBox="1"/>
          <p:nvPr/>
        </p:nvSpPr>
        <p:spPr>
          <a:xfrm>
            <a:off x="1005840" y="7150608"/>
            <a:ext cx="4709160" cy="777240"/>
          </a:xfrm>
          <a:prstGeom prst="rect">
            <a:avLst/>
          </a:prstGeom>
          <a:noFill/>
          <a:ln/>
        </p:spPr>
        <p:txBody>
          <a:bodyPr wrap="square" lIns="0" tIns="0" rIns="0" bIns="0" rtlCol="0" anchor="t"/>
          <a:lstStyle/>
          <a:p>
            <a:pPr indent="0" marL="0">
              <a:buNone/>
            </a:pPr>
            <a:r>
              <a:rPr lang="en-US" sz="4400" spc="-200" kern="0" dirty="0">
                <a:solidFill>
                  <a:srgbClr val="17171C"/>
                </a:solidFill>
                <a:latin typeface="Arial"/>
                <a:ea typeface="Arial"/>
                <a:cs typeface="Arial"/>
              </a:rPr>
              <a:t>5/5</a:t>
            </a:r>
            <a:endParaRPr lang="en-US" sz="4400" dirty="0"/>
          </a:p>
        </p:txBody>
      </p:sp>
      <p:sp>
        <p:nvSpPr>
          <p:cNvPr id="44" name="Text 42"/>
          <p:cNvSpPr txBox="1"/>
          <p:nvPr/>
        </p:nvSpPr>
        <p:spPr>
          <a:xfrm>
            <a:off x="1005840" y="7909560"/>
            <a:ext cx="4709160" cy="603504"/>
          </a:xfrm>
          <a:prstGeom prst="rect">
            <a:avLst/>
          </a:prstGeom>
          <a:noFill/>
          <a:ln/>
        </p:spPr>
        <p:txBody>
          <a:bodyPr wrap="square" lIns="0" tIns="0" rIns="0" bIns="0" rtlCol="0" anchor="t"/>
          <a:lstStyle/>
          <a:p>
            <a:pPr indent="0" marL="0">
              <a:buNone/>
            </a:pPr>
            <a:r>
              <a:rPr lang="en-US" sz="1400" dirty="0">
                <a:solidFill>
                  <a:srgbClr val="616161"/>
                </a:solidFill>
                <a:latin typeface="Arial"/>
                <a:ea typeface="Arial"/>
                <a:cs typeface="Arial"/>
              </a:rPr>
              <a:t>mutation classes the policy matrix is required to catch, one at a time</a:t>
            </a:r>
            <a:endParaRPr lang="en-US" sz="1400" dirty="0"/>
          </a:p>
        </p:txBody>
      </p:sp>
      <p:sp>
        <p:nvSpPr>
          <p:cNvPr id="45" name="Text 43"/>
          <p:cNvSpPr txBox="1"/>
          <p:nvPr/>
        </p:nvSpPr>
        <p:spPr>
          <a:xfrm>
            <a:off x="1005840" y="8540496"/>
            <a:ext cx="4709160" cy="256032"/>
          </a:xfrm>
          <a:prstGeom prst="rect">
            <a:avLst/>
          </a:prstGeom>
          <a:noFill/>
          <a:ln/>
        </p:spPr>
        <p:txBody>
          <a:bodyPr wrap="square" lIns="0" tIns="0" rIns="0" bIns="0" rtlCol="0" anchor="ctr"/>
          <a:lstStyle/>
          <a:p>
            <a:pPr indent="0" marL="0">
              <a:buNone/>
            </a:pPr>
            <a:r>
              <a:rPr lang="en-US" sz="1100" b="1" spc="150" kern="0" dirty="0">
                <a:solidFill>
                  <a:srgbClr val="93939F"/>
                </a:solidFill>
                <a:latin typeface="Courier New"/>
                <a:ea typeface="Courier New"/>
                <a:cs typeface="Courier New"/>
              </a:rPr>
              <a:t>[B-01]</a:t>
            </a:r>
            <a:endParaRPr lang="en-US" sz="1100" dirty="0"/>
          </a:p>
        </p:txBody>
      </p:sp>
      <p:sp>
        <p:nvSpPr>
          <p:cNvPr id="46" name="Shape 44"/>
          <p:cNvSpPr/>
          <p:nvPr/>
        </p:nvSpPr>
        <p:spPr>
          <a:xfrm>
            <a:off x="6419088" y="6949440"/>
            <a:ext cx="5349240" cy="1920240"/>
          </a:xfrm>
          <a:prstGeom prst="roundRect">
            <a:avLst>
              <a:gd name="adj" fmla="val 5714"/>
            </a:avLst>
          </a:prstGeom>
          <a:solidFill>
            <a:srgbClr val="EEECE7"/>
          </a:solidFill>
          <a:ln w="12700">
            <a:solidFill>
              <a:srgbClr val="EEECE7"/>
            </a:solidFill>
            <a:prstDash val="solid"/>
          </a:ln>
        </p:spPr>
      </p:sp>
      <p:sp>
        <p:nvSpPr>
          <p:cNvPr id="47" name="Text 45"/>
          <p:cNvSpPr txBox="1"/>
          <p:nvPr/>
        </p:nvSpPr>
        <p:spPr>
          <a:xfrm>
            <a:off x="6739128" y="7150608"/>
            <a:ext cx="4709160" cy="777240"/>
          </a:xfrm>
          <a:prstGeom prst="rect">
            <a:avLst/>
          </a:prstGeom>
          <a:noFill/>
          <a:ln/>
        </p:spPr>
        <p:txBody>
          <a:bodyPr wrap="square" lIns="0" tIns="0" rIns="0" bIns="0" rtlCol="0" anchor="t"/>
          <a:lstStyle/>
          <a:p>
            <a:pPr indent="0" marL="0">
              <a:buNone/>
            </a:pPr>
            <a:r>
              <a:rPr lang="en-US" sz="4400" spc="-200" kern="0" dirty="0">
                <a:solidFill>
                  <a:srgbClr val="17171C"/>
                </a:solidFill>
                <a:latin typeface="Arial"/>
                <a:ea typeface="Arial"/>
                <a:cs typeface="Arial"/>
              </a:rPr>
              <a:t>1.000</a:t>
            </a:r>
            <a:endParaRPr lang="en-US" sz="4400" dirty="0"/>
          </a:p>
        </p:txBody>
      </p:sp>
      <p:sp>
        <p:nvSpPr>
          <p:cNvPr id="48" name="Text 46"/>
          <p:cNvSpPr txBox="1"/>
          <p:nvPr/>
        </p:nvSpPr>
        <p:spPr>
          <a:xfrm>
            <a:off x="6739128" y="7909560"/>
            <a:ext cx="4709160" cy="603504"/>
          </a:xfrm>
          <a:prstGeom prst="rect">
            <a:avLst/>
          </a:prstGeom>
          <a:noFill/>
          <a:ln/>
        </p:spPr>
        <p:txBody>
          <a:bodyPr wrap="square" lIns="0" tIns="0" rIns="0" bIns="0" rtlCol="0" anchor="t"/>
          <a:lstStyle/>
          <a:p>
            <a:pPr indent="0" marL="0">
              <a:buNone/>
            </a:pPr>
            <a:r>
              <a:rPr lang="en-US" sz="1400" dirty="0">
                <a:solidFill>
                  <a:srgbClr val="616161"/>
                </a:solidFill>
                <a:latin typeface="Arial"/>
                <a:ea typeface="Arial"/>
                <a:cs typeface="Arial"/>
              </a:rPr>
              <a:t>policy conformance over 280 cases × 3 policies, perfect detection assumed</a:t>
            </a:r>
            <a:endParaRPr lang="en-US" sz="1400" dirty="0"/>
          </a:p>
        </p:txBody>
      </p:sp>
      <p:sp>
        <p:nvSpPr>
          <p:cNvPr id="49" name="Text 47"/>
          <p:cNvSpPr txBox="1"/>
          <p:nvPr/>
        </p:nvSpPr>
        <p:spPr>
          <a:xfrm>
            <a:off x="6739128" y="8540496"/>
            <a:ext cx="4709160" cy="256032"/>
          </a:xfrm>
          <a:prstGeom prst="rect">
            <a:avLst/>
          </a:prstGeom>
          <a:noFill/>
          <a:ln/>
        </p:spPr>
        <p:txBody>
          <a:bodyPr wrap="square" lIns="0" tIns="0" rIns="0" bIns="0" rtlCol="0" anchor="ctr"/>
          <a:lstStyle/>
          <a:p>
            <a:pPr indent="0" marL="0">
              <a:buNone/>
            </a:pPr>
            <a:r>
              <a:rPr lang="en-US" sz="1100" b="1" spc="150" kern="0" dirty="0">
                <a:solidFill>
                  <a:srgbClr val="93939F"/>
                </a:solidFill>
                <a:latin typeface="Courier New"/>
                <a:ea typeface="Courier New"/>
                <a:cs typeface="Courier New"/>
              </a:rPr>
              <a:t>[B-01]</a:t>
            </a:r>
            <a:endParaRPr lang="en-US" sz="1100" dirty="0"/>
          </a:p>
        </p:txBody>
      </p:sp>
      <p:sp>
        <p:nvSpPr>
          <p:cNvPr id="50" name="Shape 48"/>
          <p:cNvSpPr/>
          <p:nvPr/>
        </p:nvSpPr>
        <p:spPr>
          <a:xfrm>
            <a:off x="12152376" y="6949440"/>
            <a:ext cx="5349240" cy="1920240"/>
          </a:xfrm>
          <a:prstGeom prst="roundRect">
            <a:avLst>
              <a:gd name="adj" fmla="val 5714"/>
            </a:avLst>
          </a:prstGeom>
          <a:solidFill>
            <a:srgbClr val="EEECE7"/>
          </a:solidFill>
          <a:ln w="12700">
            <a:solidFill>
              <a:srgbClr val="EEECE7"/>
            </a:solidFill>
            <a:prstDash val="solid"/>
          </a:ln>
        </p:spPr>
      </p:sp>
      <p:sp>
        <p:nvSpPr>
          <p:cNvPr id="51" name="Text 49"/>
          <p:cNvSpPr txBox="1"/>
          <p:nvPr/>
        </p:nvSpPr>
        <p:spPr>
          <a:xfrm>
            <a:off x="12472416" y="7150608"/>
            <a:ext cx="4709160" cy="777240"/>
          </a:xfrm>
          <a:prstGeom prst="rect">
            <a:avLst/>
          </a:prstGeom>
          <a:noFill/>
          <a:ln/>
        </p:spPr>
        <p:txBody>
          <a:bodyPr wrap="square" lIns="0" tIns="0" rIns="0" bIns="0" rtlCol="0" anchor="t"/>
          <a:lstStyle/>
          <a:p>
            <a:pPr indent="0" marL="0">
              <a:buNone/>
            </a:pPr>
            <a:r>
              <a:rPr lang="en-US" sz="4400" spc="-200" kern="0" dirty="0">
                <a:solidFill>
                  <a:srgbClr val="17171C"/>
                </a:solidFill>
                <a:latin typeface="Arial"/>
                <a:ea typeface="Arial"/>
                <a:cs typeface="Arial"/>
              </a:rPr>
              <a:t>0.825 to 0.851</a:t>
            </a:r>
            <a:endParaRPr lang="en-US" sz="4400" dirty="0"/>
          </a:p>
        </p:txBody>
      </p:sp>
      <p:sp>
        <p:nvSpPr>
          <p:cNvPr id="52" name="Text 50"/>
          <p:cNvSpPr txBox="1"/>
          <p:nvPr/>
        </p:nvSpPr>
        <p:spPr>
          <a:xfrm>
            <a:off x="12472416" y="7909560"/>
            <a:ext cx="4709160" cy="603504"/>
          </a:xfrm>
          <a:prstGeom prst="rect">
            <a:avLst/>
          </a:prstGeom>
          <a:noFill/>
          <a:ln/>
        </p:spPr>
        <p:txBody>
          <a:bodyPr wrap="square" lIns="0" tIns="0" rIns="0" bIns="0" rtlCol="0" anchor="t"/>
          <a:lstStyle/>
          <a:p>
            <a:pPr indent="0" marL="0">
              <a:buNone/>
            </a:pPr>
            <a:r>
              <a:rPr lang="en-US" sz="1400" dirty="0">
                <a:solidFill>
                  <a:srgbClr val="616161"/>
                </a:solidFill>
                <a:latin typeface="Arial"/>
                <a:ea typeface="Arial"/>
                <a:cs typeface="Arial"/>
              </a:rPr>
              <a:t>end-to-end agreement over the 194 cases real detectors can reach</a:t>
            </a:r>
            <a:endParaRPr lang="en-US" sz="1400" dirty="0"/>
          </a:p>
        </p:txBody>
      </p:sp>
      <p:sp>
        <p:nvSpPr>
          <p:cNvPr id="53" name="Text 51"/>
          <p:cNvSpPr txBox="1"/>
          <p:nvPr/>
        </p:nvSpPr>
        <p:spPr>
          <a:xfrm>
            <a:off x="12472416" y="8540496"/>
            <a:ext cx="4709160" cy="256032"/>
          </a:xfrm>
          <a:prstGeom prst="rect">
            <a:avLst/>
          </a:prstGeom>
          <a:noFill/>
          <a:ln/>
        </p:spPr>
        <p:txBody>
          <a:bodyPr wrap="square" lIns="0" tIns="0" rIns="0" bIns="0" rtlCol="0" anchor="ctr"/>
          <a:lstStyle/>
          <a:p>
            <a:pPr indent="0" marL="0">
              <a:buNone/>
            </a:pPr>
            <a:r>
              <a:rPr lang="en-US" sz="1100" b="1" spc="150" kern="0" dirty="0">
                <a:solidFill>
                  <a:srgbClr val="93939F"/>
                </a:solidFill>
                <a:latin typeface="Courier New"/>
                <a:ea typeface="Courier New"/>
                <a:cs typeface="Courier New"/>
              </a:rPr>
              <a:t>[B-10]</a:t>
            </a:r>
            <a:endParaRPr lang="en-US" sz="1100" dirty="0"/>
          </a:p>
        </p:txBody>
      </p:sp>
      <p:sp>
        <p:nvSpPr>
          <p:cNvPr id="54" name="Text 52"/>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Source: reports/eval_report.md</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Courier New"/>
                <a:ea typeface="Courier New"/>
                <a:cs typeface="Courier New"/>
              </a:rPr>
              <a:t>reproduce: python -m eval.run_all</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Courier New"/>
                <a:ea typeface="Courier New"/>
                <a:cs typeface="Courier New"/>
              </a:rPr>
              <a:t>[B-01] [B-02] [B-04] [B-10]</a:t>
            </a:r>
            <a:endParaRPr lang="en-US" sz="1200" dirty="0"/>
          </a:p>
        </p:txBody>
      </p:sp>
      <p:sp>
        <p:nvSpPr>
          <p:cNvPr id="55" name="Text 53"/>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56" name="Text 54"/>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17</a:t>
            </a:r>
            <a:endParaRPr lang="en-US" sz="10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03 · EVIDENCE AND SCOPE</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Latency and failure behaviour, both measurements.</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Budgets bind detector-attributable time, the same figure the runner enforces on. One detector breaches and we publish it.</a:t>
            </a:r>
            <a:endParaRPr lang="en-US" sz="2000" dirty="0"/>
          </a:p>
        </p:txBody>
      </p:sp>
      <p:sp>
        <p:nvSpPr>
          <p:cNvPr id="5" name="Text 3"/>
          <p:cNvSpPr txBox="1"/>
          <p:nvPr/>
        </p:nvSpPr>
        <p:spPr>
          <a:xfrm>
            <a:off x="685800" y="3108960"/>
            <a:ext cx="420624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DETECTOR</a:t>
            </a:r>
            <a:endParaRPr lang="en-US" sz="1100" dirty="0"/>
          </a:p>
        </p:txBody>
      </p:sp>
      <p:sp>
        <p:nvSpPr>
          <p:cNvPr id="6" name="Text 4"/>
          <p:cNvSpPr txBox="1"/>
          <p:nvPr/>
        </p:nvSpPr>
        <p:spPr>
          <a:xfrm>
            <a:off x="4892040" y="3108960"/>
            <a:ext cx="1645920" cy="320040"/>
          </a:xfrm>
          <a:prstGeom prst="rect">
            <a:avLst/>
          </a:prstGeom>
          <a:noFill/>
          <a:ln/>
        </p:spPr>
        <p:txBody>
          <a:bodyPr wrap="square" lIns="0" tIns="0" rIns="0" bIns="0" rtlCol="0" anchor="ctr"/>
          <a:lstStyle/>
          <a:p>
            <a:pPr algn="r" indent="0" marL="0">
              <a:buNone/>
            </a:pPr>
            <a:r>
              <a:rPr lang="en-US" sz="1100" b="1" spc="150" kern="0" dirty="0">
                <a:solidFill>
                  <a:srgbClr val="75758A"/>
                </a:solidFill>
                <a:latin typeface="Courier New"/>
                <a:ea typeface="Courier New"/>
                <a:cs typeface="Courier New"/>
              </a:rPr>
              <a:t>BUDGET</a:t>
            </a:r>
            <a:endParaRPr lang="en-US" sz="1100" dirty="0"/>
          </a:p>
        </p:txBody>
      </p:sp>
      <p:sp>
        <p:nvSpPr>
          <p:cNvPr id="7" name="Text 5"/>
          <p:cNvSpPr txBox="1"/>
          <p:nvPr/>
        </p:nvSpPr>
        <p:spPr>
          <a:xfrm>
            <a:off x="6537960" y="3108960"/>
            <a:ext cx="1371600" cy="320040"/>
          </a:xfrm>
          <a:prstGeom prst="rect">
            <a:avLst/>
          </a:prstGeom>
          <a:noFill/>
          <a:ln/>
        </p:spPr>
        <p:txBody>
          <a:bodyPr wrap="square" lIns="0" tIns="0" rIns="0" bIns="0" rtlCol="0" anchor="ctr"/>
          <a:lstStyle/>
          <a:p>
            <a:pPr algn="r" indent="0" marL="0">
              <a:buNone/>
            </a:pPr>
            <a:r>
              <a:rPr lang="en-US" sz="1100" b="1" spc="150" kern="0" dirty="0">
                <a:solidFill>
                  <a:srgbClr val="75758A"/>
                </a:solidFill>
                <a:latin typeface="Courier New"/>
                <a:ea typeface="Courier New"/>
                <a:cs typeface="Courier New"/>
              </a:rPr>
              <a:t>N</a:t>
            </a:r>
            <a:endParaRPr lang="en-US" sz="1100" dirty="0"/>
          </a:p>
        </p:txBody>
      </p:sp>
      <p:sp>
        <p:nvSpPr>
          <p:cNvPr id="8" name="Text 6"/>
          <p:cNvSpPr txBox="1"/>
          <p:nvPr/>
        </p:nvSpPr>
        <p:spPr>
          <a:xfrm>
            <a:off x="7909560" y="3108960"/>
            <a:ext cx="1828800" cy="320040"/>
          </a:xfrm>
          <a:prstGeom prst="rect">
            <a:avLst/>
          </a:prstGeom>
          <a:noFill/>
          <a:ln/>
        </p:spPr>
        <p:txBody>
          <a:bodyPr wrap="square" lIns="0" tIns="0" rIns="0" bIns="0" rtlCol="0" anchor="ctr"/>
          <a:lstStyle/>
          <a:p>
            <a:pPr algn="r" indent="0" marL="0">
              <a:buNone/>
            </a:pPr>
            <a:r>
              <a:rPr lang="en-US" sz="1100" b="1" spc="150" kern="0" dirty="0">
                <a:solidFill>
                  <a:srgbClr val="75758A"/>
                </a:solidFill>
                <a:latin typeface="Courier New"/>
                <a:ea typeface="Courier New"/>
                <a:cs typeface="Courier New"/>
              </a:rPr>
              <a:t>P50</a:t>
            </a:r>
            <a:endParaRPr lang="en-US" sz="1100" dirty="0"/>
          </a:p>
        </p:txBody>
      </p:sp>
      <p:sp>
        <p:nvSpPr>
          <p:cNvPr id="9" name="Text 7"/>
          <p:cNvSpPr txBox="1"/>
          <p:nvPr/>
        </p:nvSpPr>
        <p:spPr>
          <a:xfrm>
            <a:off x="9738360" y="3108960"/>
            <a:ext cx="1828800" cy="320040"/>
          </a:xfrm>
          <a:prstGeom prst="rect">
            <a:avLst/>
          </a:prstGeom>
          <a:noFill/>
          <a:ln/>
        </p:spPr>
        <p:txBody>
          <a:bodyPr wrap="square" lIns="0" tIns="0" rIns="0" bIns="0" rtlCol="0" anchor="ctr"/>
          <a:lstStyle/>
          <a:p>
            <a:pPr algn="r" indent="0" marL="0">
              <a:buNone/>
            </a:pPr>
            <a:r>
              <a:rPr lang="en-US" sz="1100" b="1" spc="150" kern="0" dirty="0">
                <a:solidFill>
                  <a:srgbClr val="75758A"/>
                </a:solidFill>
                <a:latin typeface="Courier New"/>
                <a:ea typeface="Courier New"/>
                <a:cs typeface="Courier New"/>
              </a:rPr>
              <a:t>P99</a:t>
            </a:r>
            <a:endParaRPr lang="en-US" sz="1100" dirty="0"/>
          </a:p>
        </p:txBody>
      </p:sp>
      <p:sp>
        <p:nvSpPr>
          <p:cNvPr id="10" name="Text 8"/>
          <p:cNvSpPr txBox="1"/>
          <p:nvPr/>
        </p:nvSpPr>
        <p:spPr>
          <a:xfrm>
            <a:off x="11887200" y="3108960"/>
            <a:ext cx="571500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VERDICT AT P99</a:t>
            </a:r>
            <a:endParaRPr lang="en-US" sz="1100" dirty="0"/>
          </a:p>
        </p:txBody>
      </p:sp>
      <p:sp>
        <p:nvSpPr>
          <p:cNvPr id="11" name="Shape 9"/>
          <p:cNvSpPr/>
          <p:nvPr/>
        </p:nvSpPr>
        <p:spPr>
          <a:xfrm>
            <a:off x="685800" y="3456432"/>
            <a:ext cx="16916400" cy="0"/>
          </a:xfrm>
          <a:prstGeom prst="line">
            <a:avLst/>
          </a:prstGeom>
          <a:noFill/>
          <a:ln w="9525">
            <a:solidFill>
              <a:srgbClr val="17171C"/>
            </a:solidFill>
            <a:prstDash val="solid"/>
          </a:ln>
        </p:spPr>
      </p:sp>
      <p:sp>
        <p:nvSpPr>
          <p:cNvPr id="12" name="Text 10"/>
          <p:cNvSpPr txBox="1"/>
          <p:nvPr/>
        </p:nvSpPr>
        <p:spPr>
          <a:xfrm>
            <a:off x="685800" y="3520440"/>
            <a:ext cx="4206240" cy="548640"/>
          </a:xfrm>
          <a:prstGeom prst="rect">
            <a:avLst/>
          </a:prstGeom>
          <a:noFill/>
          <a:ln/>
        </p:spPr>
        <p:txBody>
          <a:bodyPr wrap="square" lIns="0" tIns="0" rIns="0" bIns="0" rtlCol="0" anchor="ctr"/>
          <a:lstStyle/>
          <a:p>
            <a:pPr algn="l" indent="0" marL="0">
              <a:buNone/>
            </a:pPr>
            <a:r>
              <a:rPr lang="en-US" sz="1500" dirty="0">
                <a:solidFill>
                  <a:srgbClr val="212121"/>
                </a:solidFill>
                <a:latin typeface="Courier New"/>
                <a:ea typeface="Courier New"/>
                <a:cs typeface="Courier New"/>
              </a:rPr>
              <a:t>tier1_pii</a:t>
            </a:r>
            <a:endParaRPr lang="en-US" sz="1500" dirty="0"/>
          </a:p>
        </p:txBody>
      </p:sp>
      <p:sp>
        <p:nvSpPr>
          <p:cNvPr id="13" name="Text 11"/>
          <p:cNvSpPr txBox="1"/>
          <p:nvPr/>
        </p:nvSpPr>
        <p:spPr>
          <a:xfrm>
            <a:off x="4892040" y="3520440"/>
            <a:ext cx="164592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2 ms</a:t>
            </a:r>
            <a:endParaRPr lang="en-US" sz="1400" dirty="0"/>
          </a:p>
        </p:txBody>
      </p:sp>
      <p:sp>
        <p:nvSpPr>
          <p:cNvPr id="14" name="Text 12"/>
          <p:cNvSpPr txBox="1"/>
          <p:nvPr/>
        </p:nvSpPr>
        <p:spPr>
          <a:xfrm>
            <a:off x="6537960" y="3520440"/>
            <a:ext cx="137160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583</a:t>
            </a:r>
            <a:endParaRPr lang="en-US" sz="1400" dirty="0"/>
          </a:p>
        </p:txBody>
      </p:sp>
      <p:sp>
        <p:nvSpPr>
          <p:cNvPr id="15" name="Text 13"/>
          <p:cNvSpPr txBox="1"/>
          <p:nvPr/>
        </p:nvSpPr>
        <p:spPr>
          <a:xfrm>
            <a:off x="7909560" y="3520440"/>
            <a:ext cx="182880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0.053</a:t>
            </a:r>
            <a:endParaRPr lang="en-US" sz="1400" dirty="0"/>
          </a:p>
        </p:txBody>
      </p:sp>
      <p:sp>
        <p:nvSpPr>
          <p:cNvPr id="16" name="Text 14"/>
          <p:cNvSpPr txBox="1"/>
          <p:nvPr/>
        </p:nvSpPr>
        <p:spPr>
          <a:xfrm>
            <a:off x="9738360" y="3520440"/>
            <a:ext cx="182880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0.133</a:t>
            </a:r>
            <a:endParaRPr lang="en-US" sz="1400" dirty="0"/>
          </a:p>
        </p:txBody>
      </p:sp>
      <p:sp>
        <p:nvSpPr>
          <p:cNvPr id="17" name="Text 15"/>
          <p:cNvSpPr txBox="1"/>
          <p:nvPr/>
        </p:nvSpPr>
        <p:spPr>
          <a:xfrm>
            <a:off x="11887200" y="3520440"/>
            <a:ext cx="5715000" cy="548640"/>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Within budget</a:t>
            </a:r>
            <a:endParaRPr lang="en-US" sz="1400" dirty="0"/>
          </a:p>
        </p:txBody>
      </p:sp>
      <p:sp>
        <p:nvSpPr>
          <p:cNvPr id="18" name="Shape 16"/>
          <p:cNvSpPr/>
          <p:nvPr/>
        </p:nvSpPr>
        <p:spPr>
          <a:xfrm>
            <a:off x="685800" y="4069080"/>
            <a:ext cx="16916400" cy="0"/>
          </a:xfrm>
          <a:prstGeom prst="line">
            <a:avLst/>
          </a:prstGeom>
          <a:noFill/>
          <a:ln w="9525">
            <a:solidFill>
              <a:srgbClr val="D9D9DD"/>
            </a:solidFill>
            <a:prstDash val="solid"/>
          </a:ln>
        </p:spPr>
      </p:sp>
      <p:sp>
        <p:nvSpPr>
          <p:cNvPr id="19" name="Text 17"/>
          <p:cNvSpPr txBox="1"/>
          <p:nvPr/>
        </p:nvSpPr>
        <p:spPr>
          <a:xfrm>
            <a:off x="685800" y="4069080"/>
            <a:ext cx="4206240" cy="548640"/>
          </a:xfrm>
          <a:prstGeom prst="rect">
            <a:avLst/>
          </a:prstGeom>
          <a:noFill/>
          <a:ln/>
        </p:spPr>
        <p:txBody>
          <a:bodyPr wrap="square" lIns="0" tIns="0" rIns="0" bIns="0" rtlCol="0" anchor="ctr"/>
          <a:lstStyle/>
          <a:p>
            <a:pPr algn="l" indent="0" marL="0">
              <a:buNone/>
            </a:pPr>
            <a:r>
              <a:rPr lang="en-US" sz="1500" dirty="0">
                <a:solidFill>
                  <a:srgbClr val="212121"/>
                </a:solidFill>
                <a:latin typeface="Courier New"/>
                <a:ea typeface="Courier New"/>
                <a:cs typeface="Courier New"/>
              </a:rPr>
              <a:t>tier1_blocklist</a:t>
            </a:r>
            <a:endParaRPr lang="en-US" sz="1500" dirty="0"/>
          </a:p>
        </p:txBody>
      </p:sp>
      <p:sp>
        <p:nvSpPr>
          <p:cNvPr id="20" name="Text 18"/>
          <p:cNvSpPr txBox="1"/>
          <p:nvPr/>
        </p:nvSpPr>
        <p:spPr>
          <a:xfrm>
            <a:off x="4892040" y="4069080"/>
            <a:ext cx="164592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2 ms</a:t>
            </a:r>
            <a:endParaRPr lang="en-US" sz="1400" dirty="0"/>
          </a:p>
        </p:txBody>
      </p:sp>
      <p:sp>
        <p:nvSpPr>
          <p:cNvPr id="21" name="Text 19"/>
          <p:cNvSpPr txBox="1"/>
          <p:nvPr/>
        </p:nvSpPr>
        <p:spPr>
          <a:xfrm>
            <a:off x="6537960" y="4069080"/>
            <a:ext cx="137160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583</a:t>
            </a:r>
            <a:endParaRPr lang="en-US" sz="1400" dirty="0"/>
          </a:p>
        </p:txBody>
      </p:sp>
      <p:sp>
        <p:nvSpPr>
          <p:cNvPr id="22" name="Text 20"/>
          <p:cNvSpPr txBox="1"/>
          <p:nvPr/>
        </p:nvSpPr>
        <p:spPr>
          <a:xfrm>
            <a:off x="7909560" y="4069080"/>
            <a:ext cx="182880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0.012</a:t>
            </a:r>
            <a:endParaRPr lang="en-US" sz="1400" dirty="0"/>
          </a:p>
        </p:txBody>
      </p:sp>
      <p:sp>
        <p:nvSpPr>
          <p:cNvPr id="23" name="Text 21"/>
          <p:cNvSpPr txBox="1"/>
          <p:nvPr/>
        </p:nvSpPr>
        <p:spPr>
          <a:xfrm>
            <a:off x="9738360" y="4069080"/>
            <a:ext cx="182880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0.020</a:t>
            </a:r>
            <a:endParaRPr lang="en-US" sz="1400" dirty="0"/>
          </a:p>
        </p:txBody>
      </p:sp>
      <p:sp>
        <p:nvSpPr>
          <p:cNvPr id="24" name="Text 22"/>
          <p:cNvSpPr txBox="1"/>
          <p:nvPr/>
        </p:nvSpPr>
        <p:spPr>
          <a:xfrm>
            <a:off x="11887200" y="4069080"/>
            <a:ext cx="5715000" cy="548640"/>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Within budget</a:t>
            </a:r>
            <a:endParaRPr lang="en-US" sz="1400" dirty="0"/>
          </a:p>
        </p:txBody>
      </p:sp>
      <p:sp>
        <p:nvSpPr>
          <p:cNvPr id="25" name="Shape 23"/>
          <p:cNvSpPr/>
          <p:nvPr/>
        </p:nvSpPr>
        <p:spPr>
          <a:xfrm>
            <a:off x="685800" y="4617720"/>
            <a:ext cx="16916400" cy="0"/>
          </a:xfrm>
          <a:prstGeom prst="line">
            <a:avLst/>
          </a:prstGeom>
          <a:noFill/>
          <a:ln w="9525">
            <a:solidFill>
              <a:srgbClr val="D9D9DD"/>
            </a:solidFill>
            <a:prstDash val="solid"/>
          </a:ln>
        </p:spPr>
      </p:sp>
      <p:sp>
        <p:nvSpPr>
          <p:cNvPr id="26" name="Text 24"/>
          <p:cNvSpPr txBox="1"/>
          <p:nvPr/>
        </p:nvSpPr>
        <p:spPr>
          <a:xfrm>
            <a:off x="685800" y="4617720"/>
            <a:ext cx="4206240" cy="548640"/>
          </a:xfrm>
          <a:prstGeom prst="rect">
            <a:avLst/>
          </a:prstGeom>
          <a:noFill/>
          <a:ln/>
        </p:spPr>
        <p:txBody>
          <a:bodyPr wrap="square" lIns="0" tIns="0" rIns="0" bIns="0" rtlCol="0" anchor="ctr"/>
          <a:lstStyle/>
          <a:p>
            <a:pPr algn="l" indent="0" marL="0">
              <a:buNone/>
            </a:pPr>
            <a:r>
              <a:rPr lang="en-US" sz="1500" dirty="0">
                <a:solidFill>
                  <a:srgbClr val="212121"/>
                </a:solidFill>
                <a:latin typeface="Courier New"/>
                <a:ea typeface="Courier New"/>
                <a:cs typeface="Courier New"/>
              </a:rPr>
              <a:t>numeric_claims</a:t>
            </a:r>
            <a:endParaRPr lang="en-US" sz="1500" dirty="0"/>
          </a:p>
        </p:txBody>
      </p:sp>
      <p:sp>
        <p:nvSpPr>
          <p:cNvPr id="27" name="Text 25"/>
          <p:cNvSpPr txBox="1"/>
          <p:nvPr/>
        </p:nvSpPr>
        <p:spPr>
          <a:xfrm>
            <a:off x="4892040" y="4617720"/>
            <a:ext cx="164592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5 ms</a:t>
            </a:r>
            <a:endParaRPr lang="en-US" sz="1400" dirty="0"/>
          </a:p>
        </p:txBody>
      </p:sp>
      <p:sp>
        <p:nvSpPr>
          <p:cNvPr id="28" name="Text 26"/>
          <p:cNvSpPr txBox="1"/>
          <p:nvPr/>
        </p:nvSpPr>
        <p:spPr>
          <a:xfrm>
            <a:off x="6537960" y="4617720"/>
            <a:ext cx="137160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283</a:t>
            </a:r>
            <a:endParaRPr lang="en-US" sz="1400" dirty="0"/>
          </a:p>
        </p:txBody>
      </p:sp>
      <p:sp>
        <p:nvSpPr>
          <p:cNvPr id="29" name="Text 27"/>
          <p:cNvSpPr txBox="1"/>
          <p:nvPr/>
        </p:nvSpPr>
        <p:spPr>
          <a:xfrm>
            <a:off x="7909560" y="4617720"/>
            <a:ext cx="182880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0.077</a:t>
            </a:r>
            <a:endParaRPr lang="en-US" sz="1400" dirty="0"/>
          </a:p>
        </p:txBody>
      </p:sp>
      <p:sp>
        <p:nvSpPr>
          <p:cNvPr id="30" name="Text 28"/>
          <p:cNvSpPr txBox="1"/>
          <p:nvPr/>
        </p:nvSpPr>
        <p:spPr>
          <a:xfrm>
            <a:off x="9738360" y="4617720"/>
            <a:ext cx="182880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0.277</a:t>
            </a:r>
            <a:endParaRPr lang="en-US" sz="1400" dirty="0"/>
          </a:p>
        </p:txBody>
      </p:sp>
      <p:sp>
        <p:nvSpPr>
          <p:cNvPr id="31" name="Text 29"/>
          <p:cNvSpPr txBox="1"/>
          <p:nvPr/>
        </p:nvSpPr>
        <p:spPr>
          <a:xfrm>
            <a:off x="11887200" y="4617720"/>
            <a:ext cx="5715000" cy="548640"/>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Within budget</a:t>
            </a:r>
            <a:endParaRPr lang="en-US" sz="1400" dirty="0"/>
          </a:p>
        </p:txBody>
      </p:sp>
      <p:sp>
        <p:nvSpPr>
          <p:cNvPr id="32" name="Shape 30"/>
          <p:cNvSpPr/>
          <p:nvPr/>
        </p:nvSpPr>
        <p:spPr>
          <a:xfrm>
            <a:off x="685800" y="5166360"/>
            <a:ext cx="16916400" cy="0"/>
          </a:xfrm>
          <a:prstGeom prst="line">
            <a:avLst/>
          </a:prstGeom>
          <a:noFill/>
          <a:ln w="9525">
            <a:solidFill>
              <a:srgbClr val="D9D9DD"/>
            </a:solidFill>
            <a:prstDash val="solid"/>
          </a:ln>
        </p:spPr>
      </p:sp>
      <p:sp>
        <p:nvSpPr>
          <p:cNvPr id="33" name="Text 31"/>
          <p:cNvSpPr txBox="1"/>
          <p:nvPr/>
        </p:nvSpPr>
        <p:spPr>
          <a:xfrm>
            <a:off x="685800" y="5166360"/>
            <a:ext cx="4206240" cy="548640"/>
          </a:xfrm>
          <a:prstGeom prst="rect">
            <a:avLst/>
          </a:prstGeom>
          <a:noFill/>
          <a:ln/>
        </p:spPr>
        <p:txBody>
          <a:bodyPr wrap="square" lIns="0" tIns="0" rIns="0" bIns="0" rtlCol="0" anchor="ctr"/>
          <a:lstStyle/>
          <a:p>
            <a:pPr algn="l" indent="0" marL="0">
              <a:buNone/>
            </a:pPr>
            <a:r>
              <a:rPr lang="en-US" sz="1500" dirty="0">
                <a:solidFill>
                  <a:srgbClr val="212121"/>
                </a:solidFill>
                <a:latin typeface="Courier New"/>
                <a:ea typeface="Courier New"/>
                <a:cs typeface="Courier New"/>
              </a:rPr>
              <a:t>tier2_toxicity</a:t>
            </a:r>
            <a:endParaRPr lang="en-US" sz="1500" dirty="0"/>
          </a:p>
        </p:txBody>
      </p:sp>
      <p:sp>
        <p:nvSpPr>
          <p:cNvPr id="34" name="Text 32"/>
          <p:cNvSpPr txBox="1"/>
          <p:nvPr/>
        </p:nvSpPr>
        <p:spPr>
          <a:xfrm>
            <a:off x="4892040" y="5166360"/>
            <a:ext cx="164592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25 ms</a:t>
            </a:r>
            <a:endParaRPr lang="en-US" sz="1400" dirty="0"/>
          </a:p>
        </p:txBody>
      </p:sp>
      <p:sp>
        <p:nvSpPr>
          <p:cNvPr id="35" name="Text 33"/>
          <p:cNvSpPr txBox="1"/>
          <p:nvPr/>
        </p:nvSpPr>
        <p:spPr>
          <a:xfrm>
            <a:off x="6537960" y="5166360"/>
            <a:ext cx="137160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283</a:t>
            </a:r>
            <a:endParaRPr lang="en-US" sz="1400" dirty="0"/>
          </a:p>
        </p:txBody>
      </p:sp>
      <p:sp>
        <p:nvSpPr>
          <p:cNvPr id="36" name="Text 34"/>
          <p:cNvSpPr txBox="1"/>
          <p:nvPr/>
        </p:nvSpPr>
        <p:spPr>
          <a:xfrm>
            <a:off x="7909560" y="5166360"/>
            <a:ext cx="182880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19.553</a:t>
            </a:r>
            <a:endParaRPr lang="en-US" sz="1400" dirty="0"/>
          </a:p>
        </p:txBody>
      </p:sp>
      <p:sp>
        <p:nvSpPr>
          <p:cNvPr id="37" name="Text 35"/>
          <p:cNvSpPr txBox="1"/>
          <p:nvPr/>
        </p:nvSpPr>
        <p:spPr>
          <a:xfrm>
            <a:off x="9738360" y="5166360"/>
            <a:ext cx="182880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23.741</a:t>
            </a:r>
            <a:endParaRPr lang="en-US" sz="1400" dirty="0"/>
          </a:p>
        </p:txBody>
      </p:sp>
      <p:sp>
        <p:nvSpPr>
          <p:cNvPr id="38" name="Text 36"/>
          <p:cNvSpPr txBox="1"/>
          <p:nvPr/>
        </p:nvSpPr>
        <p:spPr>
          <a:xfrm>
            <a:off x="11887200" y="5166360"/>
            <a:ext cx="5715000" cy="548640"/>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Within budget, 2 fail_open faults</a:t>
            </a:r>
            <a:endParaRPr lang="en-US" sz="1400" dirty="0"/>
          </a:p>
        </p:txBody>
      </p:sp>
      <p:sp>
        <p:nvSpPr>
          <p:cNvPr id="39" name="Shape 37"/>
          <p:cNvSpPr/>
          <p:nvPr/>
        </p:nvSpPr>
        <p:spPr>
          <a:xfrm>
            <a:off x="685800" y="5715000"/>
            <a:ext cx="16916400" cy="0"/>
          </a:xfrm>
          <a:prstGeom prst="line">
            <a:avLst/>
          </a:prstGeom>
          <a:noFill/>
          <a:ln w="9525">
            <a:solidFill>
              <a:srgbClr val="D9D9DD"/>
            </a:solidFill>
            <a:prstDash val="solid"/>
          </a:ln>
        </p:spPr>
      </p:sp>
      <p:sp>
        <p:nvSpPr>
          <p:cNvPr id="40" name="Text 38"/>
          <p:cNvSpPr txBox="1"/>
          <p:nvPr/>
        </p:nvSpPr>
        <p:spPr>
          <a:xfrm>
            <a:off x="685800" y="5715000"/>
            <a:ext cx="4206240" cy="548640"/>
          </a:xfrm>
          <a:prstGeom prst="rect">
            <a:avLst/>
          </a:prstGeom>
          <a:noFill/>
          <a:ln/>
        </p:spPr>
        <p:txBody>
          <a:bodyPr wrap="square" lIns="0" tIns="0" rIns="0" bIns="0" rtlCol="0" anchor="ctr"/>
          <a:lstStyle/>
          <a:p>
            <a:pPr algn="l" indent="0" marL="0">
              <a:buNone/>
            </a:pPr>
            <a:r>
              <a:rPr lang="en-US" sz="1500" dirty="0">
                <a:solidFill>
                  <a:srgbClr val="212121"/>
                </a:solidFill>
                <a:latin typeface="Courier New"/>
                <a:ea typeface="Courier New"/>
                <a:cs typeface="Courier New"/>
              </a:rPr>
              <a:t>tier2_injection</a:t>
            </a:r>
            <a:endParaRPr lang="en-US" sz="1500" dirty="0"/>
          </a:p>
        </p:txBody>
      </p:sp>
      <p:sp>
        <p:nvSpPr>
          <p:cNvPr id="41" name="Text 39"/>
          <p:cNvSpPr txBox="1"/>
          <p:nvPr/>
        </p:nvSpPr>
        <p:spPr>
          <a:xfrm>
            <a:off x="4892040" y="5715000"/>
            <a:ext cx="164592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25 ms</a:t>
            </a:r>
            <a:endParaRPr lang="en-US" sz="1400" dirty="0"/>
          </a:p>
        </p:txBody>
      </p:sp>
      <p:sp>
        <p:nvSpPr>
          <p:cNvPr id="42" name="Text 40"/>
          <p:cNvSpPr txBox="1"/>
          <p:nvPr/>
        </p:nvSpPr>
        <p:spPr>
          <a:xfrm>
            <a:off x="6537960" y="5715000"/>
            <a:ext cx="137160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300</a:t>
            </a:r>
            <a:endParaRPr lang="en-US" sz="1400" dirty="0"/>
          </a:p>
        </p:txBody>
      </p:sp>
      <p:sp>
        <p:nvSpPr>
          <p:cNvPr id="43" name="Text 41"/>
          <p:cNvSpPr txBox="1"/>
          <p:nvPr/>
        </p:nvSpPr>
        <p:spPr>
          <a:xfrm>
            <a:off x="7909560" y="5715000"/>
            <a:ext cx="182880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20.032</a:t>
            </a:r>
            <a:endParaRPr lang="en-US" sz="1400" dirty="0"/>
          </a:p>
        </p:txBody>
      </p:sp>
      <p:sp>
        <p:nvSpPr>
          <p:cNvPr id="44" name="Text 42"/>
          <p:cNvSpPr txBox="1"/>
          <p:nvPr/>
        </p:nvSpPr>
        <p:spPr>
          <a:xfrm>
            <a:off x="9738360" y="5715000"/>
            <a:ext cx="1828800" cy="548640"/>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25.348</a:t>
            </a:r>
            <a:endParaRPr lang="en-US" sz="1400" dirty="0"/>
          </a:p>
        </p:txBody>
      </p:sp>
      <p:sp>
        <p:nvSpPr>
          <p:cNvPr id="45" name="Text 43"/>
          <p:cNvSpPr txBox="1"/>
          <p:nvPr/>
        </p:nvSpPr>
        <p:spPr>
          <a:xfrm>
            <a:off x="11887200" y="5715000"/>
            <a:ext cx="5715000" cy="548640"/>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BREACH, published, budget not moved</a:t>
            </a:r>
            <a:endParaRPr lang="en-US" sz="1400" dirty="0"/>
          </a:p>
        </p:txBody>
      </p:sp>
      <p:sp>
        <p:nvSpPr>
          <p:cNvPr id="46" name="Shape 44"/>
          <p:cNvSpPr/>
          <p:nvPr/>
        </p:nvSpPr>
        <p:spPr>
          <a:xfrm>
            <a:off x="685800" y="6263640"/>
            <a:ext cx="16916400" cy="0"/>
          </a:xfrm>
          <a:prstGeom prst="line">
            <a:avLst/>
          </a:prstGeom>
          <a:noFill/>
          <a:ln w="9525">
            <a:solidFill>
              <a:srgbClr val="D9D9DD"/>
            </a:solidFill>
            <a:prstDash val="solid"/>
          </a:ln>
        </p:spPr>
      </p:sp>
      <p:sp>
        <p:nvSpPr>
          <p:cNvPr id="47" name="Shape 45"/>
          <p:cNvSpPr/>
          <p:nvPr/>
        </p:nvSpPr>
        <p:spPr>
          <a:xfrm>
            <a:off x="685800" y="6309360"/>
            <a:ext cx="16916400" cy="0"/>
          </a:xfrm>
          <a:prstGeom prst="line">
            <a:avLst/>
          </a:prstGeom>
          <a:noFill/>
          <a:ln w="9525">
            <a:solidFill>
              <a:srgbClr val="D9D9DD"/>
            </a:solidFill>
            <a:prstDash val="solid"/>
          </a:ln>
        </p:spPr>
      </p:sp>
      <p:sp>
        <p:nvSpPr>
          <p:cNvPr id="48" name="Text 46"/>
          <p:cNvSpPr txBox="1"/>
          <p:nvPr/>
        </p:nvSpPr>
        <p:spPr>
          <a:xfrm>
            <a:off x="685800" y="6537960"/>
            <a:ext cx="15544800" cy="411480"/>
          </a:xfrm>
          <a:prstGeom prst="rect">
            <a:avLst/>
          </a:prstGeom>
          <a:noFill/>
          <a:ln/>
        </p:spPr>
        <p:txBody>
          <a:bodyPr wrap="square" lIns="0" tIns="0" rIns="0" bIns="0" rtlCol="0" anchor="ctr"/>
          <a:lstStyle/>
          <a:p>
            <a:pPr indent="0" marL="0">
              <a:buNone/>
            </a:pPr>
            <a:r>
              <a:rPr lang="en-US" sz="2200" spc="-50" kern="0" dirty="0">
                <a:solidFill>
                  <a:srgbClr val="17171C"/>
                </a:solidFill>
                <a:latin typeface="Arial"/>
                <a:ea typeface="Arial"/>
                <a:cs typeface="Arial"/>
              </a:rPr>
              <a:t>Fault injection is a rate, not a run, and two measurements of it disagree.</a:t>
            </a:r>
            <a:endParaRPr lang="en-US" sz="2200" dirty="0"/>
          </a:p>
        </p:txBody>
      </p:sp>
      <p:sp>
        <p:nvSpPr>
          <p:cNvPr id="49" name="Shape 47"/>
          <p:cNvSpPr/>
          <p:nvPr/>
        </p:nvSpPr>
        <p:spPr>
          <a:xfrm>
            <a:off x="685800" y="7086600"/>
            <a:ext cx="5349240" cy="1783080"/>
          </a:xfrm>
          <a:prstGeom prst="roundRect">
            <a:avLst>
              <a:gd name="adj" fmla="val 6154"/>
            </a:avLst>
          </a:prstGeom>
          <a:solidFill>
            <a:srgbClr val="FFFFFF"/>
          </a:solidFill>
          <a:ln w="12700">
            <a:solidFill>
              <a:srgbClr val="D9D9DD"/>
            </a:solidFill>
            <a:prstDash val="solid"/>
          </a:ln>
        </p:spPr>
      </p:sp>
      <p:sp>
        <p:nvSpPr>
          <p:cNvPr id="50" name="Text 48"/>
          <p:cNvSpPr txBox="1"/>
          <p:nvPr/>
        </p:nvSpPr>
        <p:spPr>
          <a:xfrm>
            <a:off x="1005840" y="7342632"/>
            <a:ext cx="470916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IN PROCESS, 5 REPETITIONS</a:t>
            </a:r>
            <a:endParaRPr lang="en-US" sz="1100" dirty="0"/>
          </a:p>
        </p:txBody>
      </p:sp>
      <p:sp>
        <p:nvSpPr>
          <p:cNvPr id="51" name="Text 49"/>
          <p:cNvSpPr txBox="1"/>
          <p:nvPr/>
        </p:nvSpPr>
        <p:spPr>
          <a:xfrm>
            <a:off x="1005840" y="7690104"/>
            <a:ext cx="4709160" cy="457200"/>
          </a:xfrm>
          <a:prstGeom prst="rect">
            <a:avLst/>
          </a:prstGeom>
          <a:noFill/>
          <a:ln/>
        </p:spPr>
        <p:txBody>
          <a:bodyPr wrap="square" lIns="0" tIns="0" rIns="0" bIns="0" rtlCol="0" anchor="t"/>
          <a:lstStyle/>
          <a:p>
            <a:pPr indent="0" marL="0">
              <a:buNone/>
            </a:pPr>
            <a:r>
              <a:rPr lang="en-US" sz="2000" spc="-100" kern="0" dirty="0">
                <a:solidFill>
                  <a:srgbClr val="17171C"/>
                </a:solidFill>
                <a:latin typeface="Arial"/>
                <a:ea typeface="Arial"/>
                <a:cs typeface="Arial"/>
              </a:rPr>
              <a:t>5/5 reached 39/39</a:t>
            </a:r>
            <a:endParaRPr lang="en-US" sz="2000" dirty="0"/>
          </a:p>
        </p:txBody>
      </p:sp>
      <p:sp>
        <p:nvSpPr>
          <p:cNvPr id="52" name="Text 50"/>
          <p:cNvSpPr txBox="1"/>
          <p:nvPr/>
        </p:nvSpPr>
        <p:spPr>
          <a:xfrm>
            <a:off x="1005840" y="8138160"/>
            <a:ext cx="4709160" cy="457200"/>
          </a:xfrm>
          <a:prstGeom prst="rect">
            <a:avLst/>
          </a:prstGeom>
          <a:noFill/>
          <a:ln/>
        </p:spPr>
        <p:txBody>
          <a:bodyPr wrap="square" lIns="0" tIns="0" rIns="0" bIns="0" rtlCol="0" anchor="t"/>
          <a:lstStyle/>
          <a:p>
            <a:pPr indent="0" marL="0">
              <a:lnSpc>
                <a:spcPct val="112000"/>
              </a:lnSpc>
              <a:buNone/>
            </a:pPr>
            <a:r>
              <a:rPr lang="en-US" sz="1300" dirty="0">
                <a:solidFill>
                  <a:srgbClr val="616161"/>
                </a:solidFill>
                <a:latin typeface="Arial"/>
                <a:ea typeface="Arial"/>
                <a:cs typeface="Arial"/>
              </a:rPr>
              <a:t>Quiet host, load stamped per repetition. All five share one warmed model pool, so this measures the warmed steady state.</a:t>
            </a:r>
            <a:endParaRPr lang="en-US" sz="1300" dirty="0"/>
          </a:p>
        </p:txBody>
      </p:sp>
      <p:sp>
        <p:nvSpPr>
          <p:cNvPr id="53" name="Shape 51"/>
          <p:cNvSpPr/>
          <p:nvPr/>
        </p:nvSpPr>
        <p:spPr>
          <a:xfrm>
            <a:off x="6419088" y="7086600"/>
            <a:ext cx="5349240" cy="1783080"/>
          </a:xfrm>
          <a:prstGeom prst="roundRect">
            <a:avLst>
              <a:gd name="adj" fmla="val 6154"/>
            </a:avLst>
          </a:prstGeom>
          <a:solidFill>
            <a:srgbClr val="FFFFFF"/>
          </a:solidFill>
          <a:ln w="12700">
            <a:solidFill>
              <a:srgbClr val="D9D9DD"/>
            </a:solidFill>
            <a:prstDash val="solid"/>
          </a:ln>
        </p:spPr>
      </p:sp>
      <p:sp>
        <p:nvSpPr>
          <p:cNvPr id="54" name="Text 52"/>
          <p:cNvSpPr txBox="1"/>
          <p:nvPr/>
        </p:nvSpPr>
        <p:spPr>
          <a:xfrm>
            <a:off x="6739128" y="7342632"/>
            <a:ext cx="470916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FIVE SEPARATE PROCESSES</a:t>
            </a:r>
            <a:endParaRPr lang="en-US" sz="1100" dirty="0"/>
          </a:p>
        </p:txBody>
      </p:sp>
      <p:sp>
        <p:nvSpPr>
          <p:cNvPr id="55" name="Text 53"/>
          <p:cNvSpPr txBox="1"/>
          <p:nvPr/>
        </p:nvSpPr>
        <p:spPr>
          <a:xfrm>
            <a:off x="6739128" y="7690104"/>
            <a:ext cx="4709160" cy="457200"/>
          </a:xfrm>
          <a:prstGeom prst="rect">
            <a:avLst/>
          </a:prstGeom>
          <a:noFill/>
          <a:ln/>
        </p:spPr>
        <p:txBody>
          <a:bodyPr wrap="square" lIns="0" tIns="0" rIns="0" bIns="0" rtlCol="0" anchor="t"/>
          <a:lstStyle/>
          <a:p>
            <a:pPr indent="0" marL="0">
              <a:buNone/>
            </a:pPr>
            <a:r>
              <a:rPr lang="en-US" sz="2000" spc="-100" kern="0" dirty="0">
                <a:solidFill>
                  <a:srgbClr val="17171C"/>
                </a:solidFill>
                <a:latin typeface="Arial"/>
                <a:ea typeface="Arial"/>
                <a:cs typeface="Arial"/>
              </a:rPr>
              <a:t>3/5 clean, two at 38/39</a:t>
            </a:r>
            <a:endParaRPr lang="en-US" sz="2000" dirty="0"/>
          </a:p>
        </p:txBody>
      </p:sp>
      <p:sp>
        <p:nvSpPr>
          <p:cNvPr id="56" name="Text 54"/>
          <p:cNvSpPr txBox="1"/>
          <p:nvPr/>
        </p:nvSpPr>
        <p:spPr>
          <a:xfrm>
            <a:off x="6739128" y="8138160"/>
            <a:ext cx="4709160" cy="457200"/>
          </a:xfrm>
          <a:prstGeom prst="rect">
            <a:avLst/>
          </a:prstGeom>
          <a:noFill/>
          <a:ln/>
        </p:spPr>
        <p:txBody>
          <a:bodyPr wrap="square" lIns="0" tIns="0" rIns="0" bIns="0" rtlCol="0" anchor="t"/>
          <a:lstStyle/>
          <a:p>
            <a:pPr indent="0" marL="0">
              <a:lnSpc>
                <a:spcPct val="112000"/>
              </a:lnSpc>
              <a:buNone/>
            </a:pPr>
            <a:r>
              <a:rPr lang="en-US" sz="1300" dirty="0">
                <a:solidFill>
                  <a:srgbClr val="616161"/>
                </a:solidFill>
                <a:latin typeface="Arial"/>
                <a:ea typeface="Arial"/>
                <a:cs typeface="Arial"/>
              </a:rPr>
              <a:t>Same control-probe assertion. Each process pays first-touch model initialization, so this reaches the cold path.</a:t>
            </a:r>
            <a:endParaRPr lang="en-US" sz="1300" dirty="0"/>
          </a:p>
        </p:txBody>
      </p:sp>
      <p:sp>
        <p:nvSpPr>
          <p:cNvPr id="57" name="Shape 55"/>
          <p:cNvSpPr/>
          <p:nvPr/>
        </p:nvSpPr>
        <p:spPr>
          <a:xfrm>
            <a:off x="12152376" y="7086600"/>
            <a:ext cx="5349240" cy="1783080"/>
          </a:xfrm>
          <a:prstGeom prst="roundRect">
            <a:avLst>
              <a:gd name="adj" fmla="val 6154"/>
            </a:avLst>
          </a:prstGeom>
          <a:solidFill>
            <a:srgbClr val="FFFFFF"/>
          </a:solidFill>
          <a:ln w="12700">
            <a:solidFill>
              <a:srgbClr val="D9D9DD"/>
            </a:solidFill>
            <a:prstDash val="solid"/>
          </a:ln>
        </p:spPr>
      </p:sp>
      <p:sp>
        <p:nvSpPr>
          <p:cNvPr id="58" name="Text 56"/>
          <p:cNvSpPr txBox="1"/>
          <p:nvPr/>
        </p:nvSpPr>
        <p:spPr>
          <a:xfrm>
            <a:off x="12472416" y="7342632"/>
            <a:ext cx="470916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COVERAGE AND ITS LIMITS</a:t>
            </a:r>
            <a:endParaRPr lang="en-US" sz="1100" dirty="0"/>
          </a:p>
        </p:txBody>
      </p:sp>
      <p:sp>
        <p:nvSpPr>
          <p:cNvPr id="59" name="Text 57"/>
          <p:cNvSpPr txBox="1"/>
          <p:nvPr/>
        </p:nvSpPr>
        <p:spPr>
          <a:xfrm>
            <a:off x="12472416" y="7690104"/>
            <a:ext cx="4709160" cy="457200"/>
          </a:xfrm>
          <a:prstGeom prst="rect">
            <a:avLst/>
          </a:prstGeom>
          <a:noFill/>
          <a:ln/>
        </p:spPr>
        <p:txBody>
          <a:bodyPr wrap="square" lIns="0" tIns="0" rIns="0" bIns="0" rtlCol="0" anchor="t"/>
          <a:lstStyle/>
          <a:p>
            <a:pPr indent="0" marL="0">
              <a:buNone/>
            </a:pPr>
            <a:r>
              <a:rPr lang="en-US" sz="2000" spc="-100" kern="0" dirty="0">
                <a:solidFill>
                  <a:srgbClr val="17171C"/>
                </a:solidFill>
                <a:latin typeface="Arial"/>
                <a:ea typeface="Arial"/>
                <a:cs typeface="Arial"/>
              </a:rPr>
              <a:t>3 of 4 fault classes</a:t>
            </a:r>
            <a:endParaRPr lang="en-US" sz="2000" dirty="0"/>
          </a:p>
        </p:txBody>
      </p:sp>
      <p:sp>
        <p:nvSpPr>
          <p:cNvPr id="60" name="Text 58"/>
          <p:cNvSpPr txBox="1"/>
          <p:nvPr/>
        </p:nvSpPr>
        <p:spPr>
          <a:xfrm>
            <a:off x="12472416" y="8138160"/>
            <a:ext cx="4709160" cy="457200"/>
          </a:xfrm>
          <a:prstGeom prst="rect">
            <a:avLst/>
          </a:prstGeom>
          <a:noFill/>
          <a:ln/>
        </p:spPr>
        <p:txBody>
          <a:bodyPr wrap="square" lIns="0" tIns="0" rIns="0" bIns="0" rtlCol="0" anchor="t"/>
          <a:lstStyle/>
          <a:p>
            <a:pPr indent="0" marL="0">
              <a:lnSpc>
                <a:spcPct val="112000"/>
              </a:lnSpc>
              <a:buNone/>
            </a:pPr>
            <a:r>
              <a:rPr lang="en-US" sz="1300" dirty="0">
                <a:solidFill>
                  <a:srgbClr val="616161"/>
                </a:solidFill>
                <a:latin typeface="Arial"/>
                <a:ea typeface="Arial"/>
                <a:cs typeface="Arial"/>
              </a:rPr>
              <a:t>cost has no live carrier, so its modes are untested rather than met. tier1 has no fail-open side to contrast.</a:t>
            </a:r>
            <a:endParaRPr lang="en-US" sz="1300" dirty="0"/>
          </a:p>
        </p:txBody>
      </p:sp>
      <p:sp>
        <p:nvSpPr>
          <p:cNvPr id="61" name="Text 59"/>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Source: reports/latency_report.md, reports/fault_injection_report.md, docs/09 §Verification</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Courier New"/>
                <a:ea typeface="Courier New"/>
                <a:cs typeface="Courier New"/>
              </a:rPr>
              <a:t>[B-05] [B-07]</a:t>
            </a:r>
            <a:endParaRPr lang="en-US" sz="1200" dirty="0"/>
          </a:p>
        </p:txBody>
      </p:sp>
      <p:sp>
        <p:nvSpPr>
          <p:cNvPr id="62" name="Text 60"/>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63" name="Text 61"/>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18</a:t>
            </a:r>
            <a:endParaRPr lang="en-US" sz="10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03 · EVIDENCE AND SCOPE</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Why we lead with the numbers that look worst.</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An oversight product that cannot be honest about its own blind spots is not oversight. It is marketing with a latency budget.</a:t>
            </a:r>
            <a:endParaRPr lang="en-US" sz="2000" dirty="0"/>
          </a:p>
        </p:txBody>
      </p:sp>
      <p:sp>
        <p:nvSpPr>
          <p:cNvPr id="5" name="Shape 3"/>
          <p:cNvSpPr/>
          <p:nvPr/>
        </p:nvSpPr>
        <p:spPr>
          <a:xfrm>
            <a:off x="685800" y="3291840"/>
            <a:ext cx="8138160" cy="2240280"/>
          </a:xfrm>
          <a:prstGeom prst="roundRect">
            <a:avLst>
              <a:gd name="adj" fmla="val 4898"/>
            </a:avLst>
          </a:prstGeom>
          <a:solidFill>
            <a:srgbClr val="FFFFFF"/>
          </a:solidFill>
          <a:ln w="12700">
            <a:solidFill>
              <a:srgbClr val="D9D9DD"/>
            </a:solidFill>
            <a:prstDash val="solid"/>
          </a:ln>
        </p:spPr>
      </p:sp>
      <p:sp>
        <p:nvSpPr>
          <p:cNvPr id="6" name="Text 4"/>
          <p:cNvSpPr txBox="1"/>
          <p:nvPr/>
        </p:nvSpPr>
        <p:spPr>
          <a:xfrm>
            <a:off x="1005840" y="3895344"/>
            <a:ext cx="7498080" cy="411480"/>
          </a:xfrm>
          <a:prstGeom prst="rect">
            <a:avLst/>
          </a:prstGeom>
          <a:noFill/>
          <a:ln/>
        </p:spPr>
        <p:txBody>
          <a:bodyPr wrap="square" lIns="0" tIns="0" rIns="0" bIns="0" rtlCol="0" anchor="t"/>
          <a:lstStyle/>
          <a:p>
            <a:pPr indent="0" marL="0">
              <a:buNone/>
            </a:pPr>
            <a:r>
              <a:rPr lang="en-US" sz="2200" spc="-100" kern="0" dirty="0">
                <a:solidFill>
                  <a:srgbClr val="17171C"/>
                </a:solidFill>
                <a:latin typeface="Arial"/>
                <a:ea typeface="Arial"/>
                <a:cs typeface="Arial"/>
              </a:rPr>
              <a:t>The end-to-end score fell as coverage rose</a:t>
            </a:r>
            <a:endParaRPr lang="en-US" sz="2200" dirty="0"/>
          </a:p>
        </p:txBody>
      </p:sp>
      <p:sp>
        <p:nvSpPr>
          <p:cNvPr id="7" name="Text 5"/>
          <p:cNvSpPr txBox="1"/>
          <p:nvPr/>
        </p:nvSpPr>
        <p:spPr>
          <a:xfrm>
            <a:off x="1005840" y="4343400"/>
            <a:ext cx="7498080" cy="914400"/>
          </a:xfrm>
          <a:prstGeom prst="rect">
            <a:avLst/>
          </a:prstGeom>
          <a:noFill/>
          <a:ln/>
        </p:spPr>
        <p:txBody>
          <a:bodyPr wrap="square" lIns="0" tIns="0" rIns="0" bIns="0" rtlCol="0" anchor="t"/>
          <a:lstStyle/>
          <a:p>
            <a:pPr indent="0" marL="0">
              <a:lnSpc>
                <a:spcPct val="112000"/>
              </a:lnSpc>
              <a:buNone/>
            </a:pPr>
            <a:r>
              <a:rPr lang="en-US" sz="1500" dirty="0">
                <a:solidFill>
                  <a:srgbClr val="616161"/>
                </a:solidFill>
                <a:latin typeface="Arial"/>
                <a:ea typeface="Arial"/>
                <a:cs typeface="Arial"/>
              </a:rPr>
              <a:t>From 0.981 over 159 cases to 0.825 to 0.851 over 194. The system did not get worse. The measurement got harder, and we report the harder one.</a:t>
            </a:r>
            <a:endParaRPr lang="en-US" sz="1500" dirty="0"/>
          </a:p>
        </p:txBody>
      </p:sp>
      <p:sp>
        <p:nvSpPr>
          <p:cNvPr id="8" name="Shape 6"/>
          <p:cNvSpPr/>
          <p:nvPr/>
        </p:nvSpPr>
        <p:spPr>
          <a:xfrm>
            <a:off x="9235440" y="3291840"/>
            <a:ext cx="8138160" cy="2240280"/>
          </a:xfrm>
          <a:prstGeom prst="roundRect">
            <a:avLst>
              <a:gd name="adj" fmla="val 4898"/>
            </a:avLst>
          </a:prstGeom>
          <a:solidFill>
            <a:srgbClr val="FFFFFF"/>
          </a:solidFill>
          <a:ln w="12700">
            <a:solidFill>
              <a:srgbClr val="D9D9DD"/>
            </a:solidFill>
            <a:prstDash val="solid"/>
          </a:ln>
        </p:spPr>
      </p:sp>
      <p:sp>
        <p:nvSpPr>
          <p:cNvPr id="9" name="Text 7"/>
          <p:cNvSpPr txBox="1"/>
          <p:nvPr/>
        </p:nvSpPr>
        <p:spPr>
          <a:xfrm>
            <a:off x="9555480" y="3895344"/>
            <a:ext cx="7498080" cy="411480"/>
          </a:xfrm>
          <a:prstGeom prst="rect">
            <a:avLst/>
          </a:prstGeom>
          <a:noFill/>
          <a:ln/>
        </p:spPr>
        <p:txBody>
          <a:bodyPr wrap="square" lIns="0" tIns="0" rIns="0" bIns="0" rtlCol="0" anchor="t"/>
          <a:lstStyle/>
          <a:p>
            <a:pPr indent="0" marL="0">
              <a:buNone/>
            </a:pPr>
            <a:r>
              <a:rPr lang="en-US" sz="2200" spc="-100" kern="0" dirty="0">
                <a:solidFill>
                  <a:srgbClr val="17171C"/>
                </a:solidFill>
                <a:latin typeface="Arial"/>
                <a:ea typeface="Arial"/>
                <a:cs typeface="Arial"/>
              </a:rPr>
              <a:t>A perfect score is treated as suspect</a:t>
            </a:r>
            <a:endParaRPr lang="en-US" sz="2200" dirty="0"/>
          </a:p>
        </p:txBody>
      </p:sp>
      <p:sp>
        <p:nvSpPr>
          <p:cNvPr id="10" name="Text 8"/>
          <p:cNvSpPr txBox="1"/>
          <p:nvPr/>
        </p:nvSpPr>
        <p:spPr>
          <a:xfrm>
            <a:off x="9555480" y="4343400"/>
            <a:ext cx="7498080" cy="914400"/>
          </a:xfrm>
          <a:prstGeom prst="rect">
            <a:avLst/>
          </a:prstGeom>
          <a:noFill/>
          <a:ln/>
        </p:spPr>
        <p:txBody>
          <a:bodyPr wrap="square" lIns="0" tIns="0" rIns="0" bIns="0" rtlCol="0" anchor="t"/>
          <a:lstStyle/>
          <a:p>
            <a:pPr indent="0" marL="0">
              <a:lnSpc>
                <a:spcPct val="112000"/>
              </a:lnSpc>
              <a:buNone/>
            </a:pPr>
            <a:r>
              <a:rPr lang="en-US" sz="1500" dirty="0">
                <a:solidFill>
                  <a:srgbClr val="616161"/>
                </a:solidFill>
                <a:latin typeface="Arial"/>
                <a:ea typeface="Arial"/>
                <a:cs typeface="Arial"/>
              </a:rPr>
              <a:t>The 1.000 conformance figure is falsified rather than trusted: five defect classes are injected one at a time and the matrix is required to disagree with each.</a:t>
            </a:r>
            <a:endParaRPr lang="en-US" sz="1500" dirty="0"/>
          </a:p>
        </p:txBody>
      </p:sp>
      <p:sp>
        <p:nvSpPr>
          <p:cNvPr id="11" name="Shape 9"/>
          <p:cNvSpPr/>
          <p:nvPr/>
        </p:nvSpPr>
        <p:spPr>
          <a:xfrm>
            <a:off x="685800" y="5806440"/>
            <a:ext cx="8138160" cy="2240280"/>
          </a:xfrm>
          <a:prstGeom prst="roundRect">
            <a:avLst>
              <a:gd name="adj" fmla="val 4898"/>
            </a:avLst>
          </a:prstGeom>
          <a:solidFill>
            <a:srgbClr val="FFFFFF"/>
          </a:solidFill>
          <a:ln w="12700">
            <a:solidFill>
              <a:srgbClr val="D9D9DD"/>
            </a:solidFill>
            <a:prstDash val="solid"/>
          </a:ln>
        </p:spPr>
      </p:sp>
      <p:sp>
        <p:nvSpPr>
          <p:cNvPr id="12" name="Text 10"/>
          <p:cNvSpPr txBox="1"/>
          <p:nvPr/>
        </p:nvSpPr>
        <p:spPr>
          <a:xfrm>
            <a:off x="1005840" y="6409944"/>
            <a:ext cx="7498080" cy="411480"/>
          </a:xfrm>
          <a:prstGeom prst="rect">
            <a:avLst/>
          </a:prstGeom>
          <a:noFill/>
          <a:ln/>
        </p:spPr>
        <p:txBody>
          <a:bodyPr wrap="square" lIns="0" tIns="0" rIns="0" bIns="0" rtlCol="0" anchor="t"/>
          <a:lstStyle/>
          <a:p>
            <a:pPr indent="0" marL="0">
              <a:buNone/>
            </a:pPr>
            <a:r>
              <a:rPr lang="en-US" sz="2200" spc="-100" kern="0" dirty="0">
                <a:solidFill>
                  <a:srgbClr val="17171C"/>
                </a:solidFill>
                <a:latin typeface="Arial"/>
                <a:ea typeface="Arial"/>
                <a:cs typeface="Arial"/>
              </a:rPr>
              <a:t>A missed target stays missed</a:t>
            </a:r>
            <a:endParaRPr lang="en-US" sz="2200" dirty="0"/>
          </a:p>
        </p:txBody>
      </p:sp>
      <p:sp>
        <p:nvSpPr>
          <p:cNvPr id="13" name="Text 11"/>
          <p:cNvSpPr txBox="1"/>
          <p:nvPr/>
        </p:nvSpPr>
        <p:spPr>
          <a:xfrm>
            <a:off x="1005840" y="6858000"/>
            <a:ext cx="7498080" cy="914400"/>
          </a:xfrm>
          <a:prstGeom prst="rect">
            <a:avLst/>
          </a:prstGeom>
          <a:noFill/>
          <a:ln/>
        </p:spPr>
        <p:txBody>
          <a:bodyPr wrap="square" lIns="0" tIns="0" rIns="0" bIns="0" rtlCol="0" anchor="t"/>
          <a:lstStyle/>
          <a:p>
            <a:pPr indent="0" marL="0">
              <a:lnSpc>
                <a:spcPct val="112000"/>
              </a:lnSpc>
              <a:buNone/>
            </a:pPr>
            <a:r>
              <a:rPr lang="en-US" sz="1500" dirty="0">
                <a:solidFill>
                  <a:srgbClr val="616161"/>
                </a:solidFill>
                <a:latin typeface="Arial"/>
                <a:ea typeface="Arial"/>
                <a:cs typeface="Arial"/>
              </a:rPr>
              <a:t>Tier-1 PII recall is 0.885 against a 0.95 target. The target was not moved, the patterns were re-derived from published sources, and the residual misses are named.</a:t>
            </a:r>
            <a:endParaRPr lang="en-US" sz="1500" dirty="0"/>
          </a:p>
        </p:txBody>
      </p:sp>
      <p:sp>
        <p:nvSpPr>
          <p:cNvPr id="14" name="Shape 12"/>
          <p:cNvSpPr/>
          <p:nvPr/>
        </p:nvSpPr>
        <p:spPr>
          <a:xfrm>
            <a:off x="9235440" y="5806440"/>
            <a:ext cx="8138160" cy="2240280"/>
          </a:xfrm>
          <a:prstGeom prst="roundRect">
            <a:avLst>
              <a:gd name="adj" fmla="val 4898"/>
            </a:avLst>
          </a:prstGeom>
          <a:solidFill>
            <a:srgbClr val="FFFFFF"/>
          </a:solidFill>
          <a:ln w="12700">
            <a:solidFill>
              <a:srgbClr val="D9D9DD"/>
            </a:solidFill>
            <a:prstDash val="solid"/>
          </a:ln>
        </p:spPr>
      </p:sp>
      <p:sp>
        <p:nvSpPr>
          <p:cNvPr id="15" name="Text 13"/>
          <p:cNvSpPr txBox="1"/>
          <p:nvPr/>
        </p:nvSpPr>
        <p:spPr>
          <a:xfrm>
            <a:off x="9555480" y="6409944"/>
            <a:ext cx="7498080" cy="411480"/>
          </a:xfrm>
          <a:prstGeom prst="rect">
            <a:avLst/>
          </a:prstGeom>
          <a:noFill/>
          <a:ln/>
        </p:spPr>
        <p:txBody>
          <a:bodyPr wrap="square" lIns="0" tIns="0" rIns="0" bIns="0" rtlCol="0" anchor="t"/>
          <a:lstStyle/>
          <a:p>
            <a:pPr indent="0" marL="0">
              <a:buNone/>
            </a:pPr>
            <a:r>
              <a:rPr lang="en-US" sz="2200" spc="-100" kern="0" dirty="0">
                <a:solidFill>
                  <a:srgbClr val="17171C"/>
                </a:solidFill>
                <a:latin typeface="Arial"/>
                <a:ea typeface="Arial"/>
                <a:cs typeface="Arial"/>
              </a:rPr>
              <a:t>A breach is published as a breach</a:t>
            </a:r>
            <a:endParaRPr lang="en-US" sz="2200" dirty="0"/>
          </a:p>
        </p:txBody>
      </p:sp>
      <p:sp>
        <p:nvSpPr>
          <p:cNvPr id="16" name="Text 14"/>
          <p:cNvSpPr txBox="1"/>
          <p:nvPr/>
        </p:nvSpPr>
        <p:spPr>
          <a:xfrm>
            <a:off x="9555480" y="6858000"/>
            <a:ext cx="7498080" cy="914400"/>
          </a:xfrm>
          <a:prstGeom prst="rect">
            <a:avLst/>
          </a:prstGeom>
          <a:noFill/>
          <a:ln/>
        </p:spPr>
        <p:txBody>
          <a:bodyPr wrap="square" lIns="0" tIns="0" rIns="0" bIns="0" rtlCol="0" anchor="t"/>
          <a:lstStyle/>
          <a:p>
            <a:pPr indent="0" marL="0">
              <a:lnSpc>
                <a:spcPct val="112000"/>
              </a:lnSpc>
              <a:buNone/>
            </a:pPr>
            <a:r>
              <a:rPr lang="en-US" sz="1500" dirty="0">
                <a:solidFill>
                  <a:srgbClr val="616161"/>
                </a:solidFill>
                <a:latin typeface="Arial"/>
                <a:ea typeface="Arial"/>
                <a:cs typeface="Arial"/>
              </a:rPr>
              <a:t>The injection detector exceeds its 25 ms budget at P99. The budget stands, the figure is printed, and the mitigation is described rather than assumed.</a:t>
            </a:r>
            <a:endParaRPr lang="en-US" sz="1500" dirty="0"/>
          </a:p>
        </p:txBody>
      </p:sp>
      <p:sp>
        <p:nvSpPr>
          <p:cNvPr id="17" name="Shape 15"/>
          <p:cNvSpPr/>
          <p:nvPr/>
        </p:nvSpPr>
        <p:spPr>
          <a:xfrm>
            <a:off x="685800" y="8458200"/>
            <a:ext cx="16916400" cy="0"/>
          </a:xfrm>
          <a:prstGeom prst="line">
            <a:avLst/>
          </a:prstGeom>
          <a:noFill/>
          <a:ln w="9525">
            <a:solidFill>
              <a:srgbClr val="D9D9DD"/>
            </a:solidFill>
            <a:prstDash val="solid"/>
          </a:ln>
        </p:spPr>
      </p:sp>
      <p:sp>
        <p:nvSpPr>
          <p:cNvPr id="18" name="Text 16"/>
          <p:cNvSpPr txBox="1"/>
          <p:nvPr/>
        </p:nvSpPr>
        <p:spPr>
          <a:xfrm>
            <a:off x="685800" y="8641080"/>
            <a:ext cx="15544800" cy="411480"/>
          </a:xfrm>
          <a:prstGeom prst="rect">
            <a:avLst/>
          </a:prstGeom>
          <a:noFill/>
          <a:ln/>
        </p:spPr>
        <p:txBody>
          <a:bodyPr wrap="square" lIns="0" tIns="0" rIns="0" bIns="0" rtlCol="0" anchor="ctr"/>
          <a:lstStyle/>
          <a:p>
            <a:pPr indent="0" marL="0">
              <a:buNone/>
            </a:pPr>
            <a:r>
              <a:rPr lang="en-US" sz="1800" spc="-50" kern="0" dirty="0">
                <a:solidFill>
                  <a:srgbClr val="17171C"/>
                </a:solidFill>
                <a:latin typeface="Arial"/>
                <a:ea typeface="Arial"/>
                <a:cs typeface="Arial"/>
              </a:rPr>
              <a:t>Every figure in this deck is reproducible by a command in the repository.</a:t>
            </a:r>
            <a:endParaRPr lang="en-US" sz="1800" dirty="0"/>
          </a:p>
        </p:txBody>
      </p:sp>
      <p:sp>
        <p:nvSpPr>
          <p:cNvPr id="19" name="Text 17"/>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Source: AGENTS.md §7, docs/06-evaluation-plan.md</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Arial"/>
                <a:ea typeface="Arial"/>
                <a:cs typeface="Arial"/>
              </a:rPr>
              <a:t>docs/08-open-questions.md ledger</a:t>
            </a:r>
            <a:endParaRPr lang="en-US" sz="1200" dirty="0"/>
          </a:p>
        </p:txBody>
      </p:sp>
      <p:sp>
        <p:nvSpPr>
          <p:cNvPr id="20" name="Text 18"/>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21" name="Text 19"/>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19</a:t>
            </a:r>
            <a:endParaRPr lang="en-US" sz="10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7171C"/>
        </a:solidFill>
      </p:bgPr>
    </p:bg>
    <p:spTree>
      <p:nvGrpSpPr>
        <p:cNvPr id="1" name=""/>
        <p:cNvGrpSpPr/>
        <p:nvPr/>
      </p:nvGrpSpPr>
      <p:grpSpPr/>
      <p:sp>
        <p:nvSpPr>
          <p:cNvPr id="2" name="Text 0"/>
          <p:cNvSpPr txBox="1"/>
          <p:nvPr/>
        </p:nvSpPr>
        <p:spPr>
          <a:xfrm>
            <a:off x="685800" y="5669280"/>
            <a:ext cx="10972800" cy="320040"/>
          </a:xfrm>
          <a:prstGeom prst="rect">
            <a:avLst/>
          </a:prstGeom>
          <a:noFill/>
          <a:ln/>
        </p:spPr>
        <p:txBody>
          <a:bodyPr wrap="square" lIns="0" tIns="0" rIns="0" bIns="0" rtlCol="0" anchor="ctr"/>
          <a:lstStyle/>
          <a:p>
            <a:pPr indent="0" marL="0">
              <a:buNone/>
            </a:pPr>
            <a:r>
              <a:rPr lang="en-US" sz="1200" b="1" spc="150" kern="0" dirty="0">
                <a:solidFill>
                  <a:srgbClr val="C77DFF"/>
                </a:solidFill>
                <a:latin typeface="Courier New"/>
                <a:ea typeface="Courier New"/>
                <a:cs typeface="Courier New"/>
              </a:rPr>
              <a:t>04  ·  MARKET AND BUSINESS</a:t>
            </a:r>
            <a:endParaRPr lang="en-US" sz="1200" dirty="0"/>
          </a:p>
        </p:txBody>
      </p:sp>
      <p:sp>
        <p:nvSpPr>
          <p:cNvPr id="3" name="Text 1"/>
          <p:cNvSpPr txBox="1"/>
          <p:nvPr/>
        </p:nvSpPr>
        <p:spPr>
          <a:xfrm>
            <a:off x="685800" y="6126480"/>
            <a:ext cx="14630400" cy="2103120"/>
          </a:xfrm>
          <a:prstGeom prst="rect">
            <a:avLst/>
          </a:prstGeom>
          <a:noFill/>
          <a:ln/>
        </p:spPr>
        <p:txBody>
          <a:bodyPr wrap="square" lIns="0" tIns="0" rIns="0" bIns="0" rtlCol="0" anchor="t"/>
          <a:lstStyle/>
          <a:p>
            <a:pPr indent="0" marL="0">
              <a:lnSpc>
                <a:spcPct val="100000"/>
              </a:lnSpc>
              <a:buNone/>
            </a:pPr>
            <a:r>
              <a:rPr lang="en-US" sz="6000" spc="-200" kern="0" dirty="0">
                <a:solidFill>
                  <a:srgbClr val="FFFFFF"/>
                </a:solidFill>
                <a:latin typeface="Arial"/>
                <a:ea typeface="Arial"/>
                <a:cs typeface="Arial"/>
              </a:rPr>
              <a:t>A category forming now,</a:t>
            </a:r>
            <a:endParaRPr lang="en-US" sz="6000" dirty="0"/>
          </a:p>
          <a:p>
            <a:pPr indent="0" marL="0">
              <a:lnSpc>
                <a:spcPct val="100000"/>
              </a:lnSpc>
              <a:buNone/>
            </a:pPr>
            <a:r>
              <a:rPr lang="en-US" sz="6000" spc="-200" kern="0" dirty="0">
                <a:solidFill>
                  <a:srgbClr val="FFFFFF"/>
                </a:solidFill>
                <a:latin typeface="Arial"/>
                <a:ea typeface="Arial"/>
                <a:cs typeface="Arial"/>
              </a:rPr>
              <a:t>sized two very different ways.</a:t>
            </a:r>
            <a:endParaRPr lang="en-US" sz="6000" dirty="0"/>
          </a:p>
        </p:txBody>
      </p:sp>
      <p:sp>
        <p:nvSpPr>
          <p:cNvPr id="4" name="Text 2"/>
          <p:cNvSpPr txBox="1"/>
          <p:nvPr/>
        </p:nvSpPr>
        <p:spPr>
          <a:xfrm>
            <a:off x="685800" y="8321040"/>
            <a:ext cx="13716000" cy="548640"/>
          </a:xfrm>
          <a:prstGeom prst="rect">
            <a:avLst/>
          </a:prstGeom>
          <a:noFill/>
          <a:ln/>
        </p:spPr>
        <p:txBody>
          <a:bodyPr wrap="square" lIns="0" tIns="0" rIns="0" bIns="0" rtlCol="0" anchor="ctr"/>
          <a:lstStyle/>
          <a:p>
            <a:pPr indent="0" marL="0">
              <a:buNone/>
            </a:pPr>
            <a:r>
              <a:rPr lang="en-US" sz="2000" dirty="0">
                <a:solidFill>
                  <a:srgbClr val="B9B9C2"/>
                </a:solidFill>
                <a:latin typeface="Arial"/>
                <a:ea typeface="Arial"/>
                <a:cs typeface="Arial"/>
              </a:rPr>
              <a:t>We quote both analyst estimates and explain the 4.08× gap rather than picking the flattering one.</a:t>
            </a:r>
            <a:endParaRPr lang="en-US" sz="2000" dirty="0"/>
          </a:p>
        </p:txBody>
      </p:sp>
      <p:sp>
        <p:nvSpPr>
          <p:cNvPr id="5" name="Text 3"/>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B9B9C2"/>
                </a:solidFill>
                <a:latin typeface="Arial"/>
                <a:ea typeface="Arial"/>
                <a:cs typeface="Arial"/>
              </a:rPr>
              <a:t>Copyright © 2026 Accenture. All rights reserved.</a:t>
            </a:r>
            <a:endParaRPr lang="en-US" sz="1000" dirty="0"/>
          </a:p>
        </p:txBody>
      </p:sp>
      <p:sp>
        <p:nvSpPr>
          <p:cNvPr id="6" name="Text 4"/>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B9B9C2"/>
                </a:solidFill>
                <a:latin typeface="Arial"/>
                <a:ea typeface="Arial"/>
                <a:cs typeface="Arial"/>
              </a:rPr>
              <a:t>20</a:t>
            </a:r>
            <a:endParaRPr lang="en-US" sz="1000"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04 · MARKET AND BUSINESS</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Two analyst estimates, and why they differ.</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The divergence is definitional, not a disagreement about growth. Quoting only the larger number would be the easy mistake.</a:t>
            </a:r>
            <a:endParaRPr lang="en-US" sz="2000" dirty="0"/>
          </a:p>
        </p:txBody>
      </p:sp>
      <p:sp>
        <p:nvSpPr>
          <p:cNvPr id="5" name="Text 3"/>
          <p:cNvSpPr txBox="1"/>
          <p:nvPr/>
        </p:nvSpPr>
        <p:spPr>
          <a:xfrm>
            <a:off x="685800" y="3200400"/>
            <a:ext cx="457200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SOURCE</a:t>
            </a:r>
            <a:endParaRPr lang="en-US" sz="1100" dirty="0"/>
          </a:p>
        </p:txBody>
      </p:sp>
      <p:sp>
        <p:nvSpPr>
          <p:cNvPr id="6" name="Text 4"/>
          <p:cNvSpPr txBox="1"/>
          <p:nvPr/>
        </p:nvSpPr>
        <p:spPr>
          <a:xfrm>
            <a:off x="5257800" y="3200400"/>
            <a:ext cx="2651760" cy="320040"/>
          </a:xfrm>
          <a:prstGeom prst="rect">
            <a:avLst/>
          </a:prstGeom>
          <a:noFill/>
          <a:ln/>
        </p:spPr>
        <p:txBody>
          <a:bodyPr wrap="square" lIns="0" tIns="0" rIns="0" bIns="0" rtlCol="0" anchor="ctr"/>
          <a:lstStyle/>
          <a:p>
            <a:pPr algn="r" indent="0" marL="0">
              <a:buNone/>
            </a:pPr>
            <a:r>
              <a:rPr lang="en-US" sz="1100" b="1" spc="150" kern="0" dirty="0">
                <a:solidFill>
                  <a:srgbClr val="75758A"/>
                </a:solidFill>
                <a:latin typeface="Courier New"/>
                <a:ea typeface="Courier New"/>
                <a:cs typeface="Courier New"/>
              </a:rPr>
              <a:t>BASE</a:t>
            </a:r>
            <a:endParaRPr lang="en-US" sz="1100" dirty="0"/>
          </a:p>
        </p:txBody>
      </p:sp>
      <p:sp>
        <p:nvSpPr>
          <p:cNvPr id="7" name="Text 5"/>
          <p:cNvSpPr txBox="1"/>
          <p:nvPr/>
        </p:nvSpPr>
        <p:spPr>
          <a:xfrm>
            <a:off x="7909560" y="3200400"/>
            <a:ext cx="2743200" cy="320040"/>
          </a:xfrm>
          <a:prstGeom prst="rect">
            <a:avLst/>
          </a:prstGeom>
          <a:noFill/>
          <a:ln/>
        </p:spPr>
        <p:txBody>
          <a:bodyPr wrap="square" lIns="0" tIns="0" rIns="0" bIns="0" rtlCol="0" anchor="ctr"/>
          <a:lstStyle/>
          <a:p>
            <a:pPr algn="r" indent="0" marL="0">
              <a:buNone/>
            </a:pPr>
            <a:r>
              <a:rPr lang="en-US" sz="1100" b="1" spc="150" kern="0" dirty="0">
                <a:solidFill>
                  <a:srgbClr val="75758A"/>
                </a:solidFill>
                <a:latin typeface="Courier New"/>
                <a:ea typeface="Courier New"/>
                <a:cs typeface="Courier New"/>
              </a:rPr>
              <a:t>FORECAST</a:t>
            </a:r>
            <a:endParaRPr lang="en-US" sz="1100" dirty="0"/>
          </a:p>
        </p:txBody>
      </p:sp>
      <p:sp>
        <p:nvSpPr>
          <p:cNvPr id="8" name="Text 6"/>
          <p:cNvSpPr txBox="1"/>
          <p:nvPr/>
        </p:nvSpPr>
        <p:spPr>
          <a:xfrm>
            <a:off x="10652760" y="3200400"/>
            <a:ext cx="1828800" cy="320040"/>
          </a:xfrm>
          <a:prstGeom prst="rect">
            <a:avLst/>
          </a:prstGeom>
          <a:noFill/>
          <a:ln/>
        </p:spPr>
        <p:txBody>
          <a:bodyPr wrap="square" lIns="0" tIns="0" rIns="0" bIns="0" rtlCol="0" anchor="ctr"/>
          <a:lstStyle/>
          <a:p>
            <a:pPr algn="r" indent="0" marL="0">
              <a:buNone/>
            </a:pPr>
            <a:r>
              <a:rPr lang="en-US" sz="1100" b="1" spc="150" kern="0" dirty="0">
                <a:solidFill>
                  <a:srgbClr val="75758A"/>
                </a:solidFill>
                <a:latin typeface="Courier New"/>
                <a:ea typeface="Courier New"/>
                <a:cs typeface="Courier New"/>
              </a:rPr>
              <a:t>CAGR</a:t>
            </a:r>
            <a:endParaRPr lang="en-US" sz="1100" dirty="0"/>
          </a:p>
        </p:txBody>
      </p:sp>
      <p:sp>
        <p:nvSpPr>
          <p:cNvPr id="9" name="Text 7"/>
          <p:cNvSpPr txBox="1"/>
          <p:nvPr/>
        </p:nvSpPr>
        <p:spPr>
          <a:xfrm>
            <a:off x="12801600" y="3200400"/>
            <a:ext cx="480060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WHAT THE SCOPE INCLUDES</a:t>
            </a:r>
            <a:endParaRPr lang="en-US" sz="1100" dirty="0"/>
          </a:p>
        </p:txBody>
      </p:sp>
      <p:sp>
        <p:nvSpPr>
          <p:cNvPr id="10" name="Shape 8"/>
          <p:cNvSpPr/>
          <p:nvPr/>
        </p:nvSpPr>
        <p:spPr>
          <a:xfrm>
            <a:off x="685800" y="3547872"/>
            <a:ext cx="16916400" cy="0"/>
          </a:xfrm>
          <a:prstGeom prst="line">
            <a:avLst/>
          </a:prstGeom>
          <a:noFill/>
          <a:ln w="9525">
            <a:solidFill>
              <a:srgbClr val="17171C"/>
            </a:solidFill>
            <a:prstDash val="solid"/>
          </a:ln>
        </p:spPr>
      </p:sp>
      <p:sp>
        <p:nvSpPr>
          <p:cNvPr id="11" name="Text 9"/>
          <p:cNvSpPr txBox="1"/>
          <p:nvPr/>
        </p:nvSpPr>
        <p:spPr>
          <a:xfrm>
            <a:off x="685800" y="3611880"/>
            <a:ext cx="4572000" cy="566928"/>
          </a:xfrm>
          <a:prstGeom prst="rect">
            <a:avLst/>
          </a:prstGeom>
          <a:noFill/>
          <a:ln/>
        </p:spPr>
        <p:txBody>
          <a:bodyPr wrap="square" lIns="0" tIns="0" rIns="0" bIns="0" rtlCol="0" anchor="ctr"/>
          <a:lstStyle/>
          <a:p>
            <a:pPr algn="l" indent="0" marL="0">
              <a:buNone/>
            </a:pPr>
            <a:r>
              <a:rPr lang="en-US" sz="1500" dirty="0">
                <a:solidFill>
                  <a:srgbClr val="212121"/>
                </a:solidFill>
                <a:latin typeface="Arial"/>
                <a:ea typeface="Arial"/>
                <a:cs typeface="Arial"/>
              </a:rPr>
              <a:t>MarketsandMarkets</a:t>
            </a:r>
            <a:endParaRPr lang="en-US" sz="1500" dirty="0"/>
          </a:p>
        </p:txBody>
      </p:sp>
      <p:sp>
        <p:nvSpPr>
          <p:cNvPr id="12" name="Text 10"/>
          <p:cNvSpPr txBox="1"/>
          <p:nvPr/>
        </p:nvSpPr>
        <p:spPr>
          <a:xfrm>
            <a:off x="5257800" y="3611880"/>
            <a:ext cx="2651760" cy="566928"/>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$0.89B (2024)</a:t>
            </a:r>
            <a:endParaRPr lang="en-US" sz="1400" dirty="0"/>
          </a:p>
        </p:txBody>
      </p:sp>
      <p:sp>
        <p:nvSpPr>
          <p:cNvPr id="13" name="Text 11"/>
          <p:cNvSpPr txBox="1"/>
          <p:nvPr/>
        </p:nvSpPr>
        <p:spPr>
          <a:xfrm>
            <a:off x="7909560" y="3611880"/>
            <a:ext cx="2743200" cy="566928"/>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$5.78B (2029)</a:t>
            </a:r>
            <a:endParaRPr lang="en-US" sz="1400" dirty="0"/>
          </a:p>
        </p:txBody>
      </p:sp>
      <p:sp>
        <p:nvSpPr>
          <p:cNvPr id="14" name="Text 12"/>
          <p:cNvSpPr txBox="1"/>
          <p:nvPr/>
        </p:nvSpPr>
        <p:spPr>
          <a:xfrm>
            <a:off x="10652760" y="3611880"/>
            <a:ext cx="1828800" cy="566928"/>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45.3%</a:t>
            </a:r>
            <a:endParaRPr lang="en-US" sz="1400" dirty="0"/>
          </a:p>
        </p:txBody>
      </p:sp>
      <p:sp>
        <p:nvSpPr>
          <p:cNvPr id="15" name="Text 13"/>
          <p:cNvSpPr txBox="1"/>
          <p:nvPr/>
        </p:nvSpPr>
        <p:spPr>
          <a:xfrm>
            <a:off x="12801600" y="3611880"/>
            <a:ext cx="480060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Broad: absorbs MLOps, LLMOps and privacy software</a:t>
            </a:r>
            <a:endParaRPr lang="en-US" sz="1400" dirty="0"/>
          </a:p>
        </p:txBody>
      </p:sp>
      <p:sp>
        <p:nvSpPr>
          <p:cNvPr id="16" name="Shape 14"/>
          <p:cNvSpPr/>
          <p:nvPr/>
        </p:nvSpPr>
        <p:spPr>
          <a:xfrm>
            <a:off x="685800" y="4178808"/>
            <a:ext cx="16916400" cy="0"/>
          </a:xfrm>
          <a:prstGeom prst="line">
            <a:avLst/>
          </a:prstGeom>
          <a:noFill/>
          <a:ln w="9525">
            <a:solidFill>
              <a:srgbClr val="D9D9DD"/>
            </a:solidFill>
            <a:prstDash val="solid"/>
          </a:ln>
        </p:spPr>
      </p:sp>
      <p:sp>
        <p:nvSpPr>
          <p:cNvPr id="17" name="Text 15"/>
          <p:cNvSpPr txBox="1"/>
          <p:nvPr/>
        </p:nvSpPr>
        <p:spPr>
          <a:xfrm>
            <a:off x="685800" y="4178808"/>
            <a:ext cx="4572000" cy="566928"/>
          </a:xfrm>
          <a:prstGeom prst="rect">
            <a:avLst/>
          </a:prstGeom>
          <a:noFill/>
          <a:ln/>
        </p:spPr>
        <p:txBody>
          <a:bodyPr wrap="square" lIns="0" tIns="0" rIns="0" bIns="0" rtlCol="0" anchor="ctr"/>
          <a:lstStyle/>
          <a:p>
            <a:pPr algn="l" indent="0" marL="0">
              <a:buNone/>
            </a:pPr>
            <a:r>
              <a:rPr lang="en-US" sz="1500" dirty="0">
                <a:solidFill>
                  <a:srgbClr val="212121"/>
                </a:solidFill>
                <a:latin typeface="Arial"/>
                <a:ea typeface="Arial"/>
                <a:cs typeface="Arial"/>
              </a:rPr>
              <a:t>Grand View Research</a:t>
            </a:r>
            <a:endParaRPr lang="en-US" sz="1500" dirty="0"/>
          </a:p>
        </p:txBody>
      </p:sp>
      <p:sp>
        <p:nvSpPr>
          <p:cNvPr id="18" name="Text 16"/>
          <p:cNvSpPr txBox="1"/>
          <p:nvPr/>
        </p:nvSpPr>
        <p:spPr>
          <a:xfrm>
            <a:off x="5257800" y="4178808"/>
            <a:ext cx="2651760" cy="566928"/>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$0.308B (2025)</a:t>
            </a:r>
            <a:endParaRPr lang="en-US" sz="1400" dirty="0"/>
          </a:p>
        </p:txBody>
      </p:sp>
      <p:sp>
        <p:nvSpPr>
          <p:cNvPr id="19" name="Text 17"/>
          <p:cNvSpPr txBox="1"/>
          <p:nvPr/>
        </p:nvSpPr>
        <p:spPr>
          <a:xfrm>
            <a:off x="7909560" y="4178808"/>
            <a:ext cx="2743200" cy="566928"/>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$1.42B (2030)</a:t>
            </a:r>
            <a:endParaRPr lang="en-US" sz="1400" dirty="0"/>
          </a:p>
        </p:txBody>
      </p:sp>
      <p:sp>
        <p:nvSpPr>
          <p:cNvPr id="20" name="Text 18"/>
          <p:cNvSpPr txBox="1"/>
          <p:nvPr/>
        </p:nvSpPr>
        <p:spPr>
          <a:xfrm>
            <a:off x="10652760" y="4178808"/>
            <a:ext cx="1828800" cy="566928"/>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35.7%</a:t>
            </a:r>
            <a:endParaRPr lang="en-US" sz="1400" dirty="0"/>
          </a:p>
        </p:txBody>
      </p:sp>
      <p:sp>
        <p:nvSpPr>
          <p:cNvPr id="21" name="Text 19"/>
          <p:cNvSpPr txBox="1"/>
          <p:nvPr/>
        </p:nvSpPr>
        <p:spPr>
          <a:xfrm>
            <a:off x="12801600" y="4178808"/>
            <a:ext cx="480060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Narrow: pure-play governance software and third-party auditing</a:t>
            </a:r>
            <a:endParaRPr lang="en-US" sz="1400" dirty="0"/>
          </a:p>
        </p:txBody>
      </p:sp>
      <p:sp>
        <p:nvSpPr>
          <p:cNvPr id="22" name="Shape 20"/>
          <p:cNvSpPr/>
          <p:nvPr/>
        </p:nvSpPr>
        <p:spPr>
          <a:xfrm>
            <a:off x="685800" y="4745736"/>
            <a:ext cx="16916400" cy="0"/>
          </a:xfrm>
          <a:prstGeom prst="line">
            <a:avLst/>
          </a:prstGeom>
          <a:noFill/>
          <a:ln w="9525">
            <a:solidFill>
              <a:srgbClr val="D9D9DD"/>
            </a:solidFill>
            <a:prstDash val="solid"/>
          </a:ln>
        </p:spPr>
      </p:sp>
      <p:sp>
        <p:nvSpPr>
          <p:cNvPr id="23" name="Shape 21"/>
          <p:cNvSpPr/>
          <p:nvPr/>
        </p:nvSpPr>
        <p:spPr>
          <a:xfrm>
            <a:off x="685800" y="5029200"/>
            <a:ext cx="5349240" cy="1920240"/>
          </a:xfrm>
          <a:prstGeom prst="roundRect">
            <a:avLst>
              <a:gd name="adj" fmla="val 5714"/>
            </a:avLst>
          </a:prstGeom>
          <a:solidFill>
            <a:srgbClr val="EEECE7"/>
          </a:solidFill>
          <a:ln w="12700">
            <a:solidFill>
              <a:srgbClr val="EEECE7"/>
            </a:solidFill>
            <a:prstDash val="solid"/>
          </a:ln>
        </p:spPr>
      </p:sp>
      <p:sp>
        <p:nvSpPr>
          <p:cNvPr id="24" name="Text 22"/>
          <p:cNvSpPr txBox="1"/>
          <p:nvPr/>
        </p:nvSpPr>
        <p:spPr>
          <a:xfrm>
            <a:off x="1005840" y="5230368"/>
            <a:ext cx="4709160" cy="777240"/>
          </a:xfrm>
          <a:prstGeom prst="rect">
            <a:avLst/>
          </a:prstGeom>
          <a:noFill/>
          <a:ln/>
        </p:spPr>
        <p:txBody>
          <a:bodyPr wrap="square" lIns="0" tIns="0" rIns="0" bIns="0" rtlCol="0" anchor="t"/>
          <a:lstStyle/>
          <a:p>
            <a:pPr indent="0" marL="0">
              <a:buNone/>
            </a:pPr>
            <a:r>
              <a:rPr lang="en-US" sz="4400" spc="-200" kern="0" dirty="0">
                <a:solidFill>
                  <a:srgbClr val="17171C"/>
                </a:solidFill>
                <a:latin typeface="Arial"/>
                <a:ea typeface="Arial"/>
                <a:cs typeface="Arial"/>
              </a:rPr>
              <a:t>4.08×</a:t>
            </a:r>
            <a:endParaRPr lang="en-US" sz="4400" dirty="0"/>
          </a:p>
        </p:txBody>
      </p:sp>
      <p:sp>
        <p:nvSpPr>
          <p:cNvPr id="25" name="Text 23"/>
          <p:cNvSpPr txBox="1"/>
          <p:nvPr/>
        </p:nvSpPr>
        <p:spPr>
          <a:xfrm>
            <a:off x="1005840" y="5989320"/>
            <a:ext cx="4709160" cy="603504"/>
          </a:xfrm>
          <a:prstGeom prst="rect">
            <a:avLst/>
          </a:prstGeom>
          <a:noFill/>
          <a:ln/>
        </p:spPr>
        <p:txBody>
          <a:bodyPr wrap="square" lIns="0" tIns="0" rIns="0" bIns="0" rtlCol="0" anchor="t"/>
          <a:lstStyle/>
          <a:p>
            <a:pPr indent="0" marL="0">
              <a:buNone/>
            </a:pPr>
            <a:r>
              <a:rPr lang="en-US" sz="1400" dirty="0">
                <a:solidFill>
                  <a:srgbClr val="616161"/>
                </a:solidFill>
                <a:latin typeface="Arial"/>
                <a:ea typeface="Arial"/>
                <a:cs typeface="Arial"/>
              </a:rPr>
              <a:t>the gap between the two estimates, driven by scope rather than growth</a:t>
            </a:r>
            <a:endParaRPr lang="en-US" sz="1400" dirty="0"/>
          </a:p>
        </p:txBody>
      </p:sp>
      <p:sp>
        <p:nvSpPr>
          <p:cNvPr id="26" name="Text 24"/>
          <p:cNvSpPr txBox="1"/>
          <p:nvPr/>
        </p:nvSpPr>
        <p:spPr>
          <a:xfrm>
            <a:off x="1005840" y="6620256"/>
            <a:ext cx="4709160" cy="256032"/>
          </a:xfrm>
          <a:prstGeom prst="rect">
            <a:avLst/>
          </a:prstGeom>
          <a:noFill/>
          <a:ln/>
        </p:spPr>
        <p:txBody>
          <a:bodyPr wrap="square" lIns="0" tIns="0" rIns="0" bIns="0" rtlCol="0" anchor="ctr"/>
          <a:lstStyle/>
          <a:p>
            <a:pPr indent="0" marL="0">
              <a:buNone/>
            </a:pPr>
            <a:r>
              <a:rPr lang="en-US" sz="1100" b="1" spc="150" kern="0" dirty="0">
                <a:solidFill>
                  <a:srgbClr val="93939F"/>
                </a:solidFill>
                <a:latin typeface="Courier New"/>
                <a:ea typeface="Courier New"/>
                <a:cs typeface="Courier New"/>
              </a:rPr>
              <a:t>[M-04]</a:t>
            </a:r>
            <a:endParaRPr lang="en-US" sz="1100" dirty="0"/>
          </a:p>
        </p:txBody>
      </p:sp>
      <p:sp>
        <p:nvSpPr>
          <p:cNvPr id="27" name="Shape 25"/>
          <p:cNvSpPr/>
          <p:nvPr/>
        </p:nvSpPr>
        <p:spPr>
          <a:xfrm>
            <a:off x="6419088" y="5029200"/>
            <a:ext cx="5349240" cy="1920240"/>
          </a:xfrm>
          <a:prstGeom prst="roundRect">
            <a:avLst>
              <a:gd name="adj" fmla="val 5714"/>
            </a:avLst>
          </a:prstGeom>
          <a:solidFill>
            <a:srgbClr val="EEECE7"/>
          </a:solidFill>
          <a:ln w="12700">
            <a:solidFill>
              <a:srgbClr val="EEECE7"/>
            </a:solidFill>
            <a:prstDash val="solid"/>
          </a:ln>
        </p:spPr>
      </p:sp>
      <p:sp>
        <p:nvSpPr>
          <p:cNvPr id="28" name="Text 26"/>
          <p:cNvSpPr txBox="1"/>
          <p:nvPr/>
        </p:nvSpPr>
        <p:spPr>
          <a:xfrm>
            <a:off x="6739128" y="5230368"/>
            <a:ext cx="4709160" cy="777240"/>
          </a:xfrm>
          <a:prstGeom prst="rect">
            <a:avLst/>
          </a:prstGeom>
          <a:noFill/>
          <a:ln/>
        </p:spPr>
        <p:txBody>
          <a:bodyPr wrap="square" lIns="0" tIns="0" rIns="0" bIns="0" rtlCol="0" anchor="t"/>
          <a:lstStyle/>
          <a:p>
            <a:pPr indent="0" marL="0">
              <a:buNone/>
            </a:pPr>
            <a:r>
              <a:rPr lang="en-US" sz="4400" spc="-200" kern="0" dirty="0">
                <a:solidFill>
                  <a:srgbClr val="17171C"/>
                </a:solidFill>
                <a:latin typeface="Arial"/>
                <a:ea typeface="Arial"/>
                <a:cs typeface="Arial"/>
              </a:rPr>
              <a:t>72%</a:t>
            </a:r>
            <a:endParaRPr lang="en-US" sz="4400" dirty="0"/>
          </a:p>
        </p:txBody>
      </p:sp>
      <p:sp>
        <p:nvSpPr>
          <p:cNvPr id="29" name="Text 27"/>
          <p:cNvSpPr txBox="1"/>
          <p:nvPr/>
        </p:nvSpPr>
        <p:spPr>
          <a:xfrm>
            <a:off x="6739128" y="5989320"/>
            <a:ext cx="4709160" cy="603504"/>
          </a:xfrm>
          <a:prstGeom prst="rect">
            <a:avLst/>
          </a:prstGeom>
          <a:noFill/>
          <a:ln/>
        </p:spPr>
        <p:txBody>
          <a:bodyPr wrap="square" lIns="0" tIns="0" rIns="0" bIns="0" rtlCol="0" anchor="t"/>
          <a:lstStyle/>
          <a:p>
            <a:pPr indent="0" marL="0">
              <a:buNone/>
            </a:pPr>
            <a:r>
              <a:rPr lang="en-US" sz="1400" dirty="0">
                <a:solidFill>
                  <a:srgbClr val="616161"/>
                </a:solidFill>
                <a:latin typeface="Arial"/>
                <a:ea typeface="Arial"/>
                <a:cs typeface="Arial"/>
              </a:rPr>
              <a:t>of organisations now use generative AI in at least one business function</a:t>
            </a:r>
            <a:endParaRPr lang="en-US" sz="1400" dirty="0"/>
          </a:p>
        </p:txBody>
      </p:sp>
      <p:sp>
        <p:nvSpPr>
          <p:cNvPr id="30" name="Text 28"/>
          <p:cNvSpPr txBox="1"/>
          <p:nvPr/>
        </p:nvSpPr>
        <p:spPr>
          <a:xfrm>
            <a:off x="6739128" y="6620256"/>
            <a:ext cx="4709160" cy="256032"/>
          </a:xfrm>
          <a:prstGeom prst="rect">
            <a:avLst/>
          </a:prstGeom>
          <a:noFill/>
          <a:ln/>
        </p:spPr>
        <p:txBody>
          <a:bodyPr wrap="square" lIns="0" tIns="0" rIns="0" bIns="0" rtlCol="0" anchor="ctr"/>
          <a:lstStyle/>
          <a:p>
            <a:pPr indent="0" marL="0">
              <a:buNone/>
            </a:pPr>
            <a:r>
              <a:rPr lang="en-US" sz="1100" b="1" spc="150" kern="0" dirty="0">
                <a:solidFill>
                  <a:srgbClr val="93939F"/>
                </a:solidFill>
                <a:latin typeface="Courier New"/>
                <a:ea typeface="Courier New"/>
                <a:cs typeface="Courier New"/>
              </a:rPr>
              <a:t>[M-03]</a:t>
            </a:r>
            <a:endParaRPr lang="en-US" sz="1100" dirty="0"/>
          </a:p>
        </p:txBody>
      </p:sp>
      <p:sp>
        <p:nvSpPr>
          <p:cNvPr id="31" name="Shape 29"/>
          <p:cNvSpPr/>
          <p:nvPr/>
        </p:nvSpPr>
        <p:spPr>
          <a:xfrm>
            <a:off x="12152376" y="5029200"/>
            <a:ext cx="5349240" cy="1920240"/>
          </a:xfrm>
          <a:prstGeom prst="roundRect">
            <a:avLst>
              <a:gd name="adj" fmla="val 5714"/>
            </a:avLst>
          </a:prstGeom>
          <a:solidFill>
            <a:srgbClr val="EEECE7"/>
          </a:solidFill>
          <a:ln w="12700">
            <a:solidFill>
              <a:srgbClr val="EEECE7"/>
            </a:solidFill>
            <a:prstDash val="solid"/>
          </a:ln>
        </p:spPr>
      </p:sp>
      <p:sp>
        <p:nvSpPr>
          <p:cNvPr id="32" name="Text 30"/>
          <p:cNvSpPr txBox="1"/>
          <p:nvPr/>
        </p:nvSpPr>
        <p:spPr>
          <a:xfrm>
            <a:off x="12472416" y="5230368"/>
            <a:ext cx="4709160" cy="777240"/>
          </a:xfrm>
          <a:prstGeom prst="rect">
            <a:avLst/>
          </a:prstGeom>
          <a:noFill/>
          <a:ln/>
        </p:spPr>
        <p:txBody>
          <a:bodyPr wrap="square" lIns="0" tIns="0" rIns="0" bIns="0" rtlCol="0" anchor="t"/>
          <a:lstStyle/>
          <a:p>
            <a:pPr indent="0" marL="0">
              <a:buNone/>
            </a:pPr>
            <a:r>
              <a:rPr lang="en-US" sz="4400" spc="-200" kern="0" dirty="0">
                <a:solidFill>
                  <a:srgbClr val="17171C"/>
                </a:solidFill>
                <a:latin typeface="Arial"/>
                <a:ea typeface="Arial"/>
                <a:cs typeface="Arial"/>
              </a:rPr>
              <a:t>€3.3B</a:t>
            </a:r>
            <a:endParaRPr lang="en-US" sz="4400" dirty="0"/>
          </a:p>
        </p:txBody>
      </p:sp>
      <p:sp>
        <p:nvSpPr>
          <p:cNvPr id="33" name="Text 31"/>
          <p:cNvSpPr txBox="1"/>
          <p:nvPr/>
        </p:nvSpPr>
        <p:spPr>
          <a:xfrm>
            <a:off x="12472416" y="5989320"/>
            <a:ext cx="4709160" cy="603504"/>
          </a:xfrm>
          <a:prstGeom prst="rect">
            <a:avLst/>
          </a:prstGeom>
          <a:noFill/>
          <a:ln/>
        </p:spPr>
        <p:txBody>
          <a:bodyPr wrap="square" lIns="0" tIns="0" rIns="0" bIns="0" rtlCol="0" anchor="t"/>
          <a:lstStyle/>
          <a:p>
            <a:pPr indent="0" marL="0">
              <a:buNone/>
            </a:pPr>
            <a:r>
              <a:rPr lang="en-US" sz="1400" dirty="0">
                <a:solidFill>
                  <a:srgbClr val="616161"/>
                </a:solidFill>
                <a:latin typeface="Arial"/>
                <a:ea typeface="Arial"/>
                <a:cs typeface="Arial"/>
              </a:rPr>
              <a:t>estimated recurring EU-wide AI compliance cost, annually</a:t>
            </a:r>
            <a:endParaRPr lang="en-US" sz="1400" dirty="0"/>
          </a:p>
        </p:txBody>
      </p:sp>
      <p:sp>
        <p:nvSpPr>
          <p:cNvPr id="34" name="Text 32"/>
          <p:cNvSpPr txBox="1"/>
          <p:nvPr/>
        </p:nvSpPr>
        <p:spPr>
          <a:xfrm>
            <a:off x="12472416" y="6620256"/>
            <a:ext cx="4709160" cy="256032"/>
          </a:xfrm>
          <a:prstGeom prst="rect">
            <a:avLst/>
          </a:prstGeom>
          <a:noFill/>
          <a:ln/>
        </p:spPr>
        <p:txBody>
          <a:bodyPr wrap="square" lIns="0" tIns="0" rIns="0" bIns="0" rtlCol="0" anchor="ctr"/>
          <a:lstStyle/>
          <a:p>
            <a:pPr indent="0" marL="0">
              <a:buNone/>
            </a:pPr>
            <a:r>
              <a:rPr lang="en-US" sz="1100" b="1" spc="150" kern="0" dirty="0">
                <a:solidFill>
                  <a:srgbClr val="93939F"/>
                </a:solidFill>
                <a:latin typeface="Courier New"/>
                <a:ea typeface="Courier New"/>
                <a:cs typeface="Courier New"/>
              </a:rPr>
              <a:t>[M-12]</a:t>
            </a:r>
            <a:endParaRPr lang="en-US" sz="1100" dirty="0"/>
          </a:p>
        </p:txBody>
      </p:sp>
      <p:sp>
        <p:nvSpPr>
          <p:cNvPr id="35" name="Shape 33"/>
          <p:cNvSpPr/>
          <p:nvPr/>
        </p:nvSpPr>
        <p:spPr>
          <a:xfrm>
            <a:off x="685800" y="7360920"/>
            <a:ext cx="16916400" cy="0"/>
          </a:xfrm>
          <a:prstGeom prst="line">
            <a:avLst/>
          </a:prstGeom>
          <a:noFill/>
          <a:ln w="9525">
            <a:solidFill>
              <a:srgbClr val="D9D9DD"/>
            </a:solidFill>
            <a:prstDash val="solid"/>
          </a:ln>
        </p:spPr>
      </p:sp>
      <p:sp>
        <p:nvSpPr>
          <p:cNvPr id="36" name="Text 34"/>
          <p:cNvSpPr txBox="1"/>
          <p:nvPr/>
        </p:nvSpPr>
        <p:spPr>
          <a:xfrm>
            <a:off x="685800" y="7589520"/>
            <a:ext cx="13716000" cy="457200"/>
          </a:xfrm>
          <a:prstGeom prst="rect">
            <a:avLst/>
          </a:prstGeom>
          <a:noFill/>
          <a:ln/>
        </p:spPr>
        <p:txBody>
          <a:bodyPr wrap="square" lIns="0" tIns="0" rIns="0" bIns="0" rtlCol="0" anchor="ctr"/>
          <a:lstStyle/>
          <a:p>
            <a:pPr indent="0" marL="0">
              <a:buNone/>
            </a:pPr>
            <a:r>
              <a:rPr lang="en-US" sz="2200" spc="-50" kern="0" dirty="0">
                <a:solidFill>
                  <a:srgbClr val="17171C"/>
                </a:solidFill>
                <a:latin typeface="Arial"/>
                <a:ea typeface="Arial"/>
                <a:cs typeface="Arial"/>
              </a:rPr>
              <a:t>The funnel jams at production, and that is where we sell.</a:t>
            </a:r>
            <a:endParaRPr lang="en-US" sz="2200" dirty="0"/>
          </a:p>
        </p:txBody>
      </p:sp>
      <p:sp>
        <p:nvSpPr>
          <p:cNvPr id="37" name="Text 35"/>
          <p:cNvSpPr txBox="1"/>
          <p:nvPr/>
        </p:nvSpPr>
        <p:spPr>
          <a:xfrm>
            <a:off x="685800" y="8183880"/>
            <a:ext cx="15544800" cy="822960"/>
          </a:xfrm>
          <a:prstGeom prst="rect">
            <a:avLst/>
          </a:prstGeom>
          <a:noFill/>
          <a:ln/>
        </p:spPr>
        <p:txBody>
          <a:bodyPr wrap="square" lIns="0" tIns="0" rIns="0" bIns="0" rtlCol="0" anchor="t"/>
          <a:lstStyle/>
          <a:p>
            <a:pPr indent="0" marL="0">
              <a:lnSpc>
                <a:spcPct val="115000"/>
              </a:lnSpc>
              <a:buNone/>
            </a:pPr>
            <a:r>
              <a:rPr lang="en-US" sz="1500" dirty="0">
                <a:solidFill>
                  <a:srgbClr val="616161"/>
                </a:solidFill>
                <a:latin typeface="Arial"/>
                <a:ea typeface="Arial"/>
                <a:cs typeface="Arial"/>
              </a:rPr>
              <a:t>Enterprises average 5.0 production use cases against an 80%+ pilot failure rate, and 40% of initiatives are cancelled where governance is absent. We are not selling a nice-to-have layer on a working pipeline. We are selling the thing that lets a blocked pipeline ship.</a:t>
            </a:r>
            <a:endParaRPr lang="en-US" sz="1500" dirty="0"/>
          </a:p>
        </p:txBody>
      </p:sp>
      <p:sp>
        <p:nvSpPr>
          <p:cNvPr id="38" name="Text 36"/>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Source: MarketsandMarkets; Grand View Research; McKinsey; appliedAI / DIGITALEUROPE</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Courier New"/>
                <a:ea typeface="Courier New"/>
                <a:cs typeface="Courier New"/>
              </a:rPr>
              <a:t>[M-03] [M-04] [M-12]</a:t>
            </a:r>
            <a:endParaRPr lang="en-US" sz="1200" dirty="0"/>
          </a:p>
        </p:txBody>
      </p:sp>
      <p:sp>
        <p:nvSpPr>
          <p:cNvPr id="39" name="Text 37"/>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40" name="Text 38"/>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21</a:t>
            </a:r>
            <a:endParaRPr lang="en-US" sz="10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04 · MARKET AND BUSINESS</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Where we sit, and the claim we withdrew.</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Our own market research contradicted a differentiation claim we had made. We retracted it and rebuilt the positioning.</a:t>
            </a:r>
            <a:endParaRPr lang="en-US" sz="2000" dirty="0"/>
          </a:p>
        </p:txBody>
      </p:sp>
      <p:sp>
        <p:nvSpPr>
          <p:cNvPr id="5" name="Text 3"/>
          <p:cNvSpPr txBox="1"/>
          <p:nvPr/>
        </p:nvSpPr>
        <p:spPr>
          <a:xfrm>
            <a:off x="685800" y="3154680"/>
            <a:ext cx="338328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PLAYER</a:t>
            </a:r>
            <a:endParaRPr lang="en-US" sz="1100" dirty="0"/>
          </a:p>
        </p:txBody>
      </p:sp>
      <p:sp>
        <p:nvSpPr>
          <p:cNvPr id="6" name="Text 4"/>
          <p:cNvSpPr txBox="1"/>
          <p:nvPr/>
        </p:nvSpPr>
        <p:spPr>
          <a:xfrm>
            <a:off x="4389120" y="3154680"/>
            <a:ext cx="361188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FUNDING</a:t>
            </a:r>
            <a:endParaRPr lang="en-US" sz="1100" dirty="0"/>
          </a:p>
        </p:txBody>
      </p:sp>
      <p:sp>
        <p:nvSpPr>
          <p:cNvPr id="7" name="Text 5"/>
          <p:cNvSpPr txBox="1"/>
          <p:nvPr/>
        </p:nvSpPr>
        <p:spPr>
          <a:xfrm>
            <a:off x="8321040" y="3154680"/>
            <a:ext cx="452628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WHAT THEY DO</a:t>
            </a:r>
            <a:endParaRPr lang="en-US" sz="1100" dirty="0"/>
          </a:p>
        </p:txBody>
      </p:sp>
      <p:sp>
        <p:nvSpPr>
          <p:cNvPr id="8" name="Text 6"/>
          <p:cNvSpPr txBox="1"/>
          <p:nvPr/>
        </p:nvSpPr>
        <p:spPr>
          <a:xfrm>
            <a:off x="13167360" y="3154680"/>
            <a:ext cx="443484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WHERE THEY STOP</a:t>
            </a:r>
            <a:endParaRPr lang="en-US" sz="1100" dirty="0"/>
          </a:p>
        </p:txBody>
      </p:sp>
      <p:sp>
        <p:nvSpPr>
          <p:cNvPr id="9" name="Shape 7"/>
          <p:cNvSpPr/>
          <p:nvPr/>
        </p:nvSpPr>
        <p:spPr>
          <a:xfrm>
            <a:off x="685800" y="3502152"/>
            <a:ext cx="16916400" cy="0"/>
          </a:xfrm>
          <a:prstGeom prst="line">
            <a:avLst/>
          </a:prstGeom>
          <a:noFill/>
          <a:ln w="9525">
            <a:solidFill>
              <a:srgbClr val="17171C"/>
            </a:solidFill>
            <a:prstDash val="solid"/>
          </a:ln>
        </p:spPr>
      </p:sp>
      <p:sp>
        <p:nvSpPr>
          <p:cNvPr id="10" name="Text 8"/>
          <p:cNvSpPr txBox="1"/>
          <p:nvPr/>
        </p:nvSpPr>
        <p:spPr>
          <a:xfrm>
            <a:off x="685800" y="3566160"/>
            <a:ext cx="338328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Portkey</a:t>
            </a:r>
            <a:endParaRPr lang="en-US" sz="1400" dirty="0"/>
          </a:p>
        </p:txBody>
      </p:sp>
      <p:sp>
        <p:nvSpPr>
          <p:cNvPr id="11" name="Text 9"/>
          <p:cNvSpPr txBox="1"/>
          <p:nvPr/>
        </p:nvSpPr>
        <p:spPr>
          <a:xfrm>
            <a:off x="4389120" y="3566160"/>
            <a:ext cx="361188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$18.1M raised, $15M Series A Feb 2026</a:t>
            </a:r>
            <a:endParaRPr lang="en-US" sz="1400" dirty="0"/>
          </a:p>
        </p:txBody>
      </p:sp>
      <p:sp>
        <p:nvSpPr>
          <p:cNvPr id="12" name="Text 10"/>
          <p:cNvSpPr txBox="1"/>
          <p:nvPr/>
        </p:nvSpPr>
        <p:spPr>
          <a:xfrm>
            <a:off x="8321040" y="3566160"/>
            <a:ext cx="452628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Unified AI gateway with observability and routing</a:t>
            </a:r>
            <a:endParaRPr lang="en-US" sz="1400" dirty="0"/>
          </a:p>
        </p:txBody>
      </p:sp>
      <p:sp>
        <p:nvSpPr>
          <p:cNvPr id="13" name="Text 11"/>
          <p:cNvSpPr txBox="1"/>
          <p:nvPr/>
        </p:nvSpPr>
        <p:spPr>
          <a:xfrm>
            <a:off x="13167360" y="3566160"/>
            <a:ext cx="443484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Gateway-first: routing and visibility, thin convergence</a:t>
            </a:r>
            <a:endParaRPr lang="en-US" sz="1400" dirty="0"/>
          </a:p>
        </p:txBody>
      </p:sp>
      <p:sp>
        <p:nvSpPr>
          <p:cNvPr id="14" name="Shape 12"/>
          <p:cNvSpPr/>
          <p:nvPr/>
        </p:nvSpPr>
        <p:spPr>
          <a:xfrm>
            <a:off x="685800" y="4279392"/>
            <a:ext cx="16916400" cy="0"/>
          </a:xfrm>
          <a:prstGeom prst="line">
            <a:avLst/>
          </a:prstGeom>
          <a:noFill/>
          <a:ln w="9525">
            <a:solidFill>
              <a:srgbClr val="D9D9DD"/>
            </a:solidFill>
            <a:prstDash val="solid"/>
          </a:ln>
        </p:spPr>
      </p:sp>
      <p:sp>
        <p:nvSpPr>
          <p:cNvPr id="15" name="Text 13"/>
          <p:cNvSpPr txBox="1"/>
          <p:nvPr/>
        </p:nvSpPr>
        <p:spPr>
          <a:xfrm>
            <a:off x="685800" y="4279392"/>
            <a:ext cx="338328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Lakera</a:t>
            </a:r>
            <a:endParaRPr lang="en-US" sz="1400" dirty="0"/>
          </a:p>
        </p:txBody>
      </p:sp>
      <p:sp>
        <p:nvSpPr>
          <p:cNvPr id="16" name="Text 14"/>
          <p:cNvSpPr txBox="1"/>
          <p:nvPr/>
        </p:nvSpPr>
        <p:spPr>
          <a:xfrm>
            <a:off x="4389120" y="4279392"/>
            <a:ext cx="361188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$30M to $40M raised</a:t>
            </a:r>
            <a:endParaRPr lang="en-US" sz="1400" dirty="0"/>
          </a:p>
        </p:txBody>
      </p:sp>
      <p:sp>
        <p:nvSpPr>
          <p:cNvPr id="17" name="Text 15"/>
          <p:cNvSpPr txBox="1"/>
          <p:nvPr/>
        </p:nvSpPr>
        <p:spPr>
          <a:xfrm>
            <a:off x="8321040" y="4279392"/>
            <a:ext cx="452628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Real-time AI application firewall, 97.6%+ true-positive blocking claimed</a:t>
            </a:r>
            <a:endParaRPr lang="en-US" sz="1400" dirty="0"/>
          </a:p>
        </p:txBody>
      </p:sp>
      <p:sp>
        <p:nvSpPr>
          <p:cNvPr id="18" name="Text 16"/>
          <p:cNvSpPr txBox="1"/>
          <p:nvPr/>
        </p:nvSpPr>
        <p:spPr>
          <a:xfrm>
            <a:off x="13167360" y="4279392"/>
            <a:ext cx="443484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Security plane only: no quality or cost convergence, no human loop</a:t>
            </a:r>
            <a:endParaRPr lang="en-US" sz="1400" dirty="0"/>
          </a:p>
        </p:txBody>
      </p:sp>
      <p:sp>
        <p:nvSpPr>
          <p:cNvPr id="19" name="Shape 17"/>
          <p:cNvSpPr/>
          <p:nvPr/>
        </p:nvSpPr>
        <p:spPr>
          <a:xfrm>
            <a:off x="685800" y="4992624"/>
            <a:ext cx="16916400" cy="0"/>
          </a:xfrm>
          <a:prstGeom prst="line">
            <a:avLst/>
          </a:prstGeom>
          <a:noFill/>
          <a:ln w="9525">
            <a:solidFill>
              <a:srgbClr val="D9D9DD"/>
            </a:solidFill>
            <a:prstDash val="solid"/>
          </a:ln>
        </p:spPr>
      </p:sp>
      <p:sp>
        <p:nvSpPr>
          <p:cNvPr id="20" name="Text 18"/>
          <p:cNvSpPr txBox="1"/>
          <p:nvPr/>
        </p:nvSpPr>
        <p:spPr>
          <a:xfrm>
            <a:off x="685800" y="4992624"/>
            <a:ext cx="338328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Arize AI</a:t>
            </a:r>
            <a:endParaRPr lang="en-US" sz="1400" dirty="0"/>
          </a:p>
        </p:txBody>
      </p:sp>
      <p:sp>
        <p:nvSpPr>
          <p:cNvPr id="21" name="Text 19"/>
          <p:cNvSpPr txBox="1"/>
          <p:nvPr/>
        </p:nvSpPr>
        <p:spPr>
          <a:xfrm>
            <a:off x="4389120" y="4992624"/>
            <a:ext cx="361188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$131M raised, ~$1B valuation</a:t>
            </a:r>
            <a:endParaRPr lang="en-US" sz="1400" dirty="0"/>
          </a:p>
        </p:txBody>
      </p:sp>
      <p:sp>
        <p:nvSpPr>
          <p:cNvPr id="22" name="Text 20"/>
          <p:cNvSpPr txBox="1"/>
          <p:nvPr/>
        </p:nvSpPr>
        <p:spPr>
          <a:xfrm>
            <a:off x="8321040" y="4992624"/>
            <a:ext cx="452628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Enterprise observability and evaluation at scale</a:t>
            </a:r>
            <a:endParaRPr lang="en-US" sz="1400" dirty="0"/>
          </a:p>
        </p:txBody>
      </p:sp>
      <p:sp>
        <p:nvSpPr>
          <p:cNvPr id="23" name="Text 21"/>
          <p:cNvSpPr txBox="1"/>
          <p:nvPr/>
        </p:nvSpPr>
        <p:spPr>
          <a:xfrm>
            <a:off x="13167360" y="4992624"/>
            <a:ext cx="443484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Post-hoc by architecture: observes, cannot gate delivery</a:t>
            </a:r>
            <a:endParaRPr lang="en-US" sz="1400" dirty="0"/>
          </a:p>
        </p:txBody>
      </p:sp>
      <p:sp>
        <p:nvSpPr>
          <p:cNvPr id="24" name="Shape 22"/>
          <p:cNvSpPr/>
          <p:nvPr/>
        </p:nvSpPr>
        <p:spPr>
          <a:xfrm>
            <a:off x="685800" y="5705856"/>
            <a:ext cx="16916400" cy="0"/>
          </a:xfrm>
          <a:prstGeom prst="line">
            <a:avLst/>
          </a:prstGeom>
          <a:noFill/>
          <a:ln w="9525">
            <a:solidFill>
              <a:srgbClr val="D9D9DD"/>
            </a:solidFill>
            <a:prstDash val="solid"/>
          </a:ln>
        </p:spPr>
      </p:sp>
      <p:sp>
        <p:nvSpPr>
          <p:cNvPr id="25" name="Shape 23"/>
          <p:cNvSpPr/>
          <p:nvPr/>
        </p:nvSpPr>
        <p:spPr>
          <a:xfrm>
            <a:off x="685800" y="6126480"/>
            <a:ext cx="8321040" cy="2697480"/>
          </a:xfrm>
          <a:prstGeom prst="roundRect">
            <a:avLst>
              <a:gd name="adj" fmla="val 4068"/>
            </a:avLst>
          </a:prstGeom>
          <a:solidFill>
            <a:srgbClr val="FFFFFF"/>
          </a:solidFill>
          <a:ln w="12700">
            <a:solidFill>
              <a:srgbClr val="D9D9DD"/>
            </a:solidFill>
            <a:prstDash val="solid"/>
          </a:ln>
        </p:spPr>
      </p:sp>
      <p:sp>
        <p:nvSpPr>
          <p:cNvPr id="26" name="Text 24"/>
          <p:cNvSpPr txBox="1"/>
          <p:nvPr/>
        </p:nvSpPr>
        <p:spPr>
          <a:xfrm>
            <a:off x="1005840" y="6382512"/>
            <a:ext cx="768096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THE RETRACTION</a:t>
            </a:r>
            <a:endParaRPr lang="en-US" sz="1100" dirty="0"/>
          </a:p>
        </p:txBody>
      </p:sp>
      <p:sp>
        <p:nvSpPr>
          <p:cNvPr id="27" name="Text 25"/>
          <p:cNvSpPr txBox="1"/>
          <p:nvPr/>
        </p:nvSpPr>
        <p:spPr>
          <a:xfrm>
            <a:off x="1005840" y="6729984"/>
            <a:ext cx="7680960" cy="1005840"/>
          </a:xfrm>
          <a:prstGeom prst="rect">
            <a:avLst/>
          </a:prstGeom>
          <a:noFill/>
          <a:ln/>
        </p:spPr>
        <p:txBody>
          <a:bodyPr wrap="square" lIns="0" tIns="0" rIns="0" bIns="0" rtlCol="0" anchor="t"/>
          <a:lstStyle/>
          <a:p>
            <a:pPr indent="0" marL="0">
              <a:buNone/>
            </a:pPr>
            <a:r>
              <a:rPr lang="en-US" sz="1900" spc="-100" kern="0" dirty="0">
                <a:solidFill>
                  <a:srgbClr val="17171C"/>
                </a:solidFill>
                <a:latin typeface="Arial"/>
                <a:ea typeface="Arial"/>
                <a:cs typeface="Arial"/>
              </a:rPr>
              <a:t>We claimed hyperscalers lacked per-use-case policy and fail-posture control.</a:t>
            </a:r>
            <a:endParaRPr lang="en-US" sz="1900" dirty="0"/>
          </a:p>
        </p:txBody>
      </p:sp>
      <p:sp>
        <p:nvSpPr>
          <p:cNvPr id="28" name="Text 26"/>
          <p:cNvSpPr txBox="1"/>
          <p:nvPr/>
        </p:nvSpPr>
        <p:spPr>
          <a:xfrm>
            <a:off x="1005840" y="7726680"/>
            <a:ext cx="7680960" cy="822960"/>
          </a:xfrm>
          <a:prstGeom prst="rect">
            <a:avLst/>
          </a:prstGeom>
          <a:noFill/>
          <a:ln/>
        </p:spPr>
        <p:txBody>
          <a:bodyPr wrap="square" lIns="0" tIns="0" rIns="0" bIns="0" rtlCol="0" anchor="t"/>
          <a:lstStyle/>
          <a:p>
            <a:pPr indent="0" marL="0">
              <a:lnSpc>
                <a:spcPct val="112000"/>
              </a:lnSpc>
              <a:buNone/>
            </a:pPr>
            <a:r>
              <a:rPr lang="en-US" sz="1400" dirty="0">
                <a:solidFill>
                  <a:srgbClr val="616161"/>
                </a:solidFill>
                <a:latin typeface="Arial"/>
                <a:ea typeface="Arial"/>
                <a:cs typeface="Arial"/>
              </a:rPr>
              <a:t>They document both. The claim was wrong, so it is gone rather than softened. What survives is narrower and defensible: convergence of three planes into one verdict, with a human-in-the-loop escalation path and an append-only lineage.</a:t>
            </a:r>
            <a:endParaRPr lang="en-US" sz="1400" dirty="0"/>
          </a:p>
        </p:txBody>
      </p:sp>
      <p:sp>
        <p:nvSpPr>
          <p:cNvPr id="29" name="Shape 27"/>
          <p:cNvSpPr/>
          <p:nvPr/>
        </p:nvSpPr>
        <p:spPr>
          <a:xfrm>
            <a:off x="9281160" y="6126480"/>
            <a:ext cx="8321040" cy="2697480"/>
          </a:xfrm>
          <a:prstGeom prst="roundRect">
            <a:avLst>
              <a:gd name="adj" fmla="val 4068"/>
            </a:avLst>
          </a:prstGeom>
          <a:solidFill>
            <a:srgbClr val="FFFFFF"/>
          </a:solidFill>
          <a:ln w="12700">
            <a:solidFill>
              <a:srgbClr val="D9D9DD"/>
            </a:solidFill>
            <a:prstDash val="solid"/>
          </a:ln>
        </p:spPr>
      </p:sp>
      <p:sp>
        <p:nvSpPr>
          <p:cNvPr id="30" name="Text 28"/>
          <p:cNvSpPr txBox="1"/>
          <p:nvPr/>
        </p:nvSpPr>
        <p:spPr>
          <a:xfrm>
            <a:off x="9601200" y="6382512"/>
            <a:ext cx="768096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WHY THE RETRACTION IS THE ASSET</a:t>
            </a:r>
            <a:endParaRPr lang="en-US" sz="1100" dirty="0"/>
          </a:p>
        </p:txBody>
      </p:sp>
      <p:sp>
        <p:nvSpPr>
          <p:cNvPr id="31" name="Text 29"/>
          <p:cNvSpPr txBox="1"/>
          <p:nvPr/>
        </p:nvSpPr>
        <p:spPr>
          <a:xfrm>
            <a:off x="9601200" y="6729984"/>
            <a:ext cx="7680960" cy="1005840"/>
          </a:xfrm>
          <a:prstGeom prst="rect">
            <a:avLst/>
          </a:prstGeom>
          <a:noFill/>
          <a:ln/>
        </p:spPr>
        <p:txBody>
          <a:bodyPr wrap="square" lIns="0" tIns="0" rIns="0" bIns="0" rtlCol="0" anchor="t"/>
          <a:lstStyle/>
          <a:p>
            <a:pPr indent="0" marL="0">
              <a:buNone/>
            </a:pPr>
            <a:r>
              <a:rPr lang="en-US" sz="1900" spc="-100" kern="0" dirty="0">
                <a:solidFill>
                  <a:srgbClr val="17171C"/>
                </a:solidFill>
                <a:latin typeface="Arial"/>
                <a:ea typeface="Arial"/>
                <a:cs typeface="Arial"/>
              </a:rPr>
              <a:t>A timestamped record of how we behave when we are wrong.</a:t>
            </a:r>
            <a:endParaRPr lang="en-US" sz="1900" dirty="0"/>
          </a:p>
        </p:txBody>
      </p:sp>
      <p:sp>
        <p:nvSpPr>
          <p:cNvPr id="32" name="Text 30"/>
          <p:cNvSpPr txBox="1"/>
          <p:nvPr/>
        </p:nvSpPr>
        <p:spPr>
          <a:xfrm>
            <a:off x="9601200" y="7726680"/>
            <a:ext cx="7680960" cy="822960"/>
          </a:xfrm>
          <a:prstGeom prst="rect">
            <a:avLst/>
          </a:prstGeom>
          <a:noFill/>
          <a:ln/>
        </p:spPr>
        <p:txBody>
          <a:bodyPr wrap="square" lIns="0" tIns="0" rIns="0" bIns="0" rtlCol="0" anchor="t"/>
          <a:lstStyle/>
          <a:p>
            <a:pPr indent="0" marL="0">
              <a:lnSpc>
                <a:spcPct val="112000"/>
              </a:lnSpc>
              <a:buNone/>
            </a:pPr>
            <a:r>
              <a:rPr lang="en-US" sz="1400" dirty="0">
                <a:solidFill>
                  <a:srgbClr val="616161"/>
                </a:solidFill>
                <a:latin typeface="Arial"/>
                <a:ea typeface="Arial"/>
                <a:cs typeface="Arial"/>
              </a:rPr>
              <a:t>We cannot show enterprise references. We can show something a regulated buyer arguably values more: a public, dated record of a claim we removed the moment the evidence went against it. That is the same discipline the detection numbers are reported under.</a:t>
            </a:r>
            <a:endParaRPr lang="en-US" sz="1400" dirty="0"/>
          </a:p>
        </p:txBody>
      </p:sp>
      <p:sp>
        <p:nvSpPr>
          <p:cNvPr id="33" name="Text 31"/>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Source: Tracxn, Crunchbase, AWS / Microsoft / NVIDIA documentation; OWASP GenAI</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Courier New"/>
                <a:ea typeface="Courier New"/>
                <a:cs typeface="Courier New"/>
              </a:rPr>
              <a:t>[M-05] [M-07]</a:t>
            </a:r>
            <a:endParaRPr lang="en-US" sz="1200" dirty="0"/>
          </a:p>
        </p:txBody>
      </p:sp>
      <p:sp>
        <p:nvSpPr>
          <p:cNvPr id="34" name="Text 32"/>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35" name="Text 33"/>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22</a:t>
            </a:r>
            <a:endParaRPr lang="en-US" sz="1000" dirty="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04 · MARKET AND BUSINESS</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Who feels the pain, and who signs the cheque.</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The buyer carries the liability. The user carries the incident. They are rarely the same person, so the product answers to both.</a:t>
            </a:r>
            <a:endParaRPr lang="en-US" sz="2000" dirty="0"/>
          </a:p>
        </p:txBody>
      </p:sp>
      <p:sp>
        <p:nvSpPr>
          <p:cNvPr id="5" name="Shape 3"/>
          <p:cNvSpPr/>
          <p:nvPr/>
        </p:nvSpPr>
        <p:spPr>
          <a:xfrm>
            <a:off x="685800" y="3200400"/>
            <a:ext cx="8138160" cy="2377440"/>
          </a:xfrm>
          <a:prstGeom prst="roundRect">
            <a:avLst>
              <a:gd name="adj" fmla="val 4615"/>
            </a:avLst>
          </a:prstGeom>
          <a:solidFill>
            <a:srgbClr val="FFFFFF"/>
          </a:solidFill>
          <a:ln w="12700">
            <a:solidFill>
              <a:srgbClr val="D9D9DD"/>
            </a:solidFill>
            <a:prstDash val="solid"/>
          </a:ln>
        </p:spPr>
      </p:sp>
      <p:sp>
        <p:nvSpPr>
          <p:cNvPr id="6" name="Text 4"/>
          <p:cNvSpPr txBox="1"/>
          <p:nvPr/>
        </p:nvSpPr>
        <p:spPr>
          <a:xfrm>
            <a:off x="1005840" y="3456432"/>
            <a:ext cx="3657600" cy="274320"/>
          </a:xfrm>
          <a:prstGeom prst="rect">
            <a:avLst/>
          </a:prstGeom>
          <a:noFill/>
          <a:ln/>
        </p:spPr>
        <p:txBody>
          <a:bodyPr wrap="square" lIns="0" tIns="0" rIns="0" bIns="0" rtlCol="0" anchor="ctr"/>
          <a:lstStyle/>
          <a:p>
            <a:pPr indent="0" marL="0">
              <a:buNone/>
            </a:pPr>
            <a:r>
              <a:rPr lang="en-US" sz="1100" b="1" spc="150" kern="0" dirty="0">
                <a:solidFill>
                  <a:srgbClr val="A100FF"/>
                </a:solidFill>
                <a:latin typeface="Courier New"/>
                <a:ea typeface="Courier New"/>
                <a:cs typeface="Courier New"/>
              </a:rPr>
              <a:t>SIGNS</a:t>
            </a:r>
            <a:endParaRPr lang="en-US" sz="1100" dirty="0"/>
          </a:p>
        </p:txBody>
      </p:sp>
      <p:sp>
        <p:nvSpPr>
          <p:cNvPr id="7" name="Text 5"/>
          <p:cNvSpPr txBox="1"/>
          <p:nvPr/>
        </p:nvSpPr>
        <p:spPr>
          <a:xfrm>
            <a:off x="1005840" y="3803904"/>
            <a:ext cx="7498080" cy="548640"/>
          </a:xfrm>
          <a:prstGeom prst="rect">
            <a:avLst/>
          </a:prstGeom>
          <a:noFill/>
          <a:ln/>
        </p:spPr>
        <p:txBody>
          <a:bodyPr wrap="square" lIns="0" tIns="0" rIns="0" bIns="0" rtlCol="0" anchor="t"/>
          <a:lstStyle/>
          <a:p>
            <a:pPr indent="0" marL="0">
              <a:buNone/>
            </a:pPr>
            <a:r>
              <a:rPr lang="en-US" sz="2400" spc="-50" kern="0" dirty="0">
                <a:solidFill>
                  <a:srgbClr val="17171C"/>
                </a:solidFill>
                <a:latin typeface="Arial"/>
                <a:ea typeface="Arial"/>
                <a:cs typeface="Arial"/>
              </a:rPr>
              <a:t>Chief risk and compliance</a:t>
            </a:r>
            <a:endParaRPr lang="en-US" sz="2400" dirty="0"/>
          </a:p>
        </p:txBody>
      </p:sp>
      <p:sp>
        <p:nvSpPr>
          <p:cNvPr id="8" name="Text 6"/>
          <p:cNvSpPr txBox="1"/>
          <p:nvPr/>
        </p:nvSpPr>
        <p:spPr>
          <a:xfrm>
            <a:off x="1005840" y="4434840"/>
            <a:ext cx="7498080" cy="960120"/>
          </a:xfrm>
          <a:prstGeom prst="rect">
            <a:avLst/>
          </a:prstGeom>
          <a:noFill/>
          <a:ln/>
        </p:spPr>
        <p:txBody>
          <a:bodyPr wrap="square" lIns="0" tIns="0" rIns="0" bIns="0" rtlCol="0" anchor="t"/>
          <a:lstStyle/>
          <a:p>
            <a:pPr indent="0" marL="0">
              <a:lnSpc>
                <a:spcPct val="114000"/>
              </a:lnSpc>
              <a:buNone/>
            </a:pPr>
            <a:r>
              <a:rPr lang="en-US" sz="1400" dirty="0">
                <a:solidFill>
                  <a:srgbClr val="616161"/>
                </a:solidFill>
                <a:latin typeface="Arial"/>
                <a:ea typeface="Arial"/>
                <a:cs typeface="Arial"/>
              </a:rPr>
              <a:t>Needs evidence that a control existed at the moment of delivery, not a report that an incident happened. Append-only lineage is the artifact they can hand to an auditor.</a:t>
            </a:r>
            <a:endParaRPr lang="en-US" sz="1400" dirty="0"/>
          </a:p>
        </p:txBody>
      </p:sp>
      <p:sp>
        <p:nvSpPr>
          <p:cNvPr id="9" name="Shape 7"/>
          <p:cNvSpPr/>
          <p:nvPr/>
        </p:nvSpPr>
        <p:spPr>
          <a:xfrm>
            <a:off x="9235440" y="3200400"/>
            <a:ext cx="8138160" cy="2377440"/>
          </a:xfrm>
          <a:prstGeom prst="roundRect">
            <a:avLst>
              <a:gd name="adj" fmla="val 4615"/>
            </a:avLst>
          </a:prstGeom>
          <a:solidFill>
            <a:srgbClr val="FFFFFF"/>
          </a:solidFill>
          <a:ln w="12700">
            <a:solidFill>
              <a:srgbClr val="D9D9DD"/>
            </a:solidFill>
            <a:prstDash val="solid"/>
          </a:ln>
        </p:spPr>
      </p:sp>
      <p:sp>
        <p:nvSpPr>
          <p:cNvPr id="10" name="Text 8"/>
          <p:cNvSpPr txBox="1"/>
          <p:nvPr/>
        </p:nvSpPr>
        <p:spPr>
          <a:xfrm>
            <a:off x="9555480" y="3456432"/>
            <a:ext cx="3657600" cy="274320"/>
          </a:xfrm>
          <a:prstGeom prst="rect">
            <a:avLst/>
          </a:prstGeom>
          <a:noFill/>
          <a:ln/>
        </p:spPr>
        <p:txBody>
          <a:bodyPr wrap="square" lIns="0" tIns="0" rIns="0" bIns="0" rtlCol="0" anchor="ctr"/>
          <a:lstStyle/>
          <a:p>
            <a:pPr indent="0" marL="0">
              <a:buNone/>
            </a:pPr>
            <a:r>
              <a:rPr lang="en-US" sz="1100" b="1" spc="150" kern="0" dirty="0">
                <a:solidFill>
                  <a:srgbClr val="A100FF"/>
                </a:solidFill>
                <a:latin typeface="Courier New"/>
                <a:ea typeface="Courier New"/>
                <a:cs typeface="Courier New"/>
              </a:rPr>
              <a:t>ADOPTS</a:t>
            </a:r>
            <a:endParaRPr lang="en-US" sz="1100" dirty="0"/>
          </a:p>
        </p:txBody>
      </p:sp>
      <p:sp>
        <p:nvSpPr>
          <p:cNvPr id="11" name="Text 9"/>
          <p:cNvSpPr txBox="1"/>
          <p:nvPr/>
        </p:nvSpPr>
        <p:spPr>
          <a:xfrm>
            <a:off x="9555480" y="3803904"/>
            <a:ext cx="7498080" cy="548640"/>
          </a:xfrm>
          <a:prstGeom prst="rect">
            <a:avLst/>
          </a:prstGeom>
          <a:noFill/>
          <a:ln/>
        </p:spPr>
        <p:txBody>
          <a:bodyPr wrap="square" lIns="0" tIns="0" rIns="0" bIns="0" rtlCol="0" anchor="t"/>
          <a:lstStyle/>
          <a:p>
            <a:pPr indent="0" marL="0">
              <a:buNone/>
            </a:pPr>
            <a:r>
              <a:rPr lang="en-US" sz="2400" spc="-50" kern="0" dirty="0">
                <a:solidFill>
                  <a:srgbClr val="17171C"/>
                </a:solidFill>
                <a:latin typeface="Arial"/>
                <a:ea typeface="Arial"/>
                <a:cs typeface="Arial"/>
              </a:rPr>
              <a:t>Platform and ML engineering</a:t>
            </a:r>
            <a:endParaRPr lang="en-US" sz="2400" dirty="0"/>
          </a:p>
        </p:txBody>
      </p:sp>
      <p:sp>
        <p:nvSpPr>
          <p:cNvPr id="12" name="Text 10"/>
          <p:cNvSpPr txBox="1"/>
          <p:nvPr/>
        </p:nvSpPr>
        <p:spPr>
          <a:xfrm>
            <a:off x="9555480" y="4434840"/>
            <a:ext cx="7498080" cy="960120"/>
          </a:xfrm>
          <a:prstGeom prst="rect">
            <a:avLst/>
          </a:prstGeom>
          <a:noFill/>
          <a:ln/>
        </p:spPr>
        <p:txBody>
          <a:bodyPr wrap="square" lIns="0" tIns="0" rIns="0" bIns="0" rtlCol="0" anchor="t"/>
          <a:lstStyle/>
          <a:p>
            <a:pPr indent="0" marL="0">
              <a:lnSpc>
                <a:spcPct val="114000"/>
              </a:lnSpc>
              <a:buNone/>
            </a:pPr>
            <a:r>
              <a:rPr lang="en-US" sz="1400" dirty="0">
                <a:solidFill>
                  <a:srgbClr val="616161"/>
                </a:solidFill>
                <a:latin typeface="Arial"/>
                <a:ea typeface="Arial"/>
                <a:cs typeface="Arial"/>
              </a:rPr>
              <a:t>Will not accept a rewrite. One base-URL change, their own SDK, and a latency budget they can see measured per detector.</a:t>
            </a:r>
            <a:endParaRPr lang="en-US" sz="1400" dirty="0"/>
          </a:p>
        </p:txBody>
      </p:sp>
      <p:sp>
        <p:nvSpPr>
          <p:cNvPr id="13" name="Shape 11"/>
          <p:cNvSpPr/>
          <p:nvPr/>
        </p:nvSpPr>
        <p:spPr>
          <a:xfrm>
            <a:off x="685800" y="5897880"/>
            <a:ext cx="8138160" cy="2377440"/>
          </a:xfrm>
          <a:prstGeom prst="roundRect">
            <a:avLst>
              <a:gd name="adj" fmla="val 4615"/>
            </a:avLst>
          </a:prstGeom>
          <a:solidFill>
            <a:srgbClr val="FFFFFF"/>
          </a:solidFill>
          <a:ln w="12700">
            <a:solidFill>
              <a:srgbClr val="D9D9DD"/>
            </a:solidFill>
            <a:prstDash val="solid"/>
          </a:ln>
        </p:spPr>
      </p:sp>
      <p:sp>
        <p:nvSpPr>
          <p:cNvPr id="14" name="Text 12"/>
          <p:cNvSpPr txBox="1"/>
          <p:nvPr/>
        </p:nvSpPr>
        <p:spPr>
          <a:xfrm>
            <a:off x="1005840" y="6153912"/>
            <a:ext cx="3657600" cy="274320"/>
          </a:xfrm>
          <a:prstGeom prst="rect">
            <a:avLst/>
          </a:prstGeom>
          <a:noFill/>
          <a:ln/>
        </p:spPr>
        <p:txBody>
          <a:bodyPr wrap="square" lIns="0" tIns="0" rIns="0" bIns="0" rtlCol="0" anchor="ctr"/>
          <a:lstStyle/>
          <a:p>
            <a:pPr indent="0" marL="0">
              <a:buNone/>
            </a:pPr>
            <a:r>
              <a:rPr lang="en-US" sz="1100" b="1" spc="150" kern="0" dirty="0">
                <a:solidFill>
                  <a:srgbClr val="A100FF"/>
                </a:solidFill>
                <a:latin typeface="Courier New"/>
                <a:ea typeface="Courier New"/>
                <a:cs typeface="Courier New"/>
              </a:rPr>
              <a:t>FEELS THE PAIN</a:t>
            </a:r>
            <a:endParaRPr lang="en-US" sz="1100" dirty="0"/>
          </a:p>
        </p:txBody>
      </p:sp>
      <p:sp>
        <p:nvSpPr>
          <p:cNvPr id="15" name="Text 13"/>
          <p:cNvSpPr txBox="1"/>
          <p:nvPr/>
        </p:nvSpPr>
        <p:spPr>
          <a:xfrm>
            <a:off x="1005840" y="6501384"/>
            <a:ext cx="7498080" cy="548640"/>
          </a:xfrm>
          <a:prstGeom prst="rect">
            <a:avLst/>
          </a:prstGeom>
          <a:noFill/>
          <a:ln/>
        </p:spPr>
        <p:txBody>
          <a:bodyPr wrap="square" lIns="0" tIns="0" rIns="0" bIns="0" rtlCol="0" anchor="t"/>
          <a:lstStyle/>
          <a:p>
            <a:pPr indent="0" marL="0">
              <a:buNone/>
            </a:pPr>
            <a:r>
              <a:rPr lang="en-US" sz="2400" spc="-50" kern="0" dirty="0">
                <a:solidFill>
                  <a:srgbClr val="17171C"/>
                </a:solidFill>
                <a:latin typeface="Arial"/>
                <a:ea typeface="Arial"/>
                <a:cs typeface="Arial"/>
              </a:rPr>
              <a:t>Product owners</a:t>
            </a:r>
            <a:endParaRPr lang="en-US" sz="2400" dirty="0"/>
          </a:p>
        </p:txBody>
      </p:sp>
      <p:sp>
        <p:nvSpPr>
          <p:cNvPr id="16" name="Text 14"/>
          <p:cNvSpPr txBox="1"/>
          <p:nvPr/>
        </p:nvSpPr>
        <p:spPr>
          <a:xfrm>
            <a:off x="1005840" y="7132320"/>
            <a:ext cx="7498080" cy="960120"/>
          </a:xfrm>
          <a:prstGeom prst="rect">
            <a:avLst/>
          </a:prstGeom>
          <a:noFill/>
          <a:ln/>
        </p:spPr>
        <p:txBody>
          <a:bodyPr wrap="square" lIns="0" tIns="0" rIns="0" bIns="0" rtlCol="0" anchor="t"/>
          <a:lstStyle/>
          <a:p>
            <a:pPr indent="0" marL="0">
              <a:lnSpc>
                <a:spcPct val="114000"/>
              </a:lnSpc>
              <a:buNone/>
            </a:pPr>
            <a:r>
              <a:rPr lang="en-US" sz="1400" dirty="0">
                <a:solidFill>
                  <a:srgbClr val="616161"/>
                </a:solidFill>
                <a:latin typeface="Arial"/>
                <a:ea typeface="Arial"/>
                <a:cs typeface="Arial"/>
              </a:rPr>
              <a:t>Blocked from shipping by a governance sign-off they cannot obtain. A per-pipeline policy is what unblocks them without a central committee.</a:t>
            </a:r>
            <a:endParaRPr lang="en-US" sz="1400" dirty="0"/>
          </a:p>
        </p:txBody>
      </p:sp>
      <p:sp>
        <p:nvSpPr>
          <p:cNvPr id="17" name="Shape 15"/>
          <p:cNvSpPr/>
          <p:nvPr/>
        </p:nvSpPr>
        <p:spPr>
          <a:xfrm>
            <a:off x="9235440" y="5897880"/>
            <a:ext cx="8138160" cy="2377440"/>
          </a:xfrm>
          <a:prstGeom prst="roundRect">
            <a:avLst>
              <a:gd name="adj" fmla="val 4615"/>
            </a:avLst>
          </a:prstGeom>
          <a:solidFill>
            <a:srgbClr val="FFFFFF"/>
          </a:solidFill>
          <a:ln w="12700">
            <a:solidFill>
              <a:srgbClr val="D9D9DD"/>
            </a:solidFill>
            <a:prstDash val="solid"/>
          </a:ln>
        </p:spPr>
      </p:sp>
      <p:sp>
        <p:nvSpPr>
          <p:cNvPr id="18" name="Text 16"/>
          <p:cNvSpPr txBox="1"/>
          <p:nvPr/>
        </p:nvSpPr>
        <p:spPr>
          <a:xfrm>
            <a:off x="9555480" y="6153912"/>
            <a:ext cx="3657600" cy="274320"/>
          </a:xfrm>
          <a:prstGeom prst="rect">
            <a:avLst/>
          </a:prstGeom>
          <a:noFill/>
          <a:ln/>
        </p:spPr>
        <p:txBody>
          <a:bodyPr wrap="square" lIns="0" tIns="0" rIns="0" bIns="0" rtlCol="0" anchor="ctr"/>
          <a:lstStyle/>
          <a:p>
            <a:pPr indent="0" marL="0">
              <a:buNone/>
            </a:pPr>
            <a:r>
              <a:rPr lang="en-US" sz="1100" b="1" spc="150" kern="0" dirty="0">
                <a:solidFill>
                  <a:srgbClr val="A100FF"/>
                </a:solidFill>
                <a:latin typeface="Courier New"/>
                <a:ea typeface="Courier New"/>
                <a:cs typeface="Courier New"/>
              </a:rPr>
              <a:t>LIVES IN IT</a:t>
            </a:r>
            <a:endParaRPr lang="en-US" sz="1100" dirty="0"/>
          </a:p>
        </p:txBody>
      </p:sp>
      <p:sp>
        <p:nvSpPr>
          <p:cNvPr id="19" name="Text 17"/>
          <p:cNvSpPr txBox="1"/>
          <p:nvPr/>
        </p:nvSpPr>
        <p:spPr>
          <a:xfrm>
            <a:off x="9555480" y="6501384"/>
            <a:ext cx="7498080" cy="548640"/>
          </a:xfrm>
          <a:prstGeom prst="rect">
            <a:avLst/>
          </a:prstGeom>
          <a:noFill/>
          <a:ln/>
        </p:spPr>
        <p:txBody>
          <a:bodyPr wrap="square" lIns="0" tIns="0" rIns="0" bIns="0" rtlCol="0" anchor="t"/>
          <a:lstStyle/>
          <a:p>
            <a:pPr indent="0" marL="0">
              <a:buNone/>
            </a:pPr>
            <a:r>
              <a:rPr lang="en-US" sz="2400" spc="-50" kern="0" dirty="0">
                <a:solidFill>
                  <a:srgbClr val="17171C"/>
                </a:solidFill>
                <a:latin typeface="Arial"/>
                <a:ea typeface="Arial"/>
                <a:cs typeface="Arial"/>
              </a:rPr>
              <a:t>Reviewers and ops</a:t>
            </a:r>
            <a:endParaRPr lang="en-US" sz="2400" dirty="0"/>
          </a:p>
        </p:txBody>
      </p:sp>
      <p:sp>
        <p:nvSpPr>
          <p:cNvPr id="20" name="Text 18"/>
          <p:cNvSpPr txBox="1"/>
          <p:nvPr/>
        </p:nvSpPr>
        <p:spPr>
          <a:xfrm>
            <a:off x="9555480" y="7132320"/>
            <a:ext cx="7498080" cy="960120"/>
          </a:xfrm>
          <a:prstGeom prst="rect">
            <a:avLst/>
          </a:prstGeom>
          <a:noFill/>
          <a:ln/>
        </p:spPr>
        <p:txBody>
          <a:bodyPr wrap="square" lIns="0" tIns="0" rIns="0" bIns="0" rtlCol="0" anchor="t"/>
          <a:lstStyle/>
          <a:p>
            <a:pPr indent="0" marL="0">
              <a:lnSpc>
                <a:spcPct val="114000"/>
              </a:lnSpc>
              <a:buNone/>
            </a:pPr>
            <a:r>
              <a:rPr lang="en-US" sz="1400" dirty="0">
                <a:solidFill>
                  <a:srgbClr val="616161"/>
                </a:solidFill>
                <a:latin typeface="Arial"/>
                <a:ea typeface="Arial"/>
                <a:cs typeface="Arial"/>
              </a:rPr>
              <a:t>Escalated responses are quarantined rather than delivered. One decision, one-shot, written into the record.</a:t>
            </a:r>
            <a:endParaRPr lang="en-US" sz="1400" dirty="0"/>
          </a:p>
        </p:txBody>
      </p:sp>
      <p:sp>
        <p:nvSpPr>
          <p:cNvPr id="21" name="Text 19"/>
          <p:cNvSpPr txBox="1"/>
          <p:nvPr/>
        </p:nvSpPr>
        <p:spPr>
          <a:xfrm>
            <a:off x="685800" y="8595360"/>
            <a:ext cx="16002000" cy="457200"/>
          </a:xfrm>
          <a:prstGeom prst="rect">
            <a:avLst/>
          </a:prstGeom>
          <a:noFill/>
          <a:ln/>
        </p:spPr>
        <p:txBody>
          <a:bodyPr wrap="square" lIns="0" tIns="0" rIns="0" bIns="0" rtlCol="0" anchor="ctr"/>
          <a:lstStyle/>
          <a:p>
            <a:pPr indent="0" marL="0">
              <a:buNone/>
            </a:pPr>
            <a:r>
              <a:rPr lang="en-US" sz="1500" dirty="0">
                <a:solidFill>
                  <a:srgbClr val="616161"/>
                </a:solidFill>
                <a:latin typeface="Arial"/>
                <a:ea typeface="Arial"/>
                <a:cs typeface="Arial"/>
              </a:rPr>
              <a:t>Serviceable segment: regulated verticals plus roughly 1,600 to 1,700 Indian GCCs employing 1.6 million professionals, over 70% with genAI roadmaps.</a:t>
            </a:r>
            <a:endParaRPr lang="en-US" sz="1500" dirty="0"/>
          </a:p>
        </p:txBody>
      </p:sp>
      <p:sp>
        <p:nvSpPr>
          <p:cNvPr id="22" name="Text 20"/>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Source: NASSCOM / MeitY GCC ecosystem reporting</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Courier New"/>
                <a:ea typeface="Courier New"/>
                <a:cs typeface="Courier New"/>
              </a:rPr>
              <a:t>[M-09]</a:t>
            </a:r>
            <a:endParaRPr lang="en-US" sz="1200" dirty="0"/>
          </a:p>
        </p:txBody>
      </p:sp>
      <p:sp>
        <p:nvSpPr>
          <p:cNvPr id="23" name="Text 21"/>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24" name="Text 22"/>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23</a:t>
            </a:r>
            <a:endParaRPr lang="en-US" sz="10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04 · MARKET AND BUSINESS</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Open core, priced per governed pipeline.</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Revenue tracks the customer's own AI adoption curve, because the unit of value is a pipeline under policy.</a:t>
            </a:r>
            <a:endParaRPr lang="en-US" sz="2000" dirty="0"/>
          </a:p>
        </p:txBody>
      </p:sp>
      <p:sp>
        <p:nvSpPr>
          <p:cNvPr id="5" name="Text 3"/>
          <p:cNvSpPr txBox="1"/>
          <p:nvPr/>
        </p:nvSpPr>
        <p:spPr>
          <a:xfrm>
            <a:off x="685800" y="3154680"/>
            <a:ext cx="420624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ASSUMPTION</a:t>
            </a:r>
            <a:endParaRPr lang="en-US" sz="1100" dirty="0"/>
          </a:p>
        </p:txBody>
      </p:sp>
      <p:sp>
        <p:nvSpPr>
          <p:cNvPr id="6" name="Text 4"/>
          <p:cNvSpPr txBox="1"/>
          <p:nvPr/>
        </p:nvSpPr>
        <p:spPr>
          <a:xfrm>
            <a:off x="4892040" y="3154680"/>
            <a:ext cx="4480560" cy="320040"/>
          </a:xfrm>
          <a:prstGeom prst="rect">
            <a:avLst/>
          </a:prstGeom>
          <a:noFill/>
          <a:ln/>
        </p:spPr>
        <p:txBody>
          <a:bodyPr wrap="square" lIns="0" tIns="0" rIns="0" bIns="0" rtlCol="0" anchor="ctr"/>
          <a:lstStyle/>
          <a:p>
            <a:pPr algn="r" indent="0" marL="0">
              <a:buNone/>
            </a:pPr>
            <a:r>
              <a:rPr lang="en-US" sz="1100" b="1" spc="150" kern="0" dirty="0">
                <a:solidFill>
                  <a:srgbClr val="75758A"/>
                </a:solidFill>
                <a:latin typeface="Courier New"/>
                <a:ea typeface="Courier New"/>
                <a:cs typeface="Courier New"/>
              </a:rPr>
              <a:t>VALUE</a:t>
            </a:r>
            <a:endParaRPr lang="en-US" sz="1100" dirty="0"/>
          </a:p>
        </p:txBody>
      </p:sp>
      <p:sp>
        <p:nvSpPr>
          <p:cNvPr id="7" name="Text 5"/>
          <p:cNvSpPr txBox="1"/>
          <p:nvPr/>
        </p:nvSpPr>
        <p:spPr>
          <a:xfrm>
            <a:off x="9692640" y="3154680"/>
            <a:ext cx="781812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BASIS</a:t>
            </a:r>
            <a:endParaRPr lang="en-US" sz="1100" dirty="0"/>
          </a:p>
        </p:txBody>
      </p:sp>
      <p:sp>
        <p:nvSpPr>
          <p:cNvPr id="8" name="Shape 6"/>
          <p:cNvSpPr/>
          <p:nvPr/>
        </p:nvSpPr>
        <p:spPr>
          <a:xfrm>
            <a:off x="685800" y="3502152"/>
            <a:ext cx="16824960" cy="0"/>
          </a:xfrm>
          <a:prstGeom prst="line">
            <a:avLst/>
          </a:prstGeom>
          <a:noFill/>
          <a:ln w="9525">
            <a:solidFill>
              <a:srgbClr val="17171C"/>
            </a:solidFill>
            <a:prstDash val="solid"/>
          </a:ln>
        </p:spPr>
      </p:sp>
      <p:sp>
        <p:nvSpPr>
          <p:cNvPr id="9" name="Text 7"/>
          <p:cNvSpPr txBox="1"/>
          <p:nvPr/>
        </p:nvSpPr>
        <p:spPr>
          <a:xfrm>
            <a:off x="685800" y="3566160"/>
            <a:ext cx="4206240" cy="566928"/>
          </a:xfrm>
          <a:prstGeom prst="rect">
            <a:avLst/>
          </a:prstGeom>
          <a:noFill/>
          <a:ln/>
        </p:spPr>
        <p:txBody>
          <a:bodyPr wrap="square" lIns="0" tIns="0" rIns="0" bIns="0" rtlCol="0" anchor="ctr"/>
          <a:lstStyle/>
          <a:p>
            <a:pPr algn="l" indent="0" marL="0">
              <a:buNone/>
            </a:pPr>
            <a:r>
              <a:rPr lang="en-US" sz="1500" dirty="0">
                <a:solidFill>
                  <a:srgbClr val="212121"/>
                </a:solidFill>
                <a:latin typeface="Arial"/>
                <a:ea typeface="Arial"/>
                <a:cs typeface="Arial"/>
              </a:rPr>
              <a:t>Blended ACV</a:t>
            </a:r>
            <a:endParaRPr lang="en-US" sz="1500" dirty="0"/>
          </a:p>
        </p:txBody>
      </p:sp>
      <p:sp>
        <p:nvSpPr>
          <p:cNvPr id="10" name="Text 8"/>
          <p:cNvSpPr txBox="1"/>
          <p:nvPr/>
        </p:nvSpPr>
        <p:spPr>
          <a:xfrm>
            <a:off x="4892040" y="3566160"/>
            <a:ext cx="4480560" cy="566928"/>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US$35,000 to 50,000</a:t>
            </a:r>
            <a:endParaRPr lang="en-US" sz="1400" dirty="0"/>
          </a:p>
        </p:txBody>
      </p:sp>
      <p:sp>
        <p:nvSpPr>
          <p:cNvPr id="11" name="Text 9"/>
          <p:cNvSpPr txBox="1"/>
          <p:nvPr/>
        </p:nvSpPr>
        <p:spPr>
          <a:xfrm>
            <a:off x="9692640" y="3566160"/>
            <a:ext cx="781812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One enterprise logo is three to five paid pipelines plus pack and SLA uplift</a:t>
            </a:r>
            <a:endParaRPr lang="en-US" sz="1400" dirty="0"/>
          </a:p>
        </p:txBody>
      </p:sp>
      <p:sp>
        <p:nvSpPr>
          <p:cNvPr id="12" name="Shape 10"/>
          <p:cNvSpPr/>
          <p:nvPr/>
        </p:nvSpPr>
        <p:spPr>
          <a:xfrm>
            <a:off x="685800" y="4133088"/>
            <a:ext cx="16824960" cy="0"/>
          </a:xfrm>
          <a:prstGeom prst="line">
            <a:avLst/>
          </a:prstGeom>
          <a:noFill/>
          <a:ln w="9525">
            <a:solidFill>
              <a:srgbClr val="D9D9DD"/>
            </a:solidFill>
            <a:prstDash val="solid"/>
          </a:ln>
        </p:spPr>
      </p:sp>
      <p:sp>
        <p:nvSpPr>
          <p:cNvPr id="13" name="Text 11"/>
          <p:cNvSpPr txBox="1"/>
          <p:nvPr/>
        </p:nvSpPr>
        <p:spPr>
          <a:xfrm>
            <a:off x="685800" y="4133088"/>
            <a:ext cx="4206240" cy="566928"/>
          </a:xfrm>
          <a:prstGeom prst="rect">
            <a:avLst/>
          </a:prstGeom>
          <a:noFill/>
          <a:ln/>
        </p:spPr>
        <p:txBody>
          <a:bodyPr wrap="square" lIns="0" tIns="0" rIns="0" bIns="0" rtlCol="0" anchor="ctr"/>
          <a:lstStyle/>
          <a:p>
            <a:pPr algn="l" indent="0" marL="0">
              <a:buNone/>
            </a:pPr>
            <a:r>
              <a:rPr lang="en-US" sz="1500" dirty="0">
                <a:solidFill>
                  <a:srgbClr val="212121"/>
                </a:solidFill>
                <a:latin typeface="Arial"/>
                <a:ea typeface="Arial"/>
                <a:cs typeface="Arial"/>
              </a:rPr>
              <a:t>Gross margin</a:t>
            </a:r>
            <a:endParaRPr lang="en-US" sz="1500" dirty="0"/>
          </a:p>
        </p:txBody>
      </p:sp>
      <p:sp>
        <p:nvSpPr>
          <p:cNvPr id="14" name="Text 12"/>
          <p:cNvSpPr txBox="1"/>
          <p:nvPr/>
        </p:nvSpPr>
        <p:spPr>
          <a:xfrm>
            <a:off x="4892040" y="4133088"/>
            <a:ext cx="4480560" cy="566928"/>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~85%</a:t>
            </a:r>
            <a:endParaRPr lang="en-US" sz="1400" dirty="0"/>
          </a:p>
        </p:txBody>
      </p:sp>
      <p:sp>
        <p:nvSpPr>
          <p:cNvPr id="15" name="Text 13"/>
          <p:cNvSpPr txBox="1"/>
          <p:nvPr/>
        </p:nvSpPr>
        <p:spPr>
          <a:xfrm>
            <a:off x="9692640" y="4133088"/>
            <a:ext cx="781812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Software plus thin sampling. The customer pays their own model spend</a:t>
            </a:r>
            <a:endParaRPr lang="en-US" sz="1400" dirty="0"/>
          </a:p>
        </p:txBody>
      </p:sp>
      <p:sp>
        <p:nvSpPr>
          <p:cNvPr id="16" name="Shape 14"/>
          <p:cNvSpPr/>
          <p:nvPr/>
        </p:nvSpPr>
        <p:spPr>
          <a:xfrm>
            <a:off x="685800" y="4700016"/>
            <a:ext cx="16824960" cy="0"/>
          </a:xfrm>
          <a:prstGeom prst="line">
            <a:avLst/>
          </a:prstGeom>
          <a:noFill/>
          <a:ln w="9525">
            <a:solidFill>
              <a:srgbClr val="D9D9DD"/>
            </a:solidFill>
            <a:prstDash val="solid"/>
          </a:ln>
        </p:spPr>
      </p:sp>
      <p:sp>
        <p:nvSpPr>
          <p:cNvPr id="17" name="Text 15"/>
          <p:cNvSpPr txBox="1"/>
          <p:nvPr/>
        </p:nvSpPr>
        <p:spPr>
          <a:xfrm>
            <a:off x="685800" y="4700016"/>
            <a:ext cx="4206240" cy="566928"/>
          </a:xfrm>
          <a:prstGeom prst="rect">
            <a:avLst/>
          </a:prstGeom>
          <a:noFill/>
          <a:ln/>
        </p:spPr>
        <p:txBody>
          <a:bodyPr wrap="square" lIns="0" tIns="0" rIns="0" bIns="0" rtlCol="0" anchor="ctr"/>
          <a:lstStyle/>
          <a:p>
            <a:pPr algn="l" indent="0" marL="0">
              <a:buNone/>
            </a:pPr>
            <a:r>
              <a:rPr lang="en-US" sz="1500" dirty="0">
                <a:solidFill>
                  <a:srgbClr val="212121"/>
                </a:solidFill>
                <a:latin typeface="Arial"/>
                <a:ea typeface="Arial"/>
                <a:cs typeface="Arial"/>
              </a:rPr>
              <a:t>CAC, partner-led</a:t>
            </a:r>
            <a:endParaRPr lang="en-US" sz="1500" dirty="0"/>
          </a:p>
        </p:txBody>
      </p:sp>
      <p:sp>
        <p:nvSpPr>
          <p:cNvPr id="18" name="Text 16"/>
          <p:cNvSpPr txBox="1"/>
          <p:nvPr/>
        </p:nvSpPr>
        <p:spPr>
          <a:xfrm>
            <a:off x="4892040" y="4700016"/>
            <a:ext cx="4480560" cy="566928"/>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US$10,000 to 18,000</a:t>
            </a:r>
            <a:endParaRPr lang="en-US" sz="1400" dirty="0"/>
          </a:p>
        </p:txBody>
      </p:sp>
      <p:sp>
        <p:nvSpPr>
          <p:cNvPr id="19" name="Text 17"/>
          <p:cNvSpPr txBox="1"/>
          <p:nvPr/>
        </p:nvSpPr>
        <p:spPr>
          <a:xfrm>
            <a:off x="9692640" y="4700016"/>
            <a:ext cx="781812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SI-attached deals and open-source inbound, no outbound sales team in years one and two</a:t>
            </a:r>
            <a:endParaRPr lang="en-US" sz="1400" dirty="0"/>
          </a:p>
        </p:txBody>
      </p:sp>
      <p:sp>
        <p:nvSpPr>
          <p:cNvPr id="20" name="Shape 18"/>
          <p:cNvSpPr/>
          <p:nvPr/>
        </p:nvSpPr>
        <p:spPr>
          <a:xfrm>
            <a:off x="685800" y="5266944"/>
            <a:ext cx="16824960" cy="0"/>
          </a:xfrm>
          <a:prstGeom prst="line">
            <a:avLst/>
          </a:prstGeom>
          <a:noFill/>
          <a:ln w="9525">
            <a:solidFill>
              <a:srgbClr val="D9D9DD"/>
            </a:solidFill>
            <a:prstDash val="solid"/>
          </a:ln>
        </p:spPr>
      </p:sp>
      <p:sp>
        <p:nvSpPr>
          <p:cNvPr id="21" name="Text 19"/>
          <p:cNvSpPr txBox="1"/>
          <p:nvPr/>
        </p:nvSpPr>
        <p:spPr>
          <a:xfrm>
            <a:off x="685800" y="5266944"/>
            <a:ext cx="4206240" cy="566928"/>
          </a:xfrm>
          <a:prstGeom prst="rect">
            <a:avLst/>
          </a:prstGeom>
          <a:noFill/>
          <a:ln/>
        </p:spPr>
        <p:txBody>
          <a:bodyPr wrap="square" lIns="0" tIns="0" rIns="0" bIns="0" rtlCol="0" anchor="ctr"/>
          <a:lstStyle/>
          <a:p>
            <a:pPr algn="l" indent="0" marL="0">
              <a:buNone/>
            </a:pPr>
            <a:r>
              <a:rPr lang="en-US" sz="1500" dirty="0">
                <a:solidFill>
                  <a:srgbClr val="212121"/>
                </a:solidFill>
                <a:latin typeface="Arial"/>
                <a:ea typeface="Arial"/>
                <a:cs typeface="Arial"/>
              </a:rPr>
              <a:t>Payback</a:t>
            </a:r>
            <a:endParaRPr lang="en-US" sz="1500" dirty="0"/>
          </a:p>
        </p:txBody>
      </p:sp>
      <p:sp>
        <p:nvSpPr>
          <p:cNvPr id="22" name="Text 20"/>
          <p:cNvSpPr txBox="1"/>
          <p:nvPr/>
        </p:nvSpPr>
        <p:spPr>
          <a:xfrm>
            <a:off x="4892040" y="5266944"/>
            <a:ext cx="4480560" cy="566928"/>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Under 6 months</a:t>
            </a:r>
            <a:endParaRPr lang="en-US" sz="1400" dirty="0"/>
          </a:p>
        </p:txBody>
      </p:sp>
      <p:sp>
        <p:nvSpPr>
          <p:cNvPr id="23" name="Text 21"/>
          <p:cNvSpPr txBox="1"/>
          <p:nvPr/>
        </p:nvSpPr>
        <p:spPr>
          <a:xfrm>
            <a:off x="9692640" y="5266944"/>
            <a:ext cx="781812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ACV divided by CAC at the figures above</a:t>
            </a:r>
            <a:endParaRPr lang="en-US" sz="1400" dirty="0"/>
          </a:p>
        </p:txBody>
      </p:sp>
      <p:sp>
        <p:nvSpPr>
          <p:cNvPr id="24" name="Shape 22"/>
          <p:cNvSpPr/>
          <p:nvPr/>
        </p:nvSpPr>
        <p:spPr>
          <a:xfrm>
            <a:off x="685800" y="5833872"/>
            <a:ext cx="16824960" cy="0"/>
          </a:xfrm>
          <a:prstGeom prst="line">
            <a:avLst/>
          </a:prstGeom>
          <a:noFill/>
          <a:ln w="9525">
            <a:solidFill>
              <a:srgbClr val="D9D9DD"/>
            </a:solidFill>
            <a:prstDash val="solid"/>
          </a:ln>
        </p:spPr>
      </p:sp>
      <p:sp>
        <p:nvSpPr>
          <p:cNvPr id="25" name="Text 23"/>
          <p:cNvSpPr txBox="1"/>
          <p:nvPr/>
        </p:nvSpPr>
        <p:spPr>
          <a:xfrm>
            <a:off x="685800" y="5833872"/>
            <a:ext cx="4206240" cy="566928"/>
          </a:xfrm>
          <a:prstGeom prst="rect">
            <a:avLst/>
          </a:prstGeom>
          <a:noFill/>
          <a:ln/>
        </p:spPr>
        <p:txBody>
          <a:bodyPr wrap="square" lIns="0" tIns="0" rIns="0" bIns="0" rtlCol="0" anchor="ctr"/>
          <a:lstStyle/>
          <a:p>
            <a:pPr algn="l" indent="0" marL="0">
              <a:buNone/>
            </a:pPr>
            <a:r>
              <a:rPr lang="en-US" sz="1500" dirty="0">
                <a:solidFill>
                  <a:srgbClr val="212121"/>
                </a:solidFill>
                <a:latin typeface="Arial"/>
                <a:ea typeface="Arial"/>
                <a:cs typeface="Arial"/>
              </a:rPr>
              <a:t>Expansion</a:t>
            </a:r>
            <a:endParaRPr lang="en-US" sz="1500" dirty="0"/>
          </a:p>
        </p:txBody>
      </p:sp>
      <p:sp>
        <p:nvSpPr>
          <p:cNvPr id="26" name="Text 24"/>
          <p:cNvSpPr txBox="1"/>
          <p:nvPr/>
        </p:nvSpPr>
        <p:spPr>
          <a:xfrm>
            <a:off x="4892040" y="5833872"/>
            <a:ext cx="4480560" cy="566928"/>
          </a:xfrm>
          <a:prstGeom prst="rect">
            <a:avLst/>
          </a:prstGeom>
          <a:noFill/>
          <a:ln/>
        </p:spPr>
        <p:txBody>
          <a:bodyPr wrap="square" lIns="0" tIns="0" rIns="0" bIns="0" rtlCol="0" anchor="ctr"/>
          <a:lstStyle/>
          <a:p>
            <a:pPr algn="r" indent="0" marL="0">
              <a:buNone/>
            </a:pPr>
            <a:r>
              <a:rPr lang="en-US" sz="1400" dirty="0">
                <a:solidFill>
                  <a:srgbClr val="212121"/>
                </a:solidFill>
                <a:latin typeface="Arial"/>
                <a:ea typeface="Arial"/>
                <a:cs typeface="Arial"/>
              </a:rPr>
              <a:t>1 pipeline to 4 to 6</a:t>
            </a:r>
            <a:endParaRPr lang="en-US" sz="1400" dirty="0"/>
          </a:p>
        </p:txBody>
      </p:sp>
      <p:sp>
        <p:nvSpPr>
          <p:cNvPr id="27" name="Text 25"/>
          <p:cNvSpPr txBox="1"/>
          <p:nvPr/>
        </p:nvSpPr>
        <p:spPr>
          <a:xfrm>
            <a:off x="9692640" y="5833872"/>
            <a:ext cx="7818120" cy="566928"/>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Within 12 to 18 months, tracking documented enterprise use-case growth</a:t>
            </a:r>
            <a:endParaRPr lang="en-US" sz="1400" dirty="0"/>
          </a:p>
        </p:txBody>
      </p:sp>
      <p:sp>
        <p:nvSpPr>
          <p:cNvPr id="28" name="Shape 26"/>
          <p:cNvSpPr/>
          <p:nvPr/>
        </p:nvSpPr>
        <p:spPr>
          <a:xfrm>
            <a:off x="685800" y="6400800"/>
            <a:ext cx="16824960" cy="0"/>
          </a:xfrm>
          <a:prstGeom prst="line">
            <a:avLst/>
          </a:prstGeom>
          <a:noFill/>
          <a:ln w="9525">
            <a:solidFill>
              <a:srgbClr val="D9D9DD"/>
            </a:solidFill>
            <a:prstDash val="solid"/>
          </a:ln>
        </p:spPr>
      </p:sp>
      <p:sp>
        <p:nvSpPr>
          <p:cNvPr id="29" name="Shape 27"/>
          <p:cNvSpPr/>
          <p:nvPr/>
        </p:nvSpPr>
        <p:spPr>
          <a:xfrm>
            <a:off x="685800" y="6309360"/>
            <a:ext cx="16916400" cy="0"/>
          </a:xfrm>
          <a:prstGeom prst="line">
            <a:avLst/>
          </a:prstGeom>
          <a:noFill/>
          <a:ln w="9525">
            <a:solidFill>
              <a:srgbClr val="D9D9DD"/>
            </a:solidFill>
            <a:prstDash val="solid"/>
          </a:ln>
        </p:spPr>
      </p:sp>
      <p:sp>
        <p:nvSpPr>
          <p:cNvPr id="30" name="Shape 28"/>
          <p:cNvSpPr/>
          <p:nvPr/>
        </p:nvSpPr>
        <p:spPr>
          <a:xfrm>
            <a:off x="685800" y="6537960"/>
            <a:ext cx="8321040" cy="2286000"/>
          </a:xfrm>
          <a:prstGeom prst="roundRect">
            <a:avLst>
              <a:gd name="adj" fmla="val 4800"/>
            </a:avLst>
          </a:prstGeom>
          <a:solidFill>
            <a:srgbClr val="FFFFFF"/>
          </a:solidFill>
          <a:ln w="12700">
            <a:solidFill>
              <a:srgbClr val="D9D9DD"/>
            </a:solidFill>
            <a:prstDash val="solid"/>
          </a:ln>
        </p:spPr>
      </p:sp>
      <p:sp>
        <p:nvSpPr>
          <p:cNvPr id="31" name="Text 29"/>
          <p:cNvSpPr txBox="1"/>
          <p:nvPr/>
        </p:nvSpPr>
        <p:spPr>
          <a:xfrm>
            <a:off x="1005840" y="6793992"/>
            <a:ext cx="768096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WHAT WE DELIBERATELY DO NOT CLAIM</a:t>
            </a:r>
            <a:endParaRPr lang="en-US" sz="1100" dirty="0"/>
          </a:p>
        </p:txBody>
      </p:sp>
      <p:sp>
        <p:nvSpPr>
          <p:cNvPr id="32" name="Text 30"/>
          <p:cNvSpPr txBox="1"/>
          <p:nvPr/>
        </p:nvSpPr>
        <p:spPr>
          <a:xfrm>
            <a:off x="1005840" y="7141464"/>
            <a:ext cx="7680960" cy="502920"/>
          </a:xfrm>
          <a:prstGeom prst="rect">
            <a:avLst/>
          </a:prstGeom>
          <a:noFill/>
          <a:ln/>
        </p:spPr>
        <p:txBody>
          <a:bodyPr wrap="square" lIns="0" tIns="0" rIns="0" bIns="0" rtlCol="0" anchor="t"/>
          <a:lstStyle/>
          <a:p>
            <a:pPr indent="0" marL="0">
              <a:buNone/>
            </a:pPr>
            <a:r>
              <a:rPr lang="en-US" sz="2000" spc="-100" kern="0" dirty="0">
                <a:solidFill>
                  <a:srgbClr val="17171C"/>
                </a:solidFill>
                <a:latin typeface="Arial"/>
                <a:ea typeface="Arial"/>
                <a:cs typeface="Arial"/>
              </a:rPr>
              <a:t>No absolute savings figure.</a:t>
            </a:r>
            <a:endParaRPr lang="en-US" sz="2000" dirty="0"/>
          </a:p>
        </p:txBody>
      </p:sp>
      <p:sp>
        <p:nvSpPr>
          <p:cNvPr id="33" name="Text 31"/>
          <p:cNvSpPr txBox="1"/>
          <p:nvPr/>
        </p:nvSpPr>
        <p:spPr>
          <a:xfrm>
            <a:off x="1005840" y="7589520"/>
            <a:ext cx="7680960" cy="960120"/>
          </a:xfrm>
          <a:prstGeom prst="rect">
            <a:avLst/>
          </a:prstGeom>
          <a:noFill/>
          <a:ln/>
        </p:spPr>
        <p:txBody>
          <a:bodyPr wrap="square" lIns="0" tIns="0" rIns="0" bIns="0" rtlCol="0" anchor="t"/>
          <a:lstStyle/>
          <a:p>
            <a:pPr indent="0" marL="0">
              <a:lnSpc>
                <a:spcPct val="112000"/>
              </a:lnSpc>
              <a:buNone/>
            </a:pPr>
            <a:r>
              <a:rPr lang="en-US" sz="1300" dirty="0">
                <a:solidFill>
                  <a:srgbClr val="616161"/>
                </a:solidFill>
                <a:latin typeface="Arial"/>
                <a:ea typeface="Arial"/>
                <a:cs typeface="Arial"/>
              </a:rPr>
              <a:t>Published pricing shows a 15× to 25× premium for flagship over small models, with one documented pair at 20.0× on input. We do not convert that into a dollar saving, because the cascade router that would produce it is roadmap. Quoting a number we have not measured would break the rule the rest of this deck follows.</a:t>
            </a:r>
            <a:endParaRPr lang="en-US" sz="1300" dirty="0"/>
          </a:p>
        </p:txBody>
      </p:sp>
      <p:sp>
        <p:nvSpPr>
          <p:cNvPr id="34" name="Shape 32"/>
          <p:cNvSpPr/>
          <p:nvPr/>
        </p:nvSpPr>
        <p:spPr>
          <a:xfrm>
            <a:off x="9281160" y="6537960"/>
            <a:ext cx="8321040" cy="2286000"/>
          </a:xfrm>
          <a:prstGeom prst="roundRect">
            <a:avLst>
              <a:gd name="adj" fmla="val 4800"/>
            </a:avLst>
          </a:prstGeom>
          <a:solidFill>
            <a:srgbClr val="FFFFFF"/>
          </a:solidFill>
          <a:ln w="12700">
            <a:solidFill>
              <a:srgbClr val="D9D9DD"/>
            </a:solidFill>
            <a:prstDash val="solid"/>
          </a:ln>
        </p:spPr>
      </p:sp>
      <p:sp>
        <p:nvSpPr>
          <p:cNvPr id="35" name="Text 33"/>
          <p:cNvSpPr txBox="1"/>
          <p:nvPr/>
        </p:nvSpPr>
        <p:spPr>
          <a:xfrm>
            <a:off x="9601200" y="6793992"/>
            <a:ext cx="768096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THE PROJECTION LABEL IS DELIBERATE</a:t>
            </a:r>
            <a:endParaRPr lang="en-US" sz="1100" dirty="0"/>
          </a:p>
        </p:txBody>
      </p:sp>
      <p:sp>
        <p:nvSpPr>
          <p:cNvPr id="36" name="Text 34"/>
          <p:cNvSpPr txBox="1"/>
          <p:nvPr/>
        </p:nvSpPr>
        <p:spPr>
          <a:xfrm>
            <a:off x="9601200" y="7141464"/>
            <a:ext cx="7680960" cy="502920"/>
          </a:xfrm>
          <a:prstGeom prst="rect">
            <a:avLst/>
          </a:prstGeom>
          <a:noFill/>
          <a:ln/>
        </p:spPr>
        <p:txBody>
          <a:bodyPr wrap="square" lIns="0" tIns="0" rIns="0" bIns="0" rtlCol="0" anchor="t"/>
          <a:lstStyle/>
          <a:p>
            <a:pPr indent="0" marL="0">
              <a:buNone/>
            </a:pPr>
            <a:r>
              <a:rPr lang="en-US" sz="2000" spc="-100" kern="0" dirty="0">
                <a:solidFill>
                  <a:srgbClr val="17171C"/>
                </a:solidFill>
                <a:latin typeface="Arial"/>
                <a:ea typeface="Arial"/>
                <a:cs typeface="Arial"/>
              </a:rPr>
              <a:t>Every figure on this slide is a model.</a:t>
            </a:r>
            <a:endParaRPr lang="en-US" sz="2000" dirty="0"/>
          </a:p>
        </p:txBody>
      </p:sp>
      <p:sp>
        <p:nvSpPr>
          <p:cNvPr id="37" name="Text 35"/>
          <p:cNvSpPr txBox="1"/>
          <p:nvPr/>
        </p:nvSpPr>
        <p:spPr>
          <a:xfrm>
            <a:off x="9601200" y="7589520"/>
            <a:ext cx="7680960" cy="960120"/>
          </a:xfrm>
          <a:prstGeom prst="rect">
            <a:avLst/>
          </a:prstGeom>
          <a:noFill/>
          <a:ln/>
        </p:spPr>
        <p:txBody>
          <a:bodyPr wrap="square" lIns="0" tIns="0" rIns="0" bIns="0" rtlCol="0" anchor="t"/>
          <a:lstStyle/>
          <a:p>
            <a:pPr indent="0" marL="0">
              <a:lnSpc>
                <a:spcPct val="112000"/>
              </a:lnSpc>
              <a:buNone/>
            </a:pPr>
            <a:r>
              <a:rPr lang="en-US" sz="1300" dirty="0">
                <a:solidFill>
                  <a:srgbClr val="616161"/>
                </a:solidFill>
                <a:latin typeface="Arial"/>
                <a:ea typeface="Arial"/>
                <a:cs typeface="Arial"/>
              </a:rPr>
              <a:t>These are assumptions with a stated basis, not measurements, and they are labelled that way. The measured figures in this deck all come from a committed report and name the command that regenerates them. Mixing the two categories is how a business case stops being checkable.</a:t>
            </a:r>
            <a:endParaRPr lang="en-US" sz="1300" dirty="0"/>
          </a:p>
        </p:txBody>
      </p:sp>
      <p:sp>
        <p:nvSpPr>
          <p:cNvPr id="38" name="Text 36"/>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Projection, not measurement: assumptions per proposal §10</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Arial"/>
                <a:ea typeface="Arial"/>
                <a:cs typeface="Arial"/>
              </a:rPr>
              <a:t>OpenAI published pricing</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Courier New"/>
                <a:ea typeface="Courier New"/>
                <a:cs typeface="Courier New"/>
              </a:rPr>
              <a:t>[M-03] [M-06]</a:t>
            </a:r>
            <a:endParaRPr lang="en-US" sz="1200" dirty="0"/>
          </a:p>
        </p:txBody>
      </p:sp>
      <p:sp>
        <p:nvSpPr>
          <p:cNvPr id="39" name="Text 37"/>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40" name="Text 38"/>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24</a:t>
            </a:r>
            <a:endParaRPr lang="en-US" sz="10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04 · MARKET AND BUSINESS</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How this reaches production, and in what order.</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Design partners first, then a systems-integrator channel. Each phase has an exit criterion rather than a date.</a:t>
            </a:r>
            <a:endParaRPr lang="en-US" sz="2000" dirty="0"/>
          </a:p>
        </p:txBody>
      </p:sp>
      <p:sp>
        <p:nvSpPr>
          <p:cNvPr id="5" name="Shape 3"/>
          <p:cNvSpPr/>
          <p:nvPr/>
        </p:nvSpPr>
        <p:spPr>
          <a:xfrm>
            <a:off x="685800" y="3246120"/>
            <a:ext cx="4023360" cy="3566160"/>
          </a:xfrm>
          <a:prstGeom prst="roundRect">
            <a:avLst>
              <a:gd name="adj" fmla="val 3077"/>
            </a:avLst>
          </a:prstGeom>
          <a:solidFill>
            <a:srgbClr val="EEECE7"/>
          </a:solidFill>
          <a:ln w="12700">
            <a:solidFill>
              <a:srgbClr val="EEECE7"/>
            </a:solidFill>
            <a:prstDash val="solid"/>
          </a:ln>
        </p:spPr>
      </p:sp>
      <p:sp>
        <p:nvSpPr>
          <p:cNvPr id="6" name="Text 4"/>
          <p:cNvSpPr txBox="1"/>
          <p:nvPr/>
        </p:nvSpPr>
        <p:spPr>
          <a:xfrm>
            <a:off x="978408" y="3502152"/>
            <a:ext cx="1280160" cy="310896"/>
          </a:xfrm>
          <a:prstGeom prst="rect">
            <a:avLst/>
          </a:prstGeom>
          <a:noFill/>
          <a:ln/>
        </p:spPr>
        <p:txBody>
          <a:bodyPr wrap="square" lIns="0" tIns="0" rIns="0" bIns="0" rtlCol="0" anchor="ctr"/>
          <a:lstStyle/>
          <a:p>
            <a:pPr indent="0" marL="0">
              <a:buNone/>
            </a:pPr>
            <a:r>
              <a:rPr lang="en-US" sz="1300" b="1" spc="150" kern="0" dirty="0">
                <a:solidFill>
                  <a:srgbClr val="A100FF"/>
                </a:solidFill>
                <a:latin typeface="Courier New"/>
                <a:ea typeface="Courier New"/>
                <a:cs typeface="Courier New"/>
              </a:rPr>
              <a:t>P0</a:t>
            </a:r>
            <a:endParaRPr lang="en-US" sz="1300" dirty="0"/>
          </a:p>
        </p:txBody>
      </p:sp>
      <p:sp>
        <p:nvSpPr>
          <p:cNvPr id="7" name="Text 5"/>
          <p:cNvSpPr txBox="1"/>
          <p:nvPr/>
        </p:nvSpPr>
        <p:spPr>
          <a:xfrm>
            <a:off x="2148840" y="3502152"/>
            <a:ext cx="2286000" cy="310896"/>
          </a:xfrm>
          <a:prstGeom prst="rect">
            <a:avLst/>
          </a:prstGeom>
          <a:noFill/>
          <a:ln/>
        </p:spPr>
        <p:txBody>
          <a:bodyPr wrap="square" lIns="0" tIns="0" rIns="0" bIns="0" rtlCol="0" anchor="ctr"/>
          <a:lstStyle/>
          <a:p>
            <a:pPr algn="r" indent="0" marL="0">
              <a:buNone/>
            </a:pPr>
            <a:r>
              <a:rPr lang="en-US" sz="1100" dirty="0">
                <a:solidFill>
                  <a:srgbClr val="93939F"/>
                </a:solidFill>
                <a:latin typeface="Courier New"/>
                <a:ea typeface="Courier New"/>
                <a:cs typeface="Courier New"/>
              </a:rPr>
              <a:t>Now</a:t>
            </a:r>
            <a:endParaRPr lang="en-US" sz="1100" dirty="0"/>
          </a:p>
        </p:txBody>
      </p:sp>
      <p:sp>
        <p:nvSpPr>
          <p:cNvPr id="8" name="Text 6"/>
          <p:cNvSpPr txBox="1"/>
          <p:nvPr/>
        </p:nvSpPr>
        <p:spPr>
          <a:xfrm>
            <a:off x="978408" y="3904488"/>
            <a:ext cx="3438144" cy="914400"/>
          </a:xfrm>
          <a:prstGeom prst="rect">
            <a:avLst/>
          </a:prstGeom>
          <a:noFill/>
          <a:ln/>
        </p:spPr>
        <p:txBody>
          <a:bodyPr wrap="square" lIns="0" tIns="0" rIns="0" bIns="0" rtlCol="0" anchor="t"/>
          <a:lstStyle/>
          <a:p>
            <a:pPr indent="0" marL="0">
              <a:buNone/>
            </a:pPr>
            <a:r>
              <a:rPr lang="en-US" sz="2100" spc="-50" kern="0" dirty="0">
                <a:solidFill>
                  <a:srgbClr val="17171C"/>
                </a:solidFill>
                <a:latin typeface="Arial"/>
                <a:ea typeface="Arial"/>
                <a:cs typeface="Arial"/>
              </a:rPr>
              <a:t>Prototype complete</a:t>
            </a:r>
            <a:endParaRPr lang="en-US" sz="2100" dirty="0"/>
          </a:p>
        </p:txBody>
      </p:sp>
      <p:sp>
        <p:nvSpPr>
          <p:cNvPr id="9" name="Text 7"/>
          <p:cNvSpPr txBox="1"/>
          <p:nvPr/>
        </p:nvSpPr>
        <p:spPr>
          <a:xfrm>
            <a:off x="978408" y="4910328"/>
            <a:ext cx="3438144" cy="1691640"/>
          </a:xfrm>
          <a:prstGeom prst="rect">
            <a:avLst/>
          </a:prstGeom>
          <a:noFill/>
          <a:ln/>
        </p:spPr>
        <p:txBody>
          <a:bodyPr wrap="square" lIns="0" tIns="0" rIns="0" bIns="0" rtlCol="0" anchor="t"/>
          <a:lstStyle/>
          <a:p>
            <a:pPr indent="0" marL="0">
              <a:lnSpc>
                <a:spcPct val="113000"/>
              </a:lnSpc>
              <a:buNone/>
            </a:pPr>
            <a:r>
              <a:rPr lang="en-US" sz="1300" dirty="0">
                <a:solidFill>
                  <a:srgbClr val="616161"/>
                </a:solidFill>
                <a:latin typeface="Arial"/>
                <a:ea typeface="Arial"/>
                <a:cs typeface="Arial"/>
              </a:rPr>
              <a:t>Gateway, policy engine, eight live detectors, console, committed evidence in reports/.</a:t>
            </a:r>
            <a:endParaRPr lang="en-US" sz="1300" dirty="0"/>
          </a:p>
        </p:txBody>
      </p:sp>
      <p:sp>
        <p:nvSpPr>
          <p:cNvPr id="10" name="Shape 8"/>
          <p:cNvSpPr/>
          <p:nvPr/>
        </p:nvSpPr>
        <p:spPr>
          <a:xfrm>
            <a:off x="4745736" y="5029200"/>
            <a:ext cx="182880" cy="0"/>
          </a:xfrm>
          <a:prstGeom prst="line">
            <a:avLst/>
          </a:prstGeom>
          <a:noFill/>
          <a:ln w="12700">
            <a:solidFill>
              <a:srgbClr val="93939F"/>
            </a:solidFill>
            <a:prstDash val="solid"/>
            <a:tailEnd type="triangle"/>
          </a:ln>
        </p:spPr>
      </p:sp>
      <p:sp>
        <p:nvSpPr>
          <p:cNvPr id="11" name="Shape 9"/>
          <p:cNvSpPr/>
          <p:nvPr/>
        </p:nvSpPr>
        <p:spPr>
          <a:xfrm>
            <a:off x="4965192" y="3246120"/>
            <a:ext cx="4023360" cy="3566160"/>
          </a:xfrm>
          <a:prstGeom prst="roundRect">
            <a:avLst>
              <a:gd name="adj" fmla="val 3077"/>
            </a:avLst>
          </a:prstGeom>
          <a:solidFill>
            <a:srgbClr val="FFFFFF"/>
          </a:solidFill>
          <a:ln w="12700">
            <a:solidFill>
              <a:srgbClr val="D9D9DD"/>
            </a:solidFill>
            <a:prstDash val="solid"/>
          </a:ln>
        </p:spPr>
      </p:sp>
      <p:sp>
        <p:nvSpPr>
          <p:cNvPr id="12" name="Text 10"/>
          <p:cNvSpPr txBox="1"/>
          <p:nvPr/>
        </p:nvSpPr>
        <p:spPr>
          <a:xfrm>
            <a:off x="5257800" y="3502152"/>
            <a:ext cx="1280160" cy="310896"/>
          </a:xfrm>
          <a:prstGeom prst="rect">
            <a:avLst/>
          </a:prstGeom>
          <a:noFill/>
          <a:ln/>
        </p:spPr>
        <p:txBody>
          <a:bodyPr wrap="square" lIns="0" tIns="0" rIns="0" bIns="0" rtlCol="0" anchor="ctr"/>
          <a:lstStyle/>
          <a:p>
            <a:pPr indent="0" marL="0">
              <a:buNone/>
            </a:pPr>
            <a:r>
              <a:rPr lang="en-US" sz="1300" b="1" spc="150" kern="0" dirty="0">
                <a:solidFill>
                  <a:srgbClr val="75758A"/>
                </a:solidFill>
                <a:latin typeface="Courier New"/>
                <a:ea typeface="Courier New"/>
                <a:cs typeface="Courier New"/>
              </a:rPr>
              <a:t>P1</a:t>
            </a:r>
            <a:endParaRPr lang="en-US" sz="1300" dirty="0"/>
          </a:p>
        </p:txBody>
      </p:sp>
      <p:sp>
        <p:nvSpPr>
          <p:cNvPr id="13" name="Text 11"/>
          <p:cNvSpPr txBox="1"/>
          <p:nvPr/>
        </p:nvSpPr>
        <p:spPr>
          <a:xfrm>
            <a:off x="6428232" y="3502152"/>
            <a:ext cx="2286000" cy="310896"/>
          </a:xfrm>
          <a:prstGeom prst="rect">
            <a:avLst/>
          </a:prstGeom>
          <a:noFill/>
          <a:ln/>
        </p:spPr>
        <p:txBody>
          <a:bodyPr wrap="square" lIns="0" tIns="0" rIns="0" bIns="0" rtlCol="0" anchor="ctr"/>
          <a:lstStyle/>
          <a:p>
            <a:pPr algn="r" indent="0" marL="0">
              <a:buNone/>
            </a:pPr>
            <a:r>
              <a:rPr lang="en-US" sz="1100" dirty="0">
                <a:solidFill>
                  <a:srgbClr val="93939F"/>
                </a:solidFill>
                <a:latin typeface="Courier New"/>
                <a:ea typeface="Courier New"/>
                <a:cs typeface="Courier New"/>
              </a:rPr>
              <a:t>2 to 6 months</a:t>
            </a:r>
            <a:endParaRPr lang="en-US" sz="1100" dirty="0"/>
          </a:p>
        </p:txBody>
      </p:sp>
      <p:sp>
        <p:nvSpPr>
          <p:cNvPr id="14" name="Text 12"/>
          <p:cNvSpPr txBox="1"/>
          <p:nvPr/>
        </p:nvSpPr>
        <p:spPr>
          <a:xfrm>
            <a:off x="5257800" y="3904488"/>
            <a:ext cx="3438144" cy="914400"/>
          </a:xfrm>
          <a:prstGeom prst="rect">
            <a:avLst/>
          </a:prstGeom>
          <a:noFill/>
          <a:ln/>
        </p:spPr>
        <p:txBody>
          <a:bodyPr wrap="square" lIns="0" tIns="0" rIns="0" bIns="0" rtlCol="0" anchor="t"/>
          <a:lstStyle/>
          <a:p>
            <a:pPr indent="0" marL="0">
              <a:buNone/>
            </a:pPr>
            <a:r>
              <a:rPr lang="en-US" sz="2100" spc="-50" kern="0" dirty="0">
                <a:solidFill>
                  <a:srgbClr val="17171C"/>
                </a:solidFill>
                <a:latin typeface="Arial"/>
                <a:ea typeface="Arial"/>
                <a:cs typeface="Arial"/>
              </a:rPr>
              <a:t>Design partners</a:t>
            </a:r>
            <a:endParaRPr lang="en-US" sz="2100" dirty="0"/>
          </a:p>
        </p:txBody>
      </p:sp>
      <p:sp>
        <p:nvSpPr>
          <p:cNvPr id="15" name="Text 13"/>
          <p:cNvSpPr txBox="1"/>
          <p:nvPr/>
        </p:nvSpPr>
        <p:spPr>
          <a:xfrm>
            <a:off x="5257800" y="4910328"/>
            <a:ext cx="3438144" cy="1691640"/>
          </a:xfrm>
          <a:prstGeom prst="rect">
            <a:avLst/>
          </a:prstGeom>
          <a:noFill/>
          <a:ln/>
        </p:spPr>
        <p:txBody>
          <a:bodyPr wrap="square" lIns="0" tIns="0" rIns="0" bIns="0" rtlCol="0" anchor="t"/>
          <a:lstStyle/>
          <a:p>
            <a:pPr indent="0" marL="0">
              <a:lnSpc>
                <a:spcPct val="113000"/>
              </a:lnSpc>
              <a:buNone/>
            </a:pPr>
            <a:r>
              <a:rPr lang="en-US" sz="1300" dirty="0">
                <a:solidFill>
                  <a:srgbClr val="616161"/>
                </a:solidFill>
                <a:latin typeface="Arial"/>
                <a:ea typeface="Arial"/>
                <a:cs typeface="Arial"/>
              </a:rPr>
              <a:t>Three to five pilots across Indian BFSI and GCCs plus one EU-exposed SaaS. Exit: one pipeline in production.</a:t>
            </a:r>
            <a:endParaRPr lang="en-US" sz="1300" dirty="0"/>
          </a:p>
        </p:txBody>
      </p:sp>
      <p:sp>
        <p:nvSpPr>
          <p:cNvPr id="16" name="Shape 14"/>
          <p:cNvSpPr/>
          <p:nvPr/>
        </p:nvSpPr>
        <p:spPr>
          <a:xfrm>
            <a:off x="9025128" y="5029200"/>
            <a:ext cx="182880" cy="0"/>
          </a:xfrm>
          <a:prstGeom prst="line">
            <a:avLst/>
          </a:prstGeom>
          <a:noFill/>
          <a:ln w="12700">
            <a:solidFill>
              <a:srgbClr val="93939F"/>
            </a:solidFill>
            <a:prstDash val="solid"/>
            <a:tailEnd type="triangle"/>
          </a:ln>
        </p:spPr>
      </p:sp>
      <p:sp>
        <p:nvSpPr>
          <p:cNvPr id="17" name="Shape 15"/>
          <p:cNvSpPr/>
          <p:nvPr/>
        </p:nvSpPr>
        <p:spPr>
          <a:xfrm>
            <a:off x="9244584" y="3246120"/>
            <a:ext cx="4023360" cy="3566160"/>
          </a:xfrm>
          <a:prstGeom prst="roundRect">
            <a:avLst>
              <a:gd name="adj" fmla="val 3077"/>
            </a:avLst>
          </a:prstGeom>
          <a:solidFill>
            <a:srgbClr val="FFFFFF"/>
          </a:solidFill>
          <a:ln w="12700">
            <a:solidFill>
              <a:srgbClr val="D9D9DD"/>
            </a:solidFill>
            <a:prstDash val="solid"/>
          </a:ln>
        </p:spPr>
      </p:sp>
      <p:sp>
        <p:nvSpPr>
          <p:cNvPr id="18" name="Text 16"/>
          <p:cNvSpPr txBox="1"/>
          <p:nvPr/>
        </p:nvSpPr>
        <p:spPr>
          <a:xfrm>
            <a:off x="9537192" y="3502152"/>
            <a:ext cx="1280160" cy="310896"/>
          </a:xfrm>
          <a:prstGeom prst="rect">
            <a:avLst/>
          </a:prstGeom>
          <a:noFill/>
          <a:ln/>
        </p:spPr>
        <p:txBody>
          <a:bodyPr wrap="square" lIns="0" tIns="0" rIns="0" bIns="0" rtlCol="0" anchor="ctr"/>
          <a:lstStyle/>
          <a:p>
            <a:pPr indent="0" marL="0">
              <a:buNone/>
            </a:pPr>
            <a:r>
              <a:rPr lang="en-US" sz="1300" b="1" spc="150" kern="0" dirty="0">
                <a:solidFill>
                  <a:srgbClr val="75758A"/>
                </a:solidFill>
                <a:latin typeface="Courier New"/>
                <a:ea typeface="Courier New"/>
                <a:cs typeface="Courier New"/>
              </a:rPr>
              <a:t>P2</a:t>
            </a:r>
            <a:endParaRPr lang="en-US" sz="1300" dirty="0"/>
          </a:p>
        </p:txBody>
      </p:sp>
      <p:sp>
        <p:nvSpPr>
          <p:cNvPr id="19" name="Text 17"/>
          <p:cNvSpPr txBox="1"/>
          <p:nvPr/>
        </p:nvSpPr>
        <p:spPr>
          <a:xfrm>
            <a:off x="10707624" y="3502152"/>
            <a:ext cx="2286000" cy="310896"/>
          </a:xfrm>
          <a:prstGeom prst="rect">
            <a:avLst/>
          </a:prstGeom>
          <a:noFill/>
          <a:ln/>
        </p:spPr>
        <p:txBody>
          <a:bodyPr wrap="square" lIns="0" tIns="0" rIns="0" bIns="0" rtlCol="0" anchor="ctr"/>
          <a:lstStyle/>
          <a:p>
            <a:pPr algn="r" indent="0" marL="0">
              <a:buNone/>
            </a:pPr>
            <a:r>
              <a:rPr lang="en-US" sz="1100" dirty="0">
                <a:solidFill>
                  <a:srgbClr val="93939F"/>
                </a:solidFill>
                <a:latin typeface="Courier New"/>
                <a:ea typeface="Courier New"/>
                <a:cs typeface="Courier New"/>
              </a:rPr>
              <a:t>6 to 18 months</a:t>
            </a:r>
            <a:endParaRPr lang="en-US" sz="1100" dirty="0"/>
          </a:p>
        </p:txBody>
      </p:sp>
      <p:sp>
        <p:nvSpPr>
          <p:cNvPr id="20" name="Text 18"/>
          <p:cNvSpPr txBox="1"/>
          <p:nvPr/>
        </p:nvSpPr>
        <p:spPr>
          <a:xfrm>
            <a:off x="9537192" y="3904488"/>
            <a:ext cx="3438144" cy="914400"/>
          </a:xfrm>
          <a:prstGeom prst="rect">
            <a:avLst/>
          </a:prstGeom>
          <a:noFill/>
          <a:ln/>
        </p:spPr>
        <p:txBody>
          <a:bodyPr wrap="square" lIns="0" tIns="0" rIns="0" bIns="0" rtlCol="0" anchor="t"/>
          <a:lstStyle/>
          <a:p>
            <a:pPr indent="0" marL="0">
              <a:buNone/>
            </a:pPr>
            <a:r>
              <a:rPr lang="en-US" sz="2100" spc="-50" kern="0" dirty="0">
                <a:solidFill>
                  <a:srgbClr val="17171C"/>
                </a:solidFill>
                <a:latin typeface="Arial"/>
                <a:ea typeface="Arial"/>
                <a:cs typeface="Arial"/>
              </a:rPr>
              <a:t>Partner-led channel</a:t>
            </a:r>
            <a:endParaRPr lang="en-US" sz="2100" dirty="0"/>
          </a:p>
        </p:txBody>
      </p:sp>
      <p:sp>
        <p:nvSpPr>
          <p:cNvPr id="21" name="Text 19"/>
          <p:cNvSpPr txBox="1"/>
          <p:nvPr/>
        </p:nvSpPr>
        <p:spPr>
          <a:xfrm>
            <a:off x="9537192" y="4910328"/>
            <a:ext cx="3438144" cy="1691640"/>
          </a:xfrm>
          <a:prstGeom prst="rect">
            <a:avLst/>
          </a:prstGeom>
          <a:noFill/>
          <a:ln/>
        </p:spPr>
        <p:txBody>
          <a:bodyPr wrap="square" lIns="0" tIns="0" rIns="0" bIns="0" rtlCol="0" anchor="t"/>
          <a:lstStyle/>
          <a:p>
            <a:pPr indent="0" marL="0">
              <a:lnSpc>
                <a:spcPct val="113000"/>
              </a:lnSpc>
              <a:buNone/>
            </a:pPr>
            <a:r>
              <a:rPr lang="en-US" sz="1300" dirty="0">
                <a:solidFill>
                  <a:srgbClr val="616161"/>
                </a:solidFill>
                <a:latin typeface="Arial"/>
                <a:ea typeface="Arial"/>
                <a:cs typeface="Arial"/>
              </a:rPr>
              <a:t>Systems-integrator motion. Accenture alone has committed $3 billion over three years to Data and AI, with 80,000 specialists.</a:t>
            </a:r>
            <a:endParaRPr lang="en-US" sz="1300" dirty="0"/>
          </a:p>
        </p:txBody>
      </p:sp>
      <p:sp>
        <p:nvSpPr>
          <p:cNvPr id="22" name="Shape 20"/>
          <p:cNvSpPr/>
          <p:nvPr/>
        </p:nvSpPr>
        <p:spPr>
          <a:xfrm>
            <a:off x="13304520" y="5029200"/>
            <a:ext cx="182880" cy="0"/>
          </a:xfrm>
          <a:prstGeom prst="line">
            <a:avLst/>
          </a:prstGeom>
          <a:noFill/>
          <a:ln w="12700">
            <a:solidFill>
              <a:srgbClr val="93939F"/>
            </a:solidFill>
            <a:prstDash val="solid"/>
            <a:tailEnd type="triangle"/>
          </a:ln>
        </p:spPr>
      </p:sp>
      <p:sp>
        <p:nvSpPr>
          <p:cNvPr id="23" name="Shape 21"/>
          <p:cNvSpPr/>
          <p:nvPr/>
        </p:nvSpPr>
        <p:spPr>
          <a:xfrm>
            <a:off x="13523976" y="3246120"/>
            <a:ext cx="4023360" cy="3566160"/>
          </a:xfrm>
          <a:prstGeom prst="roundRect">
            <a:avLst>
              <a:gd name="adj" fmla="val 3077"/>
            </a:avLst>
          </a:prstGeom>
          <a:solidFill>
            <a:srgbClr val="FFFFFF"/>
          </a:solidFill>
          <a:ln w="12700">
            <a:solidFill>
              <a:srgbClr val="D9D9DD"/>
            </a:solidFill>
            <a:prstDash val="solid"/>
          </a:ln>
        </p:spPr>
      </p:sp>
      <p:sp>
        <p:nvSpPr>
          <p:cNvPr id="24" name="Text 22"/>
          <p:cNvSpPr txBox="1"/>
          <p:nvPr/>
        </p:nvSpPr>
        <p:spPr>
          <a:xfrm>
            <a:off x="13816584" y="3502152"/>
            <a:ext cx="1280160" cy="310896"/>
          </a:xfrm>
          <a:prstGeom prst="rect">
            <a:avLst/>
          </a:prstGeom>
          <a:noFill/>
          <a:ln/>
        </p:spPr>
        <p:txBody>
          <a:bodyPr wrap="square" lIns="0" tIns="0" rIns="0" bIns="0" rtlCol="0" anchor="ctr"/>
          <a:lstStyle/>
          <a:p>
            <a:pPr indent="0" marL="0">
              <a:buNone/>
            </a:pPr>
            <a:r>
              <a:rPr lang="en-US" sz="1300" b="1" spc="150" kern="0" dirty="0">
                <a:solidFill>
                  <a:srgbClr val="75758A"/>
                </a:solidFill>
                <a:latin typeface="Courier New"/>
                <a:ea typeface="Courier New"/>
                <a:cs typeface="Courier New"/>
              </a:rPr>
              <a:t>P3</a:t>
            </a:r>
            <a:endParaRPr lang="en-US" sz="1300" dirty="0"/>
          </a:p>
        </p:txBody>
      </p:sp>
      <p:sp>
        <p:nvSpPr>
          <p:cNvPr id="25" name="Text 23"/>
          <p:cNvSpPr txBox="1"/>
          <p:nvPr/>
        </p:nvSpPr>
        <p:spPr>
          <a:xfrm>
            <a:off x="14987016" y="3502152"/>
            <a:ext cx="2286000" cy="310896"/>
          </a:xfrm>
          <a:prstGeom prst="rect">
            <a:avLst/>
          </a:prstGeom>
          <a:noFill/>
          <a:ln/>
        </p:spPr>
        <p:txBody>
          <a:bodyPr wrap="square" lIns="0" tIns="0" rIns="0" bIns="0" rtlCol="0" anchor="ctr"/>
          <a:lstStyle/>
          <a:p>
            <a:pPr algn="r" indent="0" marL="0">
              <a:buNone/>
            </a:pPr>
            <a:r>
              <a:rPr lang="en-US" sz="1100" dirty="0">
                <a:solidFill>
                  <a:srgbClr val="93939F"/>
                </a:solidFill>
                <a:latin typeface="Courier New"/>
                <a:ea typeface="Courier New"/>
                <a:cs typeface="Courier New"/>
              </a:rPr>
              <a:t>Beyond</a:t>
            </a:r>
            <a:endParaRPr lang="en-US" sz="1100" dirty="0"/>
          </a:p>
        </p:txBody>
      </p:sp>
      <p:sp>
        <p:nvSpPr>
          <p:cNvPr id="26" name="Text 24"/>
          <p:cNvSpPr txBox="1"/>
          <p:nvPr/>
        </p:nvSpPr>
        <p:spPr>
          <a:xfrm>
            <a:off x="13816584" y="3904488"/>
            <a:ext cx="3438144" cy="914400"/>
          </a:xfrm>
          <a:prstGeom prst="rect">
            <a:avLst/>
          </a:prstGeom>
          <a:noFill/>
          <a:ln/>
        </p:spPr>
        <p:txBody>
          <a:bodyPr wrap="square" lIns="0" tIns="0" rIns="0" bIns="0" rtlCol="0" anchor="t"/>
          <a:lstStyle/>
          <a:p>
            <a:pPr indent="0" marL="0">
              <a:buNone/>
            </a:pPr>
            <a:r>
              <a:rPr lang="en-US" sz="2100" spc="-50" kern="0" dirty="0">
                <a:solidFill>
                  <a:srgbClr val="17171C"/>
                </a:solidFill>
                <a:latin typeface="Arial"/>
                <a:ea typeface="Arial"/>
                <a:cs typeface="Arial"/>
              </a:rPr>
              <a:t>Close the scope gaps</a:t>
            </a:r>
            <a:endParaRPr lang="en-US" sz="2100" dirty="0"/>
          </a:p>
        </p:txBody>
      </p:sp>
      <p:sp>
        <p:nvSpPr>
          <p:cNvPr id="27" name="Text 25"/>
          <p:cNvSpPr txBox="1"/>
          <p:nvPr/>
        </p:nvSpPr>
        <p:spPr>
          <a:xfrm>
            <a:off x="13816584" y="4910328"/>
            <a:ext cx="3438144" cy="1691640"/>
          </a:xfrm>
          <a:prstGeom prst="rect">
            <a:avLst/>
          </a:prstGeom>
          <a:noFill/>
          <a:ln/>
        </p:spPr>
        <p:txBody>
          <a:bodyPr wrap="square" lIns="0" tIns="0" rIns="0" bIns="0" rtlCol="0" anchor="t"/>
          <a:lstStyle/>
          <a:p>
            <a:pPr indent="0" marL="0">
              <a:lnSpc>
                <a:spcPct val="113000"/>
              </a:lnSpc>
              <a:buNone/>
            </a:pPr>
            <a:r>
              <a:rPr lang="en-US" sz="1300" dirty="0">
                <a:solidFill>
                  <a:srgbClr val="616161"/>
                </a:solidFill>
                <a:latin typeface="Arial"/>
                <a:ea typeface="Arial"/>
                <a:cs typeface="Arial"/>
              </a:rPr>
              <a:t>Cascade routing, fairness auditing, multi-turn risk, the leak-scan harness. Each is named in the ledger today.</a:t>
            </a:r>
            <a:endParaRPr lang="en-US" sz="1300" dirty="0"/>
          </a:p>
        </p:txBody>
      </p:sp>
      <p:sp>
        <p:nvSpPr>
          <p:cNvPr id="28" name="Shape 26"/>
          <p:cNvSpPr/>
          <p:nvPr/>
        </p:nvSpPr>
        <p:spPr>
          <a:xfrm>
            <a:off x="685800" y="7086600"/>
            <a:ext cx="16916400" cy="0"/>
          </a:xfrm>
          <a:prstGeom prst="line">
            <a:avLst/>
          </a:prstGeom>
          <a:noFill/>
          <a:ln w="9525">
            <a:solidFill>
              <a:srgbClr val="D9D9DD"/>
            </a:solidFill>
            <a:prstDash val="solid"/>
          </a:ln>
        </p:spPr>
      </p:sp>
      <p:sp>
        <p:nvSpPr>
          <p:cNvPr id="29" name="Text 27"/>
          <p:cNvSpPr txBox="1"/>
          <p:nvPr/>
        </p:nvSpPr>
        <p:spPr>
          <a:xfrm>
            <a:off x="685800" y="7315200"/>
            <a:ext cx="13716000" cy="457200"/>
          </a:xfrm>
          <a:prstGeom prst="rect">
            <a:avLst/>
          </a:prstGeom>
          <a:noFill/>
          <a:ln/>
        </p:spPr>
        <p:txBody>
          <a:bodyPr wrap="square" lIns="0" tIns="0" rIns="0" bIns="0" rtlCol="0" anchor="ctr"/>
          <a:lstStyle/>
          <a:p>
            <a:pPr indent="0" marL="0">
              <a:buNone/>
            </a:pPr>
            <a:r>
              <a:rPr lang="en-US" sz="2200" spc="-50" kern="0" dirty="0">
                <a:solidFill>
                  <a:srgbClr val="17171C"/>
                </a:solidFill>
                <a:latin typeface="Arial"/>
                <a:ea typeface="Arial"/>
                <a:cs typeface="Arial"/>
              </a:rPr>
              <a:t>The roadmap is the ledger, read forward.</a:t>
            </a:r>
            <a:endParaRPr lang="en-US" sz="2200" dirty="0"/>
          </a:p>
        </p:txBody>
      </p:sp>
      <p:sp>
        <p:nvSpPr>
          <p:cNvPr id="30" name="Text 28"/>
          <p:cNvSpPr txBox="1"/>
          <p:nvPr/>
        </p:nvSpPr>
        <p:spPr>
          <a:xfrm>
            <a:off x="685800" y="7909560"/>
            <a:ext cx="15544800" cy="822960"/>
          </a:xfrm>
          <a:prstGeom prst="rect">
            <a:avLst/>
          </a:prstGeom>
          <a:noFill/>
          <a:ln/>
        </p:spPr>
        <p:txBody>
          <a:bodyPr wrap="square" lIns="0" tIns="0" rIns="0" bIns="0" rtlCol="0" anchor="t"/>
          <a:lstStyle/>
          <a:p>
            <a:pPr indent="0" marL="0">
              <a:lnSpc>
                <a:spcPct val="115000"/>
              </a:lnSpc>
              <a:buNone/>
            </a:pPr>
            <a:r>
              <a:rPr lang="en-US" sz="1500" dirty="0">
                <a:solidFill>
                  <a:srgbClr val="616161"/>
                </a:solidFill>
                <a:latin typeface="Arial"/>
                <a:ea typeface="Arial"/>
                <a:cs typeface="Arial"/>
              </a:rPr>
              <a:t>Everything in P3 appears in this deck as a stated gap, with its tracking identifier. A roadmap built from an existing limitations register is harder to inflate than one built from ambition, and it is checkable by anyone who reads the repository.</a:t>
            </a:r>
            <a:endParaRPr lang="en-US" sz="1500" dirty="0"/>
          </a:p>
        </p:txBody>
      </p:sp>
      <p:sp>
        <p:nvSpPr>
          <p:cNvPr id="31" name="Text 29"/>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Source: proposal §11; Accenture Newsroom; NASSCOM</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Courier New"/>
                <a:ea typeface="Courier New"/>
                <a:cs typeface="Courier New"/>
              </a:rPr>
              <a:t>[M-01] [M-09] [M-10]</a:t>
            </a:r>
            <a:endParaRPr lang="en-US" sz="1200" dirty="0"/>
          </a:p>
        </p:txBody>
      </p:sp>
      <p:sp>
        <p:nvSpPr>
          <p:cNvPr id="32" name="Text 30"/>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33" name="Text 31"/>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25</a:t>
            </a:r>
            <a:endParaRPr lang="en-US" sz="10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04 · MARKET AND BUSINESS</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Risks, led by our own weakest numbers.</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Five of the eight risks in the register. The remaining three, including team capacity, are in the proposal appendix.</a:t>
            </a:r>
            <a:endParaRPr lang="en-US" sz="2000" dirty="0"/>
          </a:p>
        </p:txBody>
      </p:sp>
      <p:sp>
        <p:nvSpPr>
          <p:cNvPr id="5" name="Text 3"/>
          <p:cNvSpPr txBox="1"/>
          <p:nvPr/>
        </p:nvSpPr>
        <p:spPr>
          <a:xfrm>
            <a:off x="685800" y="3154680"/>
            <a:ext cx="457200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RISK</a:t>
            </a:r>
            <a:endParaRPr lang="en-US" sz="1100" dirty="0"/>
          </a:p>
        </p:txBody>
      </p:sp>
      <p:sp>
        <p:nvSpPr>
          <p:cNvPr id="6" name="Text 4"/>
          <p:cNvSpPr txBox="1"/>
          <p:nvPr/>
        </p:nvSpPr>
        <p:spPr>
          <a:xfrm>
            <a:off x="5577840" y="3154680"/>
            <a:ext cx="553212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THE EVIDENCE AGAINST US</a:t>
            </a:r>
            <a:endParaRPr lang="en-US" sz="1100" dirty="0"/>
          </a:p>
        </p:txBody>
      </p:sp>
      <p:sp>
        <p:nvSpPr>
          <p:cNvPr id="7" name="Text 5"/>
          <p:cNvSpPr txBox="1"/>
          <p:nvPr/>
        </p:nvSpPr>
        <p:spPr>
          <a:xfrm>
            <a:off x="11430000" y="3154680"/>
            <a:ext cx="6172200" cy="320040"/>
          </a:xfrm>
          <a:prstGeom prst="rect">
            <a:avLst/>
          </a:prstGeom>
          <a:noFill/>
          <a:ln/>
        </p:spPr>
        <p:txBody>
          <a:bodyPr wrap="square" lIns="0" tIns="0" rIns="0" bIns="0" rtlCol="0" anchor="ctr"/>
          <a:lstStyle/>
          <a:p>
            <a:pPr algn="l" indent="0" marL="0">
              <a:buNone/>
            </a:pPr>
            <a:r>
              <a:rPr lang="en-US" sz="1100" b="1" spc="150" kern="0" dirty="0">
                <a:solidFill>
                  <a:srgbClr val="75758A"/>
                </a:solidFill>
                <a:latin typeface="Courier New"/>
                <a:ea typeface="Courier New"/>
                <a:cs typeface="Courier New"/>
              </a:rPr>
              <a:t>WHAT REDUCES IT</a:t>
            </a:r>
            <a:endParaRPr lang="en-US" sz="1100" dirty="0"/>
          </a:p>
        </p:txBody>
      </p:sp>
      <p:sp>
        <p:nvSpPr>
          <p:cNvPr id="8" name="Shape 6"/>
          <p:cNvSpPr/>
          <p:nvPr/>
        </p:nvSpPr>
        <p:spPr>
          <a:xfrm>
            <a:off x="685800" y="3502152"/>
            <a:ext cx="16916400" cy="0"/>
          </a:xfrm>
          <a:prstGeom prst="line">
            <a:avLst/>
          </a:prstGeom>
          <a:noFill/>
          <a:ln w="9525">
            <a:solidFill>
              <a:srgbClr val="17171C"/>
            </a:solidFill>
            <a:prstDash val="solid"/>
          </a:ln>
        </p:spPr>
      </p:sp>
      <p:sp>
        <p:nvSpPr>
          <p:cNvPr id="9" name="Text 7"/>
          <p:cNvSpPr txBox="1"/>
          <p:nvPr/>
        </p:nvSpPr>
        <p:spPr>
          <a:xfrm>
            <a:off x="685800" y="3566160"/>
            <a:ext cx="457200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Detection quality is incomplete</a:t>
            </a:r>
            <a:endParaRPr lang="en-US" sz="1400" dirty="0"/>
          </a:p>
        </p:txBody>
      </p:sp>
      <p:sp>
        <p:nvSpPr>
          <p:cNvPr id="10" name="Text 8"/>
          <p:cNvSpPr txBox="1"/>
          <p:nvPr/>
        </p:nvSpPr>
        <p:spPr>
          <a:xfrm>
            <a:off x="5577840" y="3566160"/>
            <a:ext cx="553212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Injection recall 0.150 blind, toxicity high-band recall 0.250</a:t>
            </a:r>
            <a:endParaRPr lang="en-US" sz="1400" dirty="0"/>
          </a:p>
        </p:txBody>
      </p:sp>
      <p:sp>
        <p:nvSpPr>
          <p:cNvPr id="11" name="Text 9"/>
          <p:cNvSpPr txBox="1"/>
          <p:nvPr/>
        </p:nvSpPr>
        <p:spPr>
          <a:xfrm>
            <a:off x="11430000" y="3566160"/>
            <a:ext cx="617220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Layered defence: deterministic patterns block pre-dispatch at zero upstream tokens</a:t>
            </a:r>
            <a:endParaRPr lang="en-US" sz="1400" dirty="0"/>
          </a:p>
        </p:txBody>
      </p:sp>
      <p:sp>
        <p:nvSpPr>
          <p:cNvPr id="12" name="Shape 10"/>
          <p:cNvSpPr/>
          <p:nvPr/>
        </p:nvSpPr>
        <p:spPr>
          <a:xfrm>
            <a:off x="685800" y="4279392"/>
            <a:ext cx="16916400" cy="0"/>
          </a:xfrm>
          <a:prstGeom prst="line">
            <a:avLst/>
          </a:prstGeom>
          <a:noFill/>
          <a:ln w="9525">
            <a:solidFill>
              <a:srgbClr val="D9D9DD"/>
            </a:solidFill>
            <a:prstDash val="solid"/>
          </a:ln>
        </p:spPr>
      </p:sp>
      <p:sp>
        <p:nvSpPr>
          <p:cNvPr id="13" name="Text 11"/>
          <p:cNvSpPr txBox="1"/>
          <p:nvPr/>
        </p:nvSpPr>
        <p:spPr>
          <a:xfrm>
            <a:off x="685800" y="4279392"/>
            <a:ext cx="457200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Latency objections</a:t>
            </a:r>
            <a:endParaRPr lang="en-US" sz="1400" dirty="0"/>
          </a:p>
        </p:txBody>
      </p:sp>
      <p:sp>
        <p:nvSpPr>
          <p:cNvPr id="14" name="Text 12"/>
          <p:cNvSpPr txBox="1"/>
          <p:nvPr/>
        </p:nvSpPr>
        <p:spPr>
          <a:xfrm>
            <a:off x="5577840" y="4279392"/>
            <a:ext cx="553212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One detector breaches its 25 ms budget at P99, at 25.348 ms</a:t>
            </a:r>
            <a:endParaRPr lang="en-US" sz="1400" dirty="0"/>
          </a:p>
        </p:txBody>
      </p:sp>
      <p:sp>
        <p:nvSpPr>
          <p:cNvPr id="15" name="Text 13"/>
          <p:cNvSpPr txBox="1"/>
          <p:nvPr/>
        </p:nvSpPr>
        <p:spPr>
          <a:xfrm>
            <a:off x="11430000" y="4279392"/>
            <a:ext cx="617220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The deterministic tier runs three orders of magnitude inside budget; windowing is tunable</a:t>
            </a:r>
            <a:endParaRPr lang="en-US" sz="1400" dirty="0"/>
          </a:p>
        </p:txBody>
      </p:sp>
      <p:sp>
        <p:nvSpPr>
          <p:cNvPr id="16" name="Shape 14"/>
          <p:cNvSpPr/>
          <p:nvPr/>
        </p:nvSpPr>
        <p:spPr>
          <a:xfrm>
            <a:off x="685800" y="4992624"/>
            <a:ext cx="16916400" cy="0"/>
          </a:xfrm>
          <a:prstGeom prst="line">
            <a:avLst/>
          </a:prstGeom>
          <a:noFill/>
          <a:ln w="9525">
            <a:solidFill>
              <a:srgbClr val="D9D9DD"/>
            </a:solidFill>
            <a:prstDash val="solid"/>
          </a:ln>
        </p:spPr>
      </p:sp>
      <p:sp>
        <p:nvSpPr>
          <p:cNvPr id="17" name="Text 15"/>
          <p:cNvSpPr txBox="1"/>
          <p:nvPr/>
        </p:nvSpPr>
        <p:spPr>
          <a:xfrm>
            <a:off x="685800" y="4992624"/>
            <a:ext cx="457200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Market timing and category risk</a:t>
            </a:r>
            <a:endParaRPr lang="en-US" sz="1400" dirty="0"/>
          </a:p>
        </p:txBody>
      </p:sp>
      <p:sp>
        <p:nvSpPr>
          <p:cNvPr id="18" name="Text 16"/>
          <p:cNvSpPr txBox="1"/>
          <p:nvPr/>
        </p:nvSpPr>
        <p:spPr>
          <a:xfrm>
            <a:off x="5577840" y="4992624"/>
            <a:ext cx="553212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Analyst estimates diverge 4.08× on size; consolidation already underway</a:t>
            </a:r>
            <a:endParaRPr lang="en-US" sz="1400" dirty="0"/>
          </a:p>
        </p:txBody>
      </p:sp>
      <p:sp>
        <p:nvSpPr>
          <p:cNvPr id="19" name="Text 17"/>
          <p:cNvSpPr txBox="1"/>
          <p:nvPr/>
        </p:nvSpPr>
        <p:spPr>
          <a:xfrm>
            <a:off x="11430000" y="4992624"/>
            <a:ext cx="617220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We sell into a blocked funnel rather than a forecast</a:t>
            </a:r>
            <a:endParaRPr lang="en-US" sz="1400" dirty="0"/>
          </a:p>
        </p:txBody>
      </p:sp>
      <p:sp>
        <p:nvSpPr>
          <p:cNvPr id="20" name="Shape 18"/>
          <p:cNvSpPr/>
          <p:nvPr/>
        </p:nvSpPr>
        <p:spPr>
          <a:xfrm>
            <a:off x="685800" y="5705856"/>
            <a:ext cx="16916400" cy="0"/>
          </a:xfrm>
          <a:prstGeom prst="line">
            <a:avLst/>
          </a:prstGeom>
          <a:noFill/>
          <a:ln w="9525">
            <a:solidFill>
              <a:srgbClr val="D9D9DD"/>
            </a:solidFill>
            <a:prstDash val="solid"/>
          </a:ln>
        </p:spPr>
      </p:sp>
      <p:sp>
        <p:nvSpPr>
          <p:cNvPr id="21" name="Text 19"/>
          <p:cNvSpPr txBox="1"/>
          <p:nvPr/>
        </p:nvSpPr>
        <p:spPr>
          <a:xfrm>
            <a:off x="685800" y="5705856"/>
            <a:ext cx="457200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Cold-path reliability</a:t>
            </a:r>
            <a:endParaRPr lang="en-US" sz="1400" dirty="0"/>
          </a:p>
        </p:txBody>
      </p:sp>
      <p:sp>
        <p:nvSpPr>
          <p:cNvPr id="22" name="Text 20"/>
          <p:cNvSpPr txBox="1"/>
          <p:nvPr/>
        </p:nvSpPr>
        <p:spPr>
          <a:xfrm>
            <a:off x="5577840" y="5705856"/>
            <a:ext cx="553212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Three of five separate processes clean, two at 38/39</a:t>
            </a:r>
            <a:endParaRPr lang="en-US" sz="1400" dirty="0"/>
          </a:p>
        </p:txBody>
      </p:sp>
      <p:sp>
        <p:nvSpPr>
          <p:cNvPr id="23" name="Text 21"/>
          <p:cNvSpPr txBox="1"/>
          <p:nvPr/>
        </p:nvSpPr>
        <p:spPr>
          <a:xfrm>
            <a:off x="11430000" y="5705856"/>
            <a:ext cx="617220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Root cause named rather than tuned away; the assertion was not relaxed</a:t>
            </a:r>
            <a:endParaRPr lang="en-US" sz="1400" dirty="0"/>
          </a:p>
        </p:txBody>
      </p:sp>
      <p:sp>
        <p:nvSpPr>
          <p:cNvPr id="24" name="Shape 22"/>
          <p:cNvSpPr/>
          <p:nvPr/>
        </p:nvSpPr>
        <p:spPr>
          <a:xfrm>
            <a:off x="685800" y="6419088"/>
            <a:ext cx="16916400" cy="0"/>
          </a:xfrm>
          <a:prstGeom prst="line">
            <a:avLst/>
          </a:prstGeom>
          <a:noFill/>
          <a:ln w="9525">
            <a:solidFill>
              <a:srgbClr val="D9D9DD"/>
            </a:solidFill>
            <a:prstDash val="solid"/>
          </a:ln>
        </p:spPr>
      </p:sp>
      <p:sp>
        <p:nvSpPr>
          <p:cNvPr id="25" name="Text 23"/>
          <p:cNvSpPr txBox="1"/>
          <p:nvPr/>
        </p:nvSpPr>
        <p:spPr>
          <a:xfrm>
            <a:off x="685800" y="6419088"/>
            <a:ext cx="457200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Coverage of failure classes</a:t>
            </a:r>
            <a:endParaRPr lang="en-US" sz="1400" dirty="0"/>
          </a:p>
        </p:txBody>
      </p:sp>
      <p:sp>
        <p:nvSpPr>
          <p:cNvPr id="26" name="Text 24"/>
          <p:cNvSpPr txBox="1"/>
          <p:nvPr/>
        </p:nvSpPr>
        <p:spPr>
          <a:xfrm>
            <a:off x="5577840" y="6419088"/>
            <a:ext cx="553212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Three of four fault classes covered; cost has no live carrier</a:t>
            </a:r>
            <a:endParaRPr lang="en-US" sz="1400" dirty="0"/>
          </a:p>
        </p:txBody>
      </p:sp>
      <p:sp>
        <p:nvSpPr>
          <p:cNvPr id="27" name="Text 25"/>
          <p:cNvSpPr txBox="1"/>
          <p:nvPr/>
        </p:nvSpPr>
        <p:spPr>
          <a:xfrm>
            <a:off x="11430000" y="6419088"/>
            <a:ext cx="6172200" cy="713232"/>
          </a:xfrm>
          <a:prstGeom prst="rect">
            <a:avLst/>
          </a:prstGeom>
          <a:noFill/>
          <a:ln/>
        </p:spPr>
        <p:txBody>
          <a:bodyPr wrap="square" lIns="0" tIns="0" rIns="0" bIns="0" rtlCol="0" anchor="ctr"/>
          <a:lstStyle/>
          <a:p>
            <a:pPr algn="l" indent="0" marL="0">
              <a:buNone/>
            </a:pPr>
            <a:r>
              <a:rPr lang="en-US" sz="1400" dirty="0">
                <a:solidFill>
                  <a:srgbClr val="212121"/>
                </a:solidFill>
                <a:latin typeface="Arial"/>
                <a:ea typeface="Arial"/>
                <a:cs typeface="Arial"/>
              </a:rPr>
              <a:t>Reported as untested rather than met, and tracked in the ledger</a:t>
            </a:r>
            <a:endParaRPr lang="en-US" sz="1400" dirty="0"/>
          </a:p>
        </p:txBody>
      </p:sp>
      <p:sp>
        <p:nvSpPr>
          <p:cNvPr id="28" name="Shape 26"/>
          <p:cNvSpPr/>
          <p:nvPr/>
        </p:nvSpPr>
        <p:spPr>
          <a:xfrm>
            <a:off x="685800" y="7132320"/>
            <a:ext cx="16916400" cy="0"/>
          </a:xfrm>
          <a:prstGeom prst="line">
            <a:avLst/>
          </a:prstGeom>
          <a:noFill/>
          <a:ln w="9525">
            <a:solidFill>
              <a:srgbClr val="D9D9DD"/>
            </a:solidFill>
            <a:prstDash val="solid"/>
          </a:ln>
        </p:spPr>
      </p:sp>
      <p:sp>
        <p:nvSpPr>
          <p:cNvPr id="29" name="Text 27"/>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Arial"/>
                <a:ea typeface="Arial"/>
                <a:cs typeface="Arial"/>
              </a:rPr>
              <a:t>Source: reports/eval_report.md, reports/latency_report.md, reports/fault_injection_report.md</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Courier New"/>
                <a:ea typeface="Courier New"/>
                <a:cs typeface="Courier New"/>
              </a:rPr>
              <a:t>[B-04] [B-05] [B-07] [M-04]</a:t>
            </a:r>
            <a:endParaRPr lang="en-US" sz="1200" dirty="0"/>
          </a:p>
        </p:txBody>
      </p:sp>
      <p:sp>
        <p:nvSpPr>
          <p:cNvPr id="30" name="Text 28"/>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31" name="Text 29"/>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26</a:t>
            </a:r>
            <a:endParaRPr lang="en-US" sz="1000" dirty="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A100FF"/>
                </a:solidFill>
                <a:latin typeface="Courier New"/>
                <a:ea typeface="Courier New"/>
                <a:cs typeface="Courier New"/>
              </a:rPr>
              <a:t>APPENDIX</a:t>
            </a:r>
            <a:endParaRPr lang="en-US" sz="1200" dirty="0"/>
          </a:p>
        </p:txBody>
      </p:sp>
      <p:sp>
        <p:nvSpPr>
          <p:cNvPr id="3" name="Text 1"/>
          <p:cNvSpPr txBox="1"/>
          <p:nvPr/>
        </p:nvSpPr>
        <p:spPr>
          <a:xfrm>
            <a:off x="685800" y="1005840"/>
            <a:ext cx="12801600" cy="1005840"/>
          </a:xfrm>
          <a:prstGeom prst="rect">
            <a:avLst/>
          </a:prstGeom>
          <a:noFill/>
          <a:ln/>
        </p:spPr>
        <p:txBody>
          <a:bodyPr wrap="square" lIns="0" tIns="0" rIns="0" bIns="0" rtlCol="0" anchor="t"/>
          <a:lstStyle/>
          <a:p>
            <a:pPr indent="0" marL="0">
              <a:buNone/>
            </a:pPr>
            <a:r>
              <a:rPr lang="en-US" sz="4000" spc="-100" kern="0" dirty="0">
                <a:solidFill>
                  <a:srgbClr val="17171C"/>
                </a:solidFill>
                <a:latin typeface="Arial"/>
                <a:ea typeface="Arial"/>
                <a:cs typeface="Arial"/>
              </a:rPr>
              <a:t>Every tag in this deck, and what backs it.</a:t>
            </a:r>
            <a:endParaRPr lang="en-US" sz="4000" dirty="0"/>
          </a:p>
        </p:txBody>
      </p:sp>
      <p:sp>
        <p:nvSpPr>
          <p:cNvPr id="4" name="Text 2"/>
          <p:cNvSpPr txBox="1"/>
          <p:nvPr/>
        </p:nvSpPr>
        <p:spPr>
          <a:xfrm>
            <a:off x="685800" y="2148840"/>
            <a:ext cx="10972800" cy="731520"/>
          </a:xfrm>
          <a:prstGeom prst="rect">
            <a:avLst/>
          </a:prstGeom>
          <a:noFill/>
          <a:ln/>
        </p:spPr>
        <p:txBody>
          <a:bodyPr wrap="square" lIns="0" tIns="0" rIns="0" bIns="0" rtlCol="0" anchor="t"/>
          <a:lstStyle/>
          <a:p>
            <a:pPr indent="0" marL="0">
              <a:buNone/>
            </a:pPr>
            <a:r>
              <a:rPr lang="en-US" sz="2000" dirty="0">
                <a:solidFill>
                  <a:srgbClr val="616161"/>
                </a:solidFill>
                <a:latin typeface="Arial"/>
                <a:ea typeface="Arial"/>
                <a:cs typeface="Arial"/>
              </a:rPr>
              <a:t>B tags are figures this repository produces. M tags are external sources, with the date we read them.</a:t>
            </a:r>
            <a:endParaRPr lang="en-US" sz="2000" dirty="0"/>
          </a:p>
        </p:txBody>
      </p:sp>
      <p:sp>
        <p:nvSpPr>
          <p:cNvPr id="5" name="Text 3"/>
          <p:cNvSpPr txBox="1"/>
          <p:nvPr/>
        </p:nvSpPr>
        <p:spPr>
          <a:xfrm>
            <a:off x="685800" y="3108960"/>
            <a:ext cx="832104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MEASURED IN THIS REPOSITORY</a:t>
            </a:r>
            <a:endParaRPr lang="en-US" sz="1100" dirty="0"/>
          </a:p>
        </p:txBody>
      </p:sp>
      <p:sp>
        <p:nvSpPr>
          <p:cNvPr id="6" name="Shape 4"/>
          <p:cNvSpPr/>
          <p:nvPr/>
        </p:nvSpPr>
        <p:spPr>
          <a:xfrm>
            <a:off x="685800" y="3456432"/>
            <a:ext cx="8321040" cy="0"/>
          </a:xfrm>
          <a:prstGeom prst="line">
            <a:avLst/>
          </a:prstGeom>
          <a:noFill/>
          <a:ln w="9525">
            <a:solidFill>
              <a:srgbClr val="17171C"/>
            </a:solidFill>
            <a:prstDash val="solid"/>
          </a:ln>
        </p:spPr>
      </p:sp>
      <p:sp>
        <p:nvSpPr>
          <p:cNvPr id="7" name="Text 5"/>
          <p:cNvSpPr txBox="1"/>
          <p:nvPr/>
        </p:nvSpPr>
        <p:spPr>
          <a:xfrm>
            <a:off x="685800" y="3529584"/>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B-01</a:t>
            </a:r>
            <a:endParaRPr lang="en-US" sz="1200" dirty="0"/>
          </a:p>
        </p:txBody>
      </p:sp>
      <p:sp>
        <p:nvSpPr>
          <p:cNvPr id="8" name="Text 6"/>
          <p:cNvSpPr txBox="1"/>
          <p:nvPr/>
        </p:nvSpPr>
        <p:spPr>
          <a:xfrm>
            <a:off x="1737360" y="3529584"/>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Policy conformance, 5 mutation classes, no use-case name in code</a:t>
            </a:r>
            <a:endParaRPr lang="en-US" sz="1400" dirty="0"/>
          </a:p>
        </p:txBody>
      </p:sp>
      <p:sp>
        <p:nvSpPr>
          <p:cNvPr id="9" name="Shape 7"/>
          <p:cNvSpPr/>
          <p:nvPr/>
        </p:nvSpPr>
        <p:spPr>
          <a:xfrm>
            <a:off x="685800" y="3941064"/>
            <a:ext cx="8321040" cy="0"/>
          </a:xfrm>
          <a:prstGeom prst="line">
            <a:avLst/>
          </a:prstGeom>
          <a:noFill/>
          <a:ln w="9525">
            <a:solidFill>
              <a:srgbClr val="D9D9DD"/>
            </a:solidFill>
            <a:prstDash val="solid"/>
          </a:ln>
        </p:spPr>
      </p:sp>
      <p:sp>
        <p:nvSpPr>
          <p:cNvPr id="10" name="Text 8"/>
          <p:cNvSpPr txBox="1"/>
          <p:nvPr/>
        </p:nvSpPr>
        <p:spPr>
          <a:xfrm>
            <a:off x="685800" y="3959352"/>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B-02</a:t>
            </a:r>
            <a:endParaRPr lang="en-US" sz="1200" dirty="0"/>
          </a:p>
        </p:txBody>
      </p:sp>
      <p:sp>
        <p:nvSpPr>
          <p:cNvPr id="11" name="Text 9"/>
          <p:cNvSpPr txBox="1"/>
          <p:nvPr/>
        </p:nvSpPr>
        <p:spPr>
          <a:xfrm>
            <a:off x="1737360" y="3959352"/>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PII precision 1.000; recall 0.836 to 0.885</a:t>
            </a:r>
            <a:endParaRPr lang="en-US" sz="1400" dirty="0"/>
          </a:p>
        </p:txBody>
      </p:sp>
      <p:sp>
        <p:nvSpPr>
          <p:cNvPr id="12" name="Shape 10"/>
          <p:cNvSpPr/>
          <p:nvPr/>
        </p:nvSpPr>
        <p:spPr>
          <a:xfrm>
            <a:off x="685800" y="4370832"/>
            <a:ext cx="8321040" cy="0"/>
          </a:xfrm>
          <a:prstGeom prst="line">
            <a:avLst/>
          </a:prstGeom>
          <a:noFill/>
          <a:ln w="9525">
            <a:solidFill>
              <a:srgbClr val="D9D9DD"/>
            </a:solidFill>
            <a:prstDash val="solid"/>
          </a:ln>
        </p:spPr>
      </p:sp>
      <p:sp>
        <p:nvSpPr>
          <p:cNvPr id="13" name="Text 11"/>
          <p:cNvSpPr txBox="1"/>
          <p:nvPr/>
        </p:nvSpPr>
        <p:spPr>
          <a:xfrm>
            <a:off x="685800" y="4389120"/>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B-04</a:t>
            </a:r>
            <a:endParaRPr lang="en-US" sz="1200" dirty="0"/>
          </a:p>
        </p:txBody>
      </p:sp>
      <p:sp>
        <p:nvSpPr>
          <p:cNvPr id="14" name="Text 12"/>
          <p:cNvSpPr txBox="1"/>
          <p:nvPr/>
        </p:nvSpPr>
        <p:spPr>
          <a:xfrm>
            <a:off x="1737360" y="4389120"/>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Injection P 1.000 / R 0.150; toxicity high P 0.400 / R 0.250, blind</a:t>
            </a:r>
            <a:endParaRPr lang="en-US" sz="1400" dirty="0"/>
          </a:p>
        </p:txBody>
      </p:sp>
      <p:sp>
        <p:nvSpPr>
          <p:cNvPr id="15" name="Shape 13"/>
          <p:cNvSpPr/>
          <p:nvPr/>
        </p:nvSpPr>
        <p:spPr>
          <a:xfrm>
            <a:off x="685800" y="4800600"/>
            <a:ext cx="8321040" cy="0"/>
          </a:xfrm>
          <a:prstGeom prst="line">
            <a:avLst/>
          </a:prstGeom>
          <a:noFill/>
          <a:ln w="9525">
            <a:solidFill>
              <a:srgbClr val="D9D9DD"/>
            </a:solidFill>
            <a:prstDash val="solid"/>
          </a:ln>
        </p:spPr>
      </p:sp>
      <p:sp>
        <p:nvSpPr>
          <p:cNvPr id="16" name="Text 14"/>
          <p:cNvSpPr txBox="1"/>
          <p:nvPr/>
        </p:nvSpPr>
        <p:spPr>
          <a:xfrm>
            <a:off x="685800" y="4818888"/>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B-05</a:t>
            </a:r>
            <a:endParaRPr lang="en-US" sz="1200" dirty="0"/>
          </a:p>
        </p:txBody>
      </p:sp>
      <p:sp>
        <p:nvSpPr>
          <p:cNvPr id="17" name="Text 15"/>
          <p:cNvSpPr txBox="1"/>
          <p:nvPr/>
        </p:nvSpPr>
        <p:spPr>
          <a:xfrm>
            <a:off x="1737360" y="4818888"/>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Per-detector latency and the published breach</a:t>
            </a:r>
            <a:endParaRPr lang="en-US" sz="1400" dirty="0"/>
          </a:p>
        </p:txBody>
      </p:sp>
      <p:sp>
        <p:nvSpPr>
          <p:cNvPr id="18" name="Shape 16"/>
          <p:cNvSpPr/>
          <p:nvPr/>
        </p:nvSpPr>
        <p:spPr>
          <a:xfrm>
            <a:off x="685800" y="5230368"/>
            <a:ext cx="8321040" cy="0"/>
          </a:xfrm>
          <a:prstGeom prst="line">
            <a:avLst/>
          </a:prstGeom>
          <a:noFill/>
          <a:ln w="9525">
            <a:solidFill>
              <a:srgbClr val="D9D9DD"/>
            </a:solidFill>
            <a:prstDash val="solid"/>
          </a:ln>
        </p:spPr>
      </p:sp>
      <p:sp>
        <p:nvSpPr>
          <p:cNvPr id="19" name="Text 17"/>
          <p:cNvSpPr txBox="1"/>
          <p:nvPr/>
        </p:nvSpPr>
        <p:spPr>
          <a:xfrm>
            <a:off x="685800" y="5248656"/>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B-06</a:t>
            </a:r>
            <a:endParaRPr lang="en-US" sz="1200" dirty="0"/>
          </a:p>
        </p:txBody>
      </p:sp>
      <p:sp>
        <p:nvSpPr>
          <p:cNvPr id="20" name="Text 18"/>
          <p:cNvSpPr txBox="1"/>
          <p:nvPr/>
        </p:nvSpPr>
        <p:spPr>
          <a:xfrm>
            <a:off x="1737360" y="5248656"/>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Input-lane and per-sentence hold percentiles</a:t>
            </a:r>
            <a:endParaRPr lang="en-US" sz="1400" dirty="0"/>
          </a:p>
        </p:txBody>
      </p:sp>
      <p:sp>
        <p:nvSpPr>
          <p:cNvPr id="21" name="Shape 19"/>
          <p:cNvSpPr/>
          <p:nvPr/>
        </p:nvSpPr>
        <p:spPr>
          <a:xfrm>
            <a:off x="685800" y="5660136"/>
            <a:ext cx="8321040" cy="0"/>
          </a:xfrm>
          <a:prstGeom prst="line">
            <a:avLst/>
          </a:prstGeom>
          <a:noFill/>
          <a:ln w="9525">
            <a:solidFill>
              <a:srgbClr val="D9D9DD"/>
            </a:solidFill>
            <a:prstDash val="solid"/>
          </a:ln>
        </p:spPr>
      </p:sp>
      <p:sp>
        <p:nvSpPr>
          <p:cNvPr id="22" name="Text 20"/>
          <p:cNvSpPr txBox="1"/>
          <p:nvPr/>
        </p:nvSpPr>
        <p:spPr>
          <a:xfrm>
            <a:off x="685800" y="5678424"/>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B-07</a:t>
            </a:r>
            <a:endParaRPr lang="en-US" sz="1200" dirty="0"/>
          </a:p>
        </p:txBody>
      </p:sp>
      <p:sp>
        <p:nvSpPr>
          <p:cNvPr id="23" name="Text 21"/>
          <p:cNvSpPr txBox="1"/>
          <p:nvPr/>
        </p:nvSpPr>
        <p:spPr>
          <a:xfrm>
            <a:off x="1737360" y="5678424"/>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Fault injection, both the in-process and separate-process rates</a:t>
            </a:r>
            <a:endParaRPr lang="en-US" sz="1400" dirty="0"/>
          </a:p>
        </p:txBody>
      </p:sp>
      <p:sp>
        <p:nvSpPr>
          <p:cNvPr id="24" name="Shape 22"/>
          <p:cNvSpPr/>
          <p:nvPr/>
        </p:nvSpPr>
        <p:spPr>
          <a:xfrm>
            <a:off x="685800" y="6089904"/>
            <a:ext cx="8321040" cy="0"/>
          </a:xfrm>
          <a:prstGeom prst="line">
            <a:avLst/>
          </a:prstGeom>
          <a:noFill/>
          <a:ln w="9525">
            <a:solidFill>
              <a:srgbClr val="D9D9DD"/>
            </a:solidFill>
            <a:prstDash val="solid"/>
          </a:ln>
        </p:spPr>
      </p:sp>
      <p:sp>
        <p:nvSpPr>
          <p:cNvPr id="25" name="Text 23"/>
          <p:cNvSpPr txBox="1"/>
          <p:nvPr/>
        </p:nvSpPr>
        <p:spPr>
          <a:xfrm>
            <a:off x="685800" y="6108192"/>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B-08</a:t>
            </a:r>
            <a:endParaRPr lang="en-US" sz="1200" dirty="0"/>
          </a:p>
        </p:txBody>
      </p:sp>
      <p:sp>
        <p:nvSpPr>
          <p:cNvPr id="26" name="Text 24"/>
          <p:cNvSpPr txBox="1"/>
          <p:nvPr/>
        </p:nvSpPr>
        <p:spPr>
          <a:xfrm>
            <a:off x="1737360" y="6108192"/>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Spurious-fault reduction, 2/30 to 0/30</a:t>
            </a:r>
            <a:endParaRPr lang="en-US" sz="1400" dirty="0"/>
          </a:p>
        </p:txBody>
      </p:sp>
      <p:sp>
        <p:nvSpPr>
          <p:cNvPr id="27" name="Shape 25"/>
          <p:cNvSpPr/>
          <p:nvPr/>
        </p:nvSpPr>
        <p:spPr>
          <a:xfrm>
            <a:off x="685800" y="6519672"/>
            <a:ext cx="8321040" cy="0"/>
          </a:xfrm>
          <a:prstGeom prst="line">
            <a:avLst/>
          </a:prstGeom>
          <a:noFill/>
          <a:ln w="9525">
            <a:solidFill>
              <a:srgbClr val="D9D9DD"/>
            </a:solidFill>
            <a:prstDash val="solid"/>
          </a:ln>
        </p:spPr>
      </p:sp>
      <p:sp>
        <p:nvSpPr>
          <p:cNvPr id="28" name="Text 26"/>
          <p:cNvSpPr txBox="1"/>
          <p:nvPr/>
        </p:nvSpPr>
        <p:spPr>
          <a:xfrm>
            <a:off x="685800" y="6537960"/>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B-09</a:t>
            </a:r>
            <a:endParaRPr lang="en-US" sz="1200" dirty="0"/>
          </a:p>
        </p:txBody>
      </p:sp>
      <p:sp>
        <p:nvSpPr>
          <p:cNvPr id="29" name="Text 27"/>
          <p:cNvSpPr txBox="1"/>
          <p:nvPr/>
        </p:nvSpPr>
        <p:spPr>
          <a:xfrm>
            <a:off x="1737360" y="6537960"/>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Corpus freeze, ADR and deviation counts, re-derivation gate</a:t>
            </a:r>
            <a:endParaRPr lang="en-US" sz="1400" dirty="0"/>
          </a:p>
        </p:txBody>
      </p:sp>
      <p:sp>
        <p:nvSpPr>
          <p:cNvPr id="30" name="Shape 28"/>
          <p:cNvSpPr/>
          <p:nvPr/>
        </p:nvSpPr>
        <p:spPr>
          <a:xfrm>
            <a:off x="685800" y="6949440"/>
            <a:ext cx="8321040" cy="0"/>
          </a:xfrm>
          <a:prstGeom prst="line">
            <a:avLst/>
          </a:prstGeom>
          <a:noFill/>
          <a:ln w="9525">
            <a:solidFill>
              <a:srgbClr val="D9D9DD"/>
            </a:solidFill>
            <a:prstDash val="solid"/>
          </a:ln>
        </p:spPr>
      </p:sp>
      <p:sp>
        <p:nvSpPr>
          <p:cNvPr id="31" name="Text 29"/>
          <p:cNvSpPr txBox="1"/>
          <p:nvPr/>
        </p:nvSpPr>
        <p:spPr>
          <a:xfrm>
            <a:off x="685800" y="6967728"/>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B-10</a:t>
            </a:r>
            <a:endParaRPr lang="en-US" sz="1200" dirty="0"/>
          </a:p>
        </p:txBody>
      </p:sp>
      <p:sp>
        <p:nvSpPr>
          <p:cNvPr id="32" name="Text 30"/>
          <p:cNvSpPr txBox="1"/>
          <p:nvPr/>
        </p:nvSpPr>
        <p:spPr>
          <a:xfrm>
            <a:off x="1737360" y="6967728"/>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End-to-end agreement 0.825 to 0.851 over 194 cases</a:t>
            </a:r>
            <a:endParaRPr lang="en-US" sz="1400" dirty="0"/>
          </a:p>
        </p:txBody>
      </p:sp>
      <p:sp>
        <p:nvSpPr>
          <p:cNvPr id="33" name="Shape 31"/>
          <p:cNvSpPr/>
          <p:nvPr/>
        </p:nvSpPr>
        <p:spPr>
          <a:xfrm>
            <a:off x="685800" y="7379208"/>
            <a:ext cx="8321040" cy="0"/>
          </a:xfrm>
          <a:prstGeom prst="line">
            <a:avLst/>
          </a:prstGeom>
          <a:noFill/>
          <a:ln w="9525">
            <a:solidFill>
              <a:srgbClr val="D9D9DD"/>
            </a:solidFill>
            <a:prstDash val="solid"/>
          </a:ln>
        </p:spPr>
      </p:sp>
      <p:sp>
        <p:nvSpPr>
          <p:cNvPr id="34" name="Text 32"/>
          <p:cNvSpPr txBox="1"/>
          <p:nvPr/>
        </p:nvSpPr>
        <p:spPr>
          <a:xfrm>
            <a:off x="685800" y="7397496"/>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B-11</a:t>
            </a:r>
            <a:endParaRPr lang="en-US" sz="1200" dirty="0"/>
          </a:p>
        </p:txBody>
      </p:sp>
      <p:sp>
        <p:nvSpPr>
          <p:cNvPr id="35" name="Text 33"/>
          <p:cNvSpPr txBox="1"/>
          <p:nvPr/>
        </p:nvSpPr>
        <p:spPr>
          <a:xfrm>
            <a:off x="1737360" y="7397496"/>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Zero raw PII in audit evidence</a:t>
            </a:r>
            <a:endParaRPr lang="en-US" sz="1400" dirty="0"/>
          </a:p>
        </p:txBody>
      </p:sp>
      <p:sp>
        <p:nvSpPr>
          <p:cNvPr id="36" name="Shape 34"/>
          <p:cNvSpPr/>
          <p:nvPr/>
        </p:nvSpPr>
        <p:spPr>
          <a:xfrm>
            <a:off x="685800" y="7808976"/>
            <a:ext cx="8321040" cy="0"/>
          </a:xfrm>
          <a:prstGeom prst="line">
            <a:avLst/>
          </a:prstGeom>
          <a:noFill/>
          <a:ln w="9525">
            <a:solidFill>
              <a:srgbClr val="D9D9DD"/>
            </a:solidFill>
            <a:prstDash val="solid"/>
          </a:ln>
        </p:spPr>
      </p:sp>
      <p:sp>
        <p:nvSpPr>
          <p:cNvPr id="37" name="Text 35"/>
          <p:cNvSpPr txBox="1"/>
          <p:nvPr/>
        </p:nvSpPr>
        <p:spPr>
          <a:xfrm>
            <a:off x="685800" y="7827264"/>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B-12</a:t>
            </a:r>
            <a:endParaRPr lang="en-US" sz="1200" dirty="0"/>
          </a:p>
        </p:txBody>
      </p:sp>
      <p:sp>
        <p:nvSpPr>
          <p:cNvPr id="38" name="Text 36"/>
          <p:cNvSpPr txBox="1"/>
          <p:nvPr/>
        </p:nvSpPr>
        <p:spPr>
          <a:xfrm>
            <a:off x="1737360" y="7827264"/>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Calibration band inversion across five seeds</a:t>
            </a:r>
            <a:endParaRPr lang="en-US" sz="1400" dirty="0"/>
          </a:p>
        </p:txBody>
      </p:sp>
      <p:sp>
        <p:nvSpPr>
          <p:cNvPr id="39" name="Shape 37"/>
          <p:cNvSpPr/>
          <p:nvPr/>
        </p:nvSpPr>
        <p:spPr>
          <a:xfrm>
            <a:off x="685800" y="8238744"/>
            <a:ext cx="8321040" cy="0"/>
          </a:xfrm>
          <a:prstGeom prst="line">
            <a:avLst/>
          </a:prstGeom>
          <a:noFill/>
          <a:ln w="9525">
            <a:solidFill>
              <a:srgbClr val="D9D9DD"/>
            </a:solidFill>
            <a:prstDash val="solid"/>
          </a:ln>
        </p:spPr>
      </p:sp>
      <p:sp>
        <p:nvSpPr>
          <p:cNvPr id="40" name="Text 38"/>
          <p:cNvSpPr txBox="1"/>
          <p:nvPr/>
        </p:nvSpPr>
        <p:spPr>
          <a:xfrm>
            <a:off x="685800" y="8257032"/>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B-14</a:t>
            </a:r>
            <a:endParaRPr lang="en-US" sz="1200" dirty="0"/>
          </a:p>
        </p:txBody>
      </p:sp>
      <p:sp>
        <p:nvSpPr>
          <p:cNvPr id="41" name="Text 39"/>
          <p:cNvSpPr txBox="1"/>
          <p:nvPr/>
        </p:nvSpPr>
        <p:spPr>
          <a:xfrm>
            <a:off x="1737360" y="8257032"/>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Hidden-token injection caught by the accounting canary</a:t>
            </a:r>
            <a:endParaRPr lang="en-US" sz="1400" dirty="0"/>
          </a:p>
        </p:txBody>
      </p:sp>
      <p:sp>
        <p:nvSpPr>
          <p:cNvPr id="42" name="Shape 40"/>
          <p:cNvSpPr/>
          <p:nvPr/>
        </p:nvSpPr>
        <p:spPr>
          <a:xfrm>
            <a:off x="685800" y="8668512"/>
            <a:ext cx="8321040" cy="0"/>
          </a:xfrm>
          <a:prstGeom prst="line">
            <a:avLst/>
          </a:prstGeom>
          <a:noFill/>
          <a:ln w="9525">
            <a:solidFill>
              <a:srgbClr val="D9D9DD"/>
            </a:solidFill>
            <a:prstDash val="solid"/>
          </a:ln>
        </p:spPr>
      </p:sp>
      <p:sp>
        <p:nvSpPr>
          <p:cNvPr id="43" name="Text 41"/>
          <p:cNvSpPr txBox="1"/>
          <p:nvPr/>
        </p:nvSpPr>
        <p:spPr>
          <a:xfrm>
            <a:off x="9281160" y="3108960"/>
            <a:ext cx="8321040" cy="274320"/>
          </a:xfrm>
          <a:prstGeom prst="rect">
            <a:avLst/>
          </a:prstGeom>
          <a:noFill/>
          <a:ln/>
        </p:spPr>
        <p:txBody>
          <a:bodyPr wrap="square" lIns="0" tIns="0" rIns="0" bIns="0" rtlCol="0" anchor="ctr"/>
          <a:lstStyle/>
          <a:p>
            <a:pPr indent="0" marL="0">
              <a:buNone/>
            </a:pPr>
            <a:r>
              <a:rPr lang="en-US" sz="1100" b="1" spc="150" kern="0" dirty="0">
                <a:solidFill>
                  <a:srgbClr val="75758A"/>
                </a:solidFill>
                <a:latin typeface="Courier New"/>
                <a:ea typeface="Courier New"/>
                <a:cs typeface="Courier New"/>
              </a:rPr>
              <a:t>EXTERNAL SOURCES</a:t>
            </a:r>
            <a:endParaRPr lang="en-US" sz="1100" dirty="0"/>
          </a:p>
        </p:txBody>
      </p:sp>
      <p:sp>
        <p:nvSpPr>
          <p:cNvPr id="44" name="Shape 42"/>
          <p:cNvSpPr/>
          <p:nvPr/>
        </p:nvSpPr>
        <p:spPr>
          <a:xfrm>
            <a:off x="9281160" y="3456432"/>
            <a:ext cx="8321040" cy="0"/>
          </a:xfrm>
          <a:prstGeom prst="line">
            <a:avLst/>
          </a:prstGeom>
          <a:noFill/>
          <a:ln w="9525">
            <a:solidFill>
              <a:srgbClr val="17171C"/>
            </a:solidFill>
            <a:prstDash val="solid"/>
          </a:ln>
        </p:spPr>
      </p:sp>
      <p:sp>
        <p:nvSpPr>
          <p:cNvPr id="45" name="Text 43"/>
          <p:cNvSpPr txBox="1"/>
          <p:nvPr/>
        </p:nvSpPr>
        <p:spPr>
          <a:xfrm>
            <a:off x="9281160" y="3529584"/>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M-01</a:t>
            </a:r>
            <a:endParaRPr lang="en-US" sz="1200" dirty="0"/>
          </a:p>
        </p:txBody>
      </p:sp>
      <p:sp>
        <p:nvSpPr>
          <p:cNvPr id="46" name="Text 44"/>
          <p:cNvSpPr txBox="1"/>
          <p:nvPr/>
        </p:nvSpPr>
        <p:spPr>
          <a:xfrm>
            <a:off x="10332720" y="3529584"/>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EU AI Act penalties and phase-in. eur-lex, Jul 2024 / Jul 2026</a:t>
            </a:r>
            <a:endParaRPr lang="en-US" sz="1400" dirty="0"/>
          </a:p>
        </p:txBody>
      </p:sp>
      <p:sp>
        <p:nvSpPr>
          <p:cNvPr id="47" name="Shape 45"/>
          <p:cNvSpPr/>
          <p:nvPr/>
        </p:nvSpPr>
        <p:spPr>
          <a:xfrm>
            <a:off x="9281160" y="3941064"/>
            <a:ext cx="8321040" cy="0"/>
          </a:xfrm>
          <a:prstGeom prst="line">
            <a:avLst/>
          </a:prstGeom>
          <a:noFill/>
          <a:ln w="9525">
            <a:solidFill>
              <a:srgbClr val="D9D9DD"/>
            </a:solidFill>
            <a:prstDash val="solid"/>
          </a:ln>
        </p:spPr>
      </p:sp>
      <p:sp>
        <p:nvSpPr>
          <p:cNvPr id="48" name="Text 46"/>
          <p:cNvSpPr txBox="1"/>
          <p:nvPr/>
        </p:nvSpPr>
        <p:spPr>
          <a:xfrm>
            <a:off x="9281160" y="3959352"/>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M-02</a:t>
            </a:r>
            <a:endParaRPr lang="en-US" sz="1200" dirty="0"/>
          </a:p>
        </p:txBody>
      </p:sp>
      <p:sp>
        <p:nvSpPr>
          <p:cNvPr id="49" name="Text 47"/>
          <p:cNvSpPr txBox="1"/>
          <p:nvPr/>
        </p:nvSpPr>
        <p:spPr>
          <a:xfrm>
            <a:off x="10332720" y="3959352"/>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DPDP Act penalties; rules notified. MeitY / PIB, Nov 2025</a:t>
            </a:r>
            <a:endParaRPr lang="en-US" sz="1400" dirty="0"/>
          </a:p>
        </p:txBody>
      </p:sp>
      <p:sp>
        <p:nvSpPr>
          <p:cNvPr id="50" name="Shape 48"/>
          <p:cNvSpPr/>
          <p:nvPr/>
        </p:nvSpPr>
        <p:spPr>
          <a:xfrm>
            <a:off x="9281160" y="4370832"/>
            <a:ext cx="8321040" cy="0"/>
          </a:xfrm>
          <a:prstGeom prst="line">
            <a:avLst/>
          </a:prstGeom>
          <a:noFill/>
          <a:ln w="9525">
            <a:solidFill>
              <a:srgbClr val="D9D9DD"/>
            </a:solidFill>
            <a:prstDash val="solid"/>
          </a:ln>
        </p:spPr>
      </p:sp>
      <p:sp>
        <p:nvSpPr>
          <p:cNvPr id="51" name="Text 49"/>
          <p:cNvSpPr txBox="1"/>
          <p:nvPr/>
        </p:nvSpPr>
        <p:spPr>
          <a:xfrm>
            <a:off x="9281160" y="4389120"/>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M-03</a:t>
            </a:r>
            <a:endParaRPr lang="en-US" sz="1200" dirty="0"/>
          </a:p>
        </p:txBody>
      </p:sp>
      <p:sp>
        <p:nvSpPr>
          <p:cNvPr id="52" name="Text 50"/>
          <p:cNvSpPr txBox="1"/>
          <p:nvPr/>
        </p:nvSpPr>
        <p:spPr>
          <a:xfrm>
            <a:off x="10332720" y="4389120"/>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Adoption, pilot failure, 5.0 use cases. McKinsey / Gartner, 2025</a:t>
            </a:r>
            <a:endParaRPr lang="en-US" sz="1400" dirty="0"/>
          </a:p>
        </p:txBody>
      </p:sp>
      <p:sp>
        <p:nvSpPr>
          <p:cNvPr id="53" name="Shape 51"/>
          <p:cNvSpPr/>
          <p:nvPr/>
        </p:nvSpPr>
        <p:spPr>
          <a:xfrm>
            <a:off x="9281160" y="4800600"/>
            <a:ext cx="8321040" cy="0"/>
          </a:xfrm>
          <a:prstGeom prst="line">
            <a:avLst/>
          </a:prstGeom>
          <a:noFill/>
          <a:ln w="9525">
            <a:solidFill>
              <a:srgbClr val="D9D9DD"/>
            </a:solidFill>
            <a:prstDash val="solid"/>
          </a:ln>
        </p:spPr>
      </p:sp>
      <p:sp>
        <p:nvSpPr>
          <p:cNvPr id="54" name="Text 52"/>
          <p:cNvSpPr txBox="1"/>
          <p:nvPr/>
        </p:nvSpPr>
        <p:spPr>
          <a:xfrm>
            <a:off x="9281160" y="4818888"/>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M-04</a:t>
            </a:r>
            <a:endParaRPr lang="en-US" sz="1200" dirty="0"/>
          </a:p>
        </p:txBody>
      </p:sp>
      <p:sp>
        <p:nvSpPr>
          <p:cNvPr id="55" name="Text 53"/>
          <p:cNvSpPr txBox="1"/>
          <p:nvPr/>
        </p:nvSpPr>
        <p:spPr>
          <a:xfrm>
            <a:off x="10332720" y="4818888"/>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Market size and CAGR, both estimates. MnM; Grand View</a:t>
            </a:r>
            <a:endParaRPr lang="en-US" sz="1400" dirty="0"/>
          </a:p>
        </p:txBody>
      </p:sp>
      <p:sp>
        <p:nvSpPr>
          <p:cNvPr id="56" name="Shape 54"/>
          <p:cNvSpPr/>
          <p:nvPr/>
        </p:nvSpPr>
        <p:spPr>
          <a:xfrm>
            <a:off x="9281160" y="5230368"/>
            <a:ext cx="8321040" cy="0"/>
          </a:xfrm>
          <a:prstGeom prst="line">
            <a:avLst/>
          </a:prstGeom>
          <a:noFill/>
          <a:ln w="9525">
            <a:solidFill>
              <a:srgbClr val="D9D9DD"/>
            </a:solidFill>
            <a:prstDash val="solid"/>
          </a:ln>
        </p:spPr>
      </p:sp>
      <p:sp>
        <p:nvSpPr>
          <p:cNvPr id="57" name="Text 55"/>
          <p:cNvSpPr txBox="1"/>
          <p:nvPr/>
        </p:nvSpPr>
        <p:spPr>
          <a:xfrm>
            <a:off x="9281160" y="5248656"/>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M-05</a:t>
            </a:r>
            <a:endParaRPr lang="en-US" sz="1200" dirty="0"/>
          </a:p>
        </p:txBody>
      </p:sp>
      <p:sp>
        <p:nvSpPr>
          <p:cNvPr id="58" name="Text 56"/>
          <p:cNvSpPr txBox="1"/>
          <p:nvPr/>
        </p:nvSpPr>
        <p:spPr>
          <a:xfrm>
            <a:off x="10332720" y="5248656"/>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OWASP LLM01 and LLM06; Lakera benchmark. Aug 2026</a:t>
            </a:r>
            <a:endParaRPr lang="en-US" sz="1400" dirty="0"/>
          </a:p>
        </p:txBody>
      </p:sp>
      <p:sp>
        <p:nvSpPr>
          <p:cNvPr id="59" name="Shape 57"/>
          <p:cNvSpPr/>
          <p:nvPr/>
        </p:nvSpPr>
        <p:spPr>
          <a:xfrm>
            <a:off x="9281160" y="5660136"/>
            <a:ext cx="8321040" cy="0"/>
          </a:xfrm>
          <a:prstGeom prst="line">
            <a:avLst/>
          </a:prstGeom>
          <a:noFill/>
          <a:ln w="9525">
            <a:solidFill>
              <a:srgbClr val="D9D9DD"/>
            </a:solidFill>
            <a:prstDash val="solid"/>
          </a:ln>
        </p:spPr>
      </p:sp>
      <p:sp>
        <p:nvSpPr>
          <p:cNvPr id="60" name="Text 58"/>
          <p:cNvSpPr txBox="1"/>
          <p:nvPr/>
        </p:nvSpPr>
        <p:spPr>
          <a:xfrm>
            <a:off x="9281160" y="5678424"/>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M-06</a:t>
            </a:r>
            <a:endParaRPr lang="en-US" sz="1200" dirty="0"/>
          </a:p>
        </p:txBody>
      </p:sp>
      <p:sp>
        <p:nvSpPr>
          <p:cNvPr id="61" name="Text 59"/>
          <p:cNvSpPr txBox="1"/>
          <p:nvPr/>
        </p:nvSpPr>
        <p:spPr>
          <a:xfrm>
            <a:off x="10332720" y="5678424"/>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Flagship to mini price premium. OpenAI pricing, Aug 2026</a:t>
            </a:r>
            <a:endParaRPr lang="en-US" sz="1400" dirty="0"/>
          </a:p>
        </p:txBody>
      </p:sp>
      <p:sp>
        <p:nvSpPr>
          <p:cNvPr id="62" name="Shape 60"/>
          <p:cNvSpPr/>
          <p:nvPr/>
        </p:nvSpPr>
        <p:spPr>
          <a:xfrm>
            <a:off x="9281160" y="6089904"/>
            <a:ext cx="8321040" cy="0"/>
          </a:xfrm>
          <a:prstGeom prst="line">
            <a:avLst/>
          </a:prstGeom>
          <a:noFill/>
          <a:ln w="9525">
            <a:solidFill>
              <a:srgbClr val="D9D9DD"/>
            </a:solidFill>
            <a:prstDash val="solid"/>
          </a:ln>
        </p:spPr>
      </p:sp>
      <p:sp>
        <p:nvSpPr>
          <p:cNvPr id="63" name="Text 61"/>
          <p:cNvSpPr txBox="1"/>
          <p:nvPr/>
        </p:nvSpPr>
        <p:spPr>
          <a:xfrm>
            <a:off x="9281160" y="6108192"/>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M-07</a:t>
            </a:r>
            <a:endParaRPr lang="en-US" sz="1200" dirty="0"/>
          </a:p>
        </p:txBody>
      </p:sp>
      <p:sp>
        <p:nvSpPr>
          <p:cNvPr id="64" name="Text 62"/>
          <p:cNvSpPr txBox="1"/>
          <p:nvPr/>
        </p:nvSpPr>
        <p:spPr>
          <a:xfrm>
            <a:off x="10332720" y="6108192"/>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Competitor funding; hyperscaler support. Tracxn, Crunchbase</a:t>
            </a:r>
            <a:endParaRPr lang="en-US" sz="1400" dirty="0"/>
          </a:p>
        </p:txBody>
      </p:sp>
      <p:sp>
        <p:nvSpPr>
          <p:cNvPr id="65" name="Shape 63"/>
          <p:cNvSpPr/>
          <p:nvPr/>
        </p:nvSpPr>
        <p:spPr>
          <a:xfrm>
            <a:off x="9281160" y="6519672"/>
            <a:ext cx="8321040" cy="0"/>
          </a:xfrm>
          <a:prstGeom prst="line">
            <a:avLst/>
          </a:prstGeom>
          <a:noFill/>
          <a:ln w="9525">
            <a:solidFill>
              <a:srgbClr val="D9D9DD"/>
            </a:solidFill>
            <a:prstDash val="solid"/>
          </a:ln>
        </p:spPr>
      </p:sp>
      <p:sp>
        <p:nvSpPr>
          <p:cNvPr id="66" name="Text 64"/>
          <p:cNvSpPr txBox="1"/>
          <p:nvPr/>
        </p:nvSpPr>
        <p:spPr>
          <a:xfrm>
            <a:off x="9281160" y="6537960"/>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M-08</a:t>
            </a:r>
            <a:endParaRPr lang="en-US" sz="1200" dirty="0"/>
          </a:p>
        </p:txBody>
      </p:sp>
      <p:sp>
        <p:nvSpPr>
          <p:cNvPr id="67" name="Text 65"/>
          <p:cNvSpPr txBox="1"/>
          <p:nvPr/>
        </p:nvSpPr>
        <p:spPr>
          <a:xfrm>
            <a:off x="10332720" y="6537960"/>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Presidio 0.431 vs fine-tuned 0.855. arXiv:2608.02616v1</a:t>
            </a:r>
            <a:endParaRPr lang="en-US" sz="1400" dirty="0"/>
          </a:p>
        </p:txBody>
      </p:sp>
      <p:sp>
        <p:nvSpPr>
          <p:cNvPr id="68" name="Shape 66"/>
          <p:cNvSpPr/>
          <p:nvPr/>
        </p:nvSpPr>
        <p:spPr>
          <a:xfrm>
            <a:off x="9281160" y="6949440"/>
            <a:ext cx="8321040" cy="0"/>
          </a:xfrm>
          <a:prstGeom prst="line">
            <a:avLst/>
          </a:prstGeom>
          <a:noFill/>
          <a:ln w="9525">
            <a:solidFill>
              <a:srgbClr val="D9D9DD"/>
            </a:solidFill>
            <a:prstDash val="solid"/>
          </a:ln>
        </p:spPr>
      </p:sp>
      <p:sp>
        <p:nvSpPr>
          <p:cNvPr id="69" name="Text 67"/>
          <p:cNvSpPr txBox="1"/>
          <p:nvPr/>
        </p:nvSpPr>
        <p:spPr>
          <a:xfrm>
            <a:off x="9281160" y="6967728"/>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M-09</a:t>
            </a:r>
            <a:endParaRPr lang="en-US" sz="1200" dirty="0"/>
          </a:p>
        </p:txBody>
      </p:sp>
      <p:sp>
        <p:nvSpPr>
          <p:cNvPr id="70" name="Text 68"/>
          <p:cNvSpPr txBox="1"/>
          <p:nvPr/>
        </p:nvSpPr>
        <p:spPr>
          <a:xfrm>
            <a:off x="10332720" y="6967728"/>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Indian GCC ecosystem scale. NASSCOM / MeitY, Nov 2025</a:t>
            </a:r>
            <a:endParaRPr lang="en-US" sz="1400" dirty="0"/>
          </a:p>
        </p:txBody>
      </p:sp>
      <p:sp>
        <p:nvSpPr>
          <p:cNvPr id="71" name="Shape 69"/>
          <p:cNvSpPr/>
          <p:nvPr/>
        </p:nvSpPr>
        <p:spPr>
          <a:xfrm>
            <a:off x="9281160" y="7379208"/>
            <a:ext cx="8321040" cy="0"/>
          </a:xfrm>
          <a:prstGeom prst="line">
            <a:avLst/>
          </a:prstGeom>
          <a:noFill/>
          <a:ln w="9525">
            <a:solidFill>
              <a:srgbClr val="D9D9DD"/>
            </a:solidFill>
            <a:prstDash val="solid"/>
          </a:ln>
        </p:spPr>
      </p:sp>
      <p:sp>
        <p:nvSpPr>
          <p:cNvPr id="72" name="Text 70"/>
          <p:cNvSpPr txBox="1"/>
          <p:nvPr/>
        </p:nvSpPr>
        <p:spPr>
          <a:xfrm>
            <a:off x="9281160" y="7397496"/>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M-10</a:t>
            </a:r>
            <a:endParaRPr lang="en-US" sz="1200" dirty="0"/>
          </a:p>
        </p:txBody>
      </p:sp>
      <p:sp>
        <p:nvSpPr>
          <p:cNvPr id="73" name="Text 71"/>
          <p:cNvSpPr txBox="1"/>
          <p:nvPr/>
        </p:nvSpPr>
        <p:spPr>
          <a:xfrm>
            <a:off x="10332720" y="7397496"/>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Accenture Data and AI investment. Accenture Newsroom</a:t>
            </a:r>
            <a:endParaRPr lang="en-US" sz="1400" dirty="0"/>
          </a:p>
        </p:txBody>
      </p:sp>
      <p:sp>
        <p:nvSpPr>
          <p:cNvPr id="74" name="Shape 72"/>
          <p:cNvSpPr/>
          <p:nvPr/>
        </p:nvSpPr>
        <p:spPr>
          <a:xfrm>
            <a:off x="9281160" y="7808976"/>
            <a:ext cx="8321040" cy="0"/>
          </a:xfrm>
          <a:prstGeom prst="line">
            <a:avLst/>
          </a:prstGeom>
          <a:noFill/>
          <a:ln w="9525">
            <a:solidFill>
              <a:srgbClr val="D9D9DD"/>
            </a:solidFill>
            <a:prstDash val="solid"/>
          </a:ln>
        </p:spPr>
      </p:sp>
      <p:sp>
        <p:nvSpPr>
          <p:cNvPr id="75" name="Text 73"/>
          <p:cNvSpPr txBox="1"/>
          <p:nvPr/>
        </p:nvSpPr>
        <p:spPr>
          <a:xfrm>
            <a:off x="9281160" y="7827264"/>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M-11</a:t>
            </a:r>
            <a:endParaRPr lang="en-US" sz="1200" dirty="0"/>
          </a:p>
        </p:txBody>
      </p:sp>
      <p:sp>
        <p:nvSpPr>
          <p:cNvPr id="76" name="Text 74"/>
          <p:cNvSpPr txBox="1"/>
          <p:nvPr/>
        </p:nvSpPr>
        <p:spPr>
          <a:xfrm>
            <a:off x="10332720" y="7827264"/>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Inline guardrail overhead budget. Lakera; AWS Bedrock</a:t>
            </a:r>
            <a:endParaRPr lang="en-US" sz="1400" dirty="0"/>
          </a:p>
        </p:txBody>
      </p:sp>
      <p:sp>
        <p:nvSpPr>
          <p:cNvPr id="77" name="Shape 75"/>
          <p:cNvSpPr/>
          <p:nvPr/>
        </p:nvSpPr>
        <p:spPr>
          <a:xfrm>
            <a:off x="9281160" y="8238744"/>
            <a:ext cx="8321040" cy="0"/>
          </a:xfrm>
          <a:prstGeom prst="line">
            <a:avLst/>
          </a:prstGeom>
          <a:noFill/>
          <a:ln w="9525">
            <a:solidFill>
              <a:srgbClr val="D9D9DD"/>
            </a:solidFill>
            <a:prstDash val="solid"/>
          </a:ln>
        </p:spPr>
      </p:sp>
      <p:sp>
        <p:nvSpPr>
          <p:cNvPr id="78" name="Text 76"/>
          <p:cNvSpPr txBox="1"/>
          <p:nvPr/>
        </p:nvSpPr>
        <p:spPr>
          <a:xfrm>
            <a:off x="9281160" y="8257032"/>
            <a:ext cx="1005840" cy="402336"/>
          </a:xfrm>
          <a:prstGeom prst="rect">
            <a:avLst/>
          </a:prstGeom>
          <a:noFill/>
          <a:ln/>
        </p:spPr>
        <p:txBody>
          <a:bodyPr wrap="square" lIns="0" tIns="0" rIns="0" bIns="0" rtlCol="0" anchor="ctr"/>
          <a:lstStyle/>
          <a:p>
            <a:pPr indent="0" marL="0">
              <a:buNone/>
            </a:pPr>
            <a:r>
              <a:rPr lang="en-US" sz="1200" b="1" dirty="0">
                <a:solidFill>
                  <a:srgbClr val="17171C"/>
                </a:solidFill>
                <a:latin typeface="Courier New"/>
                <a:ea typeface="Courier New"/>
                <a:cs typeface="Courier New"/>
              </a:rPr>
              <a:t>M-12</a:t>
            </a:r>
            <a:endParaRPr lang="en-US" sz="1200" dirty="0"/>
          </a:p>
        </p:txBody>
      </p:sp>
      <p:sp>
        <p:nvSpPr>
          <p:cNvPr id="79" name="Text 77"/>
          <p:cNvSpPr txBox="1"/>
          <p:nvPr/>
        </p:nvSpPr>
        <p:spPr>
          <a:xfrm>
            <a:off x="10332720" y="8257032"/>
            <a:ext cx="7269480" cy="402336"/>
          </a:xfrm>
          <a:prstGeom prst="rect">
            <a:avLst/>
          </a:prstGeom>
          <a:noFill/>
          <a:ln/>
        </p:spPr>
        <p:txBody>
          <a:bodyPr wrap="square" lIns="0" tIns="0" rIns="0" bIns="0" rtlCol="0" anchor="ctr"/>
          <a:lstStyle/>
          <a:p>
            <a:pPr indent="0" marL="0">
              <a:buNone/>
            </a:pPr>
            <a:r>
              <a:rPr lang="en-US" sz="1400" dirty="0">
                <a:solidFill>
                  <a:srgbClr val="212121"/>
                </a:solidFill>
                <a:latin typeface="Arial"/>
                <a:ea typeface="Arial"/>
                <a:cs typeface="Arial"/>
              </a:rPr>
              <a:t>High-risk share and EU compliance cost. appliedAI / DIGITALEUROPE</a:t>
            </a:r>
            <a:endParaRPr lang="en-US" sz="1400" dirty="0"/>
          </a:p>
        </p:txBody>
      </p:sp>
      <p:sp>
        <p:nvSpPr>
          <p:cNvPr id="80" name="Shape 78"/>
          <p:cNvSpPr/>
          <p:nvPr/>
        </p:nvSpPr>
        <p:spPr>
          <a:xfrm>
            <a:off x="9281160" y="8668512"/>
            <a:ext cx="8321040" cy="0"/>
          </a:xfrm>
          <a:prstGeom prst="line">
            <a:avLst/>
          </a:prstGeom>
          <a:noFill/>
          <a:ln w="9525">
            <a:solidFill>
              <a:srgbClr val="D9D9DD"/>
            </a:solidFill>
            <a:prstDash val="solid"/>
          </a:ln>
        </p:spPr>
      </p:sp>
      <p:sp>
        <p:nvSpPr>
          <p:cNvPr id="81" name="Text 79"/>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93939F"/>
                </a:solidFill>
                <a:latin typeface="Courier New"/>
                <a:ea typeface="Courier New"/>
                <a:cs typeface="Courier New"/>
              </a:rPr>
              <a:t>B tags: python -m eval.run_all, eval.bench_latency, eval.fault_injection</a:t>
            </a:r>
            <a:pPr indent="0" marL="0">
              <a:buNone/>
            </a:pPr>
            <a:r>
              <a:rPr lang="en-US" sz="1200" dirty="0">
                <a:solidFill>
                  <a:srgbClr val="93939F"/>
                </a:solidFill>
                <a:latin typeface="Arial"/>
                <a:ea typeface="Arial"/>
                <a:cs typeface="Arial"/>
              </a:rPr>
              <a:t>  ·  </a:t>
            </a:r>
            <a:pPr indent="0" marL="0">
              <a:buNone/>
            </a:pPr>
            <a:r>
              <a:rPr lang="en-US" sz="1200" dirty="0">
                <a:solidFill>
                  <a:srgbClr val="93939F"/>
                </a:solidFill>
                <a:latin typeface="Arial"/>
                <a:ea typeface="Arial"/>
                <a:cs typeface="Arial"/>
              </a:rPr>
              <a:t>B-03 and B-13 are cited in the proposal, not in this deck</a:t>
            </a:r>
            <a:endParaRPr lang="en-US" sz="1200" dirty="0"/>
          </a:p>
        </p:txBody>
      </p:sp>
      <p:sp>
        <p:nvSpPr>
          <p:cNvPr id="82" name="Text 80"/>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Copyright © 2026 Accenture. All rights reserved.</a:t>
            </a:r>
            <a:endParaRPr lang="en-US" sz="1000" dirty="0"/>
          </a:p>
        </p:txBody>
      </p:sp>
      <p:sp>
        <p:nvSpPr>
          <p:cNvPr id="83" name="Text 81"/>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93939F"/>
                </a:solidFill>
                <a:latin typeface="Arial"/>
                <a:ea typeface="Arial"/>
                <a:cs typeface="Arial"/>
              </a:rPr>
              <a:t>27</a:t>
            </a:r>
            <a:endParaRPr lang="en-US" sz="10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7171C"/>
        </a:solidFill>
      </p:bgPr>
    </p:bg>
    <p:spTree>
      <p:nvGrpSpPr>
        <p:cNvPr id="1" name=""/>
        <p:cNvGrpSpPr/>
        <p:nvPr/>
      </p:nvGrpSpPr>
      <p:grpSpPr/>
      <p:sp>
        <p:nvSpPr>
          <p:cNvPr id="2" name="Text 0"/>
          <p:cNvSpPr txBox="1"/>
          <p:nvPr/>
        </p:nvSpPr>
        <p:spPr>
          <a:xfrm>
            <a:off x="685800" y="685800"/>
            <a:ext cx="10972800" cy="274320"/>
          </a:xfrm>
          <a:prstGeom prst="rect">
            <a:avLst/>
          </a:prstGeom>
          <a:noFill/>
          <a:ln/>
        </p:spPr>
        <p:txBody>
          <a:bodyPr wrap="square" lIns="0" tIns="0" rIns="0" bIns="0" rtlCol="0" anchor="ctr"/>
          <a:lstStyle/>
          <a:p>
            <a:pPr indent="0" marL="0">
              <a:buNone/>
            </a:pPr>
            <a:r>
              <a:rPr lang="en-US" sz="1200" b="1" spc="150" kern="0" dirty="0">
                <a:solidFill>
                  <a:srgbClr val="C77DFF"/>
                </a:solidFill>
                <a:latin typeface="Courier New"/>
                <a:ea typeface="Courier New"/>
                <a:cs typeface="Courier New"/>
              </a:rPr>
              <a:t>THE ASK</a:t>
            </a:r>
            <a:endParaRPr lang="en-US" sz="1200" dirty="0"/>
          </a:p>
        </p:txBody>
      </p:sp>
      <p:sp>
        <p:nvSpPr>
          <p:cNvPr id="3" name="Text 1"/>
          <p:cNvSpPr txBox="1"/>
          <p:nvPr/>
        </p:nvSpPr>
        <p:spPr>
          <a:xfrm>
            <a:off x="685800" y="1051560"/>
            <a:ext cx="14630400" cy="2011680"/>
          </a:xfrm>
          <a:prstGeom prst="rect">
            <a:avLst/>
          </a:prstGeom>
          <a:noFill/>
          <a:ln/>
        </p:spPr>
        <p:txBody>
          <a:bodyPr wrap="square" lIns="0" tIns="0" rIns="0" bIns="0" rtlCol="0" anchor="t"/>
          <a:lstStyle/>
          <a:p>
            <a:pPr indent="0" marL="0">
              <a:lnSpc>
                <a:spcPct val="100000"/>
              </a:lnSpc>
              <a:buNone/>
            </a:pPr>
            <a:r>
              <a:rPr lang="en-US" sz="5400" spc="-200" kern="0" dirty="0">
                <a:solidFill>
                  <a:srgbClr val="FFFFFF"/>
                </a:solidFill>
                <a:latin typeface="Arial"/>
                <a:ea typeface="Arial"/>
                <a:cs typeface="Arial"/>
              </a:rPr>
              <a:t>Back it, and we put it in front of</a:t>
            </a:r>
            <a:endParaRPr lang="en-US" sz="5400" dirty="0"/>
          </a:p>
          <a:p>
            <a:pPr indent="0" marL="0">
              <a:lnSpc>
                <a:spcPct val="100000"/>
              </a:lnSpc>
              <a:buNone/>
            </a:pPr>
            <a:r>
              <a:rPr lang="en-US" sz="5400" spc="-200" kern="0" dirty="0">
                <a:solidFill>
                  <a:srgbClr val="FFFFFF"/>
                </a:solidFill>
                <a:latin typeface="Arial"/>
                <a:ea typeface="Arial"/>
                <a:cs typeface="Arial"/>
              </a:rPr>
              <a:t>three design partners.</a:t>
            </a:r>
            <a:endParaRPr lang="en-US" sz="5400" dirty="0"/>
          </a:p>
        </p:txBody>
      </p:sp>
      <p:sp>
        <p:nvSpPr>
          <p:cNvPr id="4" name="Shape 2"/>
          <p:cNvSpPr/>
          <p:nvPr/>
        </p:nvSpPr>
        <p:spPr>
          <a:xfrm>
            <a:off x="685800" y="3794760"/>
            <a:ext cx="5349240" cy="2743200"/>
          </a:xfrm>
          <a:prstGeom prst="roundRect">
            <a:avLst>
              <a:gd name="adj" fmla="val 4000"/>
            </a:avLst>
          </a:prstGeom>
          <a:solidFill>
            <a:srgbClr val="23232A"/>
          </a:solidFill>
          <a:ln w="12700">
            <a:solidFill>
              <a:srgbClr val="23232A"/>
            </a:solidFill>
            <a:prstDash val="solid"/>
          </a:ln>
        </p:spPr>
      </p:sp>
      <p:sp>
        <p:nvSpPr>
          <p:cNvPr id="5" name="Text 3"/>
          <p:cNvSpPr txBox="1"/>
          <p:nvPr/>
        </p:nvSpPr>
        <p:spPr>
          <a:xfrm>
            <a:off x="1005840" y="4041648"/>
            <a:ext cx="1097280" cy="292608"/>
          </a:xfrm>
          <a:prstGeom prst="rect">
            <a:avLst/>
          </a:prstGeom>
          <a:noFill/>
          <a:ln/>
        </p:spPr>
        <p:txBody>
          <a:bodyPr wrap="square" lIns="0" tIns="0" rIns="0" bIns="0" rtlCol="0" anchor="ctr"/>
          <a:lstStyle/>
          <a:p>
            <a:pPr indent="0" marL="0">
              <a:buNone/>
            </a:pPr>
            <a:r>
              <a:rPr lang="en-US" sz="1200" b="1" spc="150" kern="0" dirty="0">
                <a:solidFill>
                  <a:srgbClr val="C77DFF"/>
                </a:solidFill>
                <a:latin typeface="Courier New"/>
                <a:ea typeface="Courier New"/>
                <a:cs typeface="Courier New"/>
              </a:rPr>
              <a:t>01</a:t>
            </a:r>
            <a:endParaRPr lang="en-US" sz="1200" dirty="0"/>
          </a:p>
        </p:txBody>
      </p:sp>
      <p:sp>
        <p:nvSpPr>
          <p:cNvPr id="6" name="Text 4"/>
          <p:cNvSpPr txBox="1"/>
          <p:nvPr/>
        </p:nvSpPr>
        <p:spPr>
          <a:xfrm>
            <a:off x="1005840" y="4407408"/>
            <a:ext cx="4709160" cy="868680"/>
          </a:xfrm>
          <a:prstGeom prst="rect">
            <a:avLst/>
          </a:prstGeom>
          <a:noFill/>
          <a:ln/>
        </p:spPr>
        <p:txBody>
          <a:bodyPr wrap="square" lIns="0" tIns="0" rIns="0" bIns="0" rtlCol="0" anchor="t"/>
          <a:lstStyle/>
          <a:p>
            <a:pPr indent="0" marL="0">
              <a:buNone/>
            </a:pPr>
            <a:r>
              <a:rPr lang="en-US" sz="2400" spc="-50" kern="0" dirty="0">
                <a:solidFill>
                  <a:srgbClr val="FFFFFF"/>
                </a:solidFill>
                <a:latin typeface="Arial"/>
                <a:ea typeface="Arial"/>
                <a:cs typeface="Arial"/>
              </a:rPr>
              <a:t>The challenge's backing</a:t>
            </a:r>
            <a:endParaRPr lang="en-US" sz="2400" dirty="0"/>
          </a:p>
        </p:txBody>
      </p:sp>
      <p:sp>
        <p:nvSpPr>
          <p:cNvPr id="7" name="Text 5"/>
          <p:cNvSpPr txBox="1"/>
          <p:nvPr/>
        </p:nvSpPr>
        <p:spPr>
          <a:xfrm>
            <a:off x="1005840" y="5349240"/>
            <a:ext cx="4709160" cy="1005840"/>
          </a:xfrm>
          <a:prstGeom prst="rect">
            <a:avLst/>
          </a:prstGeom>
          <a:noFill/>
          <a:ln/>
        </p:spPr>
        <p:txBody>
          <a:bodyPr wrap="square" lIns="0" tIns="0" rIns="0" bIns="0" rtlCol="0" anchor="t"/>
          <a:lstStyle/>
          <a:p>
            <a:pPr indent="0" marL="0">
              <a:lnSpc>
                <a:spcPct val="114000"/>
              </a:lnSpc>
              <a:buNone/>
            </a:pPr>
            <a:r>
              <a:rPr lang="en-US" sz="1400" dirty="0">
                <a:solidFill>
                  <a:srgbClr val="B9B9C2"/>
                </a:solidFill>
                <a:latin typeface="Arial"/>
                <a:ea typeface="Arial"/>
                <a:cs typeface="Arial"/>
              </a:rPr>
              <a:t>Advance ControlPlane on the strength of a working prototype whose every number is reproducible from the repository.</a:t>
            </a:r>
            <a:endParaRPr lang="en-US" sz="1400" dirty="0"/>
          </a:p>
        </p:txBody>
      </p:sp>
      <p:sp>
        <p:nvSpPr>
          <p:cNvPr id="8" name="Shape 6"/>
          <p:cNvSpPr/>
          <p:nvPr/>
        </p:nvSpPr>
        <p:spPr>
          <a:xfrm>
            <a:off x="6419088" y="3794760"/>
            <a:ext cx="5349240" cy="2743200"/>
          </a:xfrm>
          <a:prstGeom prst="roundRect">
            <a:avLst>
              <a:gd name="adj" fmla="val 4000"/>
            </a:avLst>
          </a:prstGeom>
          <a:solidFill>
            <a:srgbClr val="23232A"/>
          </a:solidFill>
          <a:ln w="12700">
            <a:solidFill>
              <a:srgbClr val="23232A"/>
            </a:solidFill>
            <a:prstDash val="solid"/>
          </a:ln>
        </p:spPr>
      </p:sp>
      <p:sp>
        <p:nvSpPr>
          <p:cNvPr id="9" name="Text 7"/>
          <p:cNvSpPr txBox="1"/>
          <p:nvPr/>
        </p:nvSpPr>
        <p:spPr>
          <a:xfrm>
            <a:off x="6739128" y="4041648"/>
            <a:ext cx="1097280" cy="292608"/>
          </a:xfrm>
          <a:prstGeom prst="rect">
            <a:avLst/>
          </a:prstGeom>
          <a:noFill/>
          <a:ln/>
        </p:spPr>
        <p:txBody>
          <a:bodyPr wrap="square" lIns="0" tIns="0" rIns="0" bIns="0" rtlCol="0" anchor="ctr"/>
          <a:lstStyle/>
          <a:p>
            <a:pPr indent="0" marL="0">
              <a:buNone/>
            </a:pPr>
            <a:r>
              <a:rPr lang="en-US" sz="1200" b="1" spc="150" kern="0" dirty="0">
                <a:solidFill>
                  <a:srgbClr val="C77DFF"/>
                </a:solidFill>
                <a:latin typeface="Courier New"/>
                <a:ea typeface="Courier New"/>
                <a:cs typeface="Courier New"/>
              </a:rPr>
              <a:t>02</a:t>
            </a:r>
            <a:endParaRPr lang="en-US" sz="1200" dirty="0"/>
          </a:p>
        </p:txBody>
      </p:sp>
      <p:sp>
        <p:nvSpPr>
          <p:cNvPr id="10" name="Text 8"/>
          <p:cNvSpPr txBox="1"/>
          <p:nvPr/>
        </p:nvSpPr>
        <p:spPr>
          <a:xfrm>
            <a:off x="6739128" y="4407408"/>
            <a:ext cx="4709160" cy="868680"/>
          </a:xfrm>
          <a:prstGeom prst="rect">
            <a:avLst/>
          </a:prstGeom>
          <a:noFill/>
          <a:ln/>
        </p:spPr>
        <p:txBody>
          <a:bodyPr wrap="square" lIns="0" tIns="0" rIns="0" bIns="0" rtlCol="0" anchor="t"/>
          <a:lstStyle/>
          <a:p>
            <a:pPr indent="0" marL="0">
              <a:buNone/>
            </a:pPr>
            <a:r>
              <a:rPr lang="en-US" sz="2400" spc="-50" kern="0" dirty="0">
                <a:solidFill>
                  <a:srgbClr val="FFFFFF"/>
                </a:solidFill>
                <a:latin typeface="Arial"/>
                <a:ea typeface="Arial"/>
                <a:cs typeface="Arial"/>
              </a:rPr>
              <a:t>An indicative pre-seed</a:t>
            </a:r>
            <a:endParaRPr lang="en-US" sz="2400" dirty="0"/>
          </a:p>
        </p:txBody>
      </p:sp>
      <p:sp>
        <p:nvSpPr>
          <p:cNvPr id="11" name="Text 9"/>
          <p:cNvSpPr txBox="1"/>
          <p:nvPr/>
        </p:nvSpPr>
        <p:spPr>
          <a:xfrm>
            <a:off x="6739128" y="5349240"/>
            <a:ext cx="4709160" cy="1005840"/>
          </a:xfrm>
          <a:prstGeom prst="rect">
            <a:avLst/>
          </a:prstGeom>
          <a:noFill/>
          <a:ln/>
        </p:spPr>
        <p:txBody>
          <a:bodyPr wrap="square" lIns="0" tIns="0" rIns="0" bIns="0" rtlCol="0" anchor="t"/>
          <a:lstStyle/>
          <a:p>
            <a:pPr indent="0" marL="0">
              <a:lnSpc>
                <a:spcPct val="114000"/>
              </a:lnSpc>
              <a:buNone/>
            </a:pPr>
            <a:r>
              <a:rPr lang="en-US" sz="1400" dirty="0">
                <a:solidFill>
                  <a:srgbClr val="B9B9C2"/>
                </a:solidFill>
                <a:latin typeface="Arial"/>
                <a:ea typeface="Arial"/>
                <a:cs typeface="Arial"/>
              </a:rPr>
              <a:t>INR 1.6 crore, about US$190,000, for twelve months. A projection with a stated basis, not a measurement.</a:t>
            </a:r>
            <a:endParaRPr lang="en-US" sz="1400" dirty="0"/>
          </a:p>
        </p:txBody>
      </p:sp>
      <p:sp>
        <p:nvSpPr>
          <p:cNvPr id="12" name="Shape 10"/>
          <p:cNvSpPr/>
          <p:nvPr/>
        </p:nvSpPr>
        <p:spPr>
          <a:xfrm>
            <a:off x="12152376" y="3794760"/>
            <a:ext cx="5349240" cy="2743200"/>
          </a:xfrm>
          <a:prstGeom prst="roundRect">
            <a:avLst>
              <a:gd name="adj" fmla="val 4000"/>
            </a:avLst>
          </a:prstGeom>
          <a:solidFill>
            <a:srgbClr val="23232A"/>
          </a:solidFill>
          <a:ln w="12700">
            <a:solidFill>
              <a:srgbClr val="23232A"/>
            </a:solidFill>
            <a:prstDash val="solid"/>
          </a:ln>
        </p:spPr>
      </p:sp>
      <p:sp>
        <p:nvSpPr>
          <p:cNvPr id="13" name="Text 11"/>
          <p:cNvSpPr txBox="1"/>
          <p:nvPr/>
        </p:nvSpPr>
        <p:spPr>
          <a:xfrm>
            <a:off x="12472416" y="4041648"/>
            <a:ext cx="1097280" cy="292608"/>
          </a:xfrm>
          <a:prstGeom prst="rect">
            <a:avLst/>
          </a:prstGeom>
          <a:noFill/>
          <a:ln/>
        </p:spPr>
        <p:txBody>
          <a:bodyPr wrap="square" lIns="0" tIns="0" rIns="0" bIns="0" rtlCol="0" anchor="ctr"/>
          <a:lstStyle/>
          <a:p>
            <a:pPr indent="0" marL="0">
              <a:buNone/>
            </a:pPr>
            <a:r>
              <a:rPr lang="en-US" sz="1200" b="1" spc="150" kern="0" dirty="0">
                <a:solidFill>
                  <a:srgbClr val="C77DFF"/>
                </a:solidFill>
                <a:latin typeface="Courier New"/>
                <a:ea typeface="Courier New"/>
                <a:cs typeface="Courier New"/>
              </a:rPr>
              <a:t>03</a:t>
            </a:r>
            <a:endParaRPr lang="en-US" sz="1200" dirty="0"/>
          </a:p>
        </p:txBody>
      </p:sp>
      <p:sp>
        <p:nvSpPr>
          <p:cNvPr id="14" name="Text 12"/>
          <p:cNvSpPr txBox="1"/>
          <p:nvPr/>
        </p:nvSpPr>
        <p:spPr>
          <a:xfrm>
            <a:off x="12472416" y="4407408"/>
            <a:ext cx="4709160" cy="868680"/>
          </a:xfrm>
          <a:prstGeom prst="rect">
            <a:avLst/>
          </a:prstGeom>
          <a:noFill/>
          <a:ln/>
        </p:spPr>
        <p:txBody>
          <a:bodyPr wrap="square" lIns="0" tIns="0" rIns="0" bIns="0" rtlCol="0" anchor="t"/>
          <a:lstStyle/>
          <a:p>
            <a:pPr indent="0" marL="0">
              <a:buNone/>
            </a:pPr>
            <a:r>
              <a:rPr lang="en-US" sz="2400" spc="-50" kern="0" dirty="0">
                <a:solidFill>
                  <a:srgbClr val="FFFFFF"/>
                </a:solidFill>
                <a:latin typeface="Arial"/>
                <a:ea typeface="Arial"/>
                <a:cs typeface="Arial"/>
              </a:rPr>
              <a:t>Three design partners</a:t>
            </a:r>
            <a:endParaRPr lang="en-US" sz="2400" dirty="0"/>
          </a:p>
        </p:txBody>
      </p:sp>
      <p:sp>
        <p:nvSpPr>
          <p:cNvPr id="15" name="Text 13"/>
          <p:cNvSpPr txBox="1"/>
          <p:nvPr/>
        </p:nvSpPr>
        <p:spPr>
          <a:xfrm>
            <a:off x="12472416" y="5349240"/>
            <a:ext cx="4709160" cy="1005840"/>
          </a:xfrm>
          <a:prstGeom prst="rect">
            <a:avLst/>
          </a:prstGeom>
          <a:noFill/>
          <a:ln/>
        </p:spPr>
        <p:txBody>
          <a:bodyPr wrap="square" lIns="0" tIns="0" rIns="0" bIns="0" rtlCol="0" anchor="t"/>
          <a:lstStyle/>
          <a:p>
            <a:pPr indent="0" marL="0">
              <a:lnSpc>
                <a:spcPct val="114000"/>
              </a:lnSpc>
              <a:buNone/>
            </a:pPr>
            <a:r>
              <a:rPr lang="en-US" sz="1400" dirty="0">
                <a:solidFill>
                  <a:srgbClr val="B9B9C2"/>
                </a:solidFill>
                <a:latin typeface="Arial"/>
                <a:ea typeface="Arial"/>
                <a:cs typeface="Arial"/>
              </a:rPr>
              <a:t>One EU-exposed SaaS and two Indian BFSI or GCC pipelines. Success is one pipeline in production under policy.</a:t>
            </a:r>
            <a:endParaRPr lang="en-US" sz="1400" dirty="0"/>
          </a:p>
        </p:txBody>
      </p:sp>
      <p:sp>
        <p:nvSpPr>
          <p:cNvPr id="16" name="Shape 14"/>
          <p:cNvSpPr/>
          <p:nvPr/>
        </p:nvSpPr>
        <p:spPr>
          <a:xfrm>
            <a:off x="685800" y="7040880"/>
            <a:ext cx="16916400" cy="0"/>
          </a:xfrm>
          <a:prstGeom prst="line">
            <a:avLst/>
          </a:prstGeom>
          <a:noFill/>
          <a:ln w="9525">
            <a:solidFill>
              <a:srgbClr val="3A3A44"/>
            </a:solidFill>
            <a:prstDash val="solid"/>
          </a:ln>
        </p:spPr>
      </p:sp>
      <p:sp>
        <p:nvSpPr>
          <p:cNvPr id="17" name="Text 15"/>
          <p:cNvSpPr txBox="1"/>
          <p:nvPr/>
        </p:nvSpPr>
        <p:spPr>
          <a:xfrm>
            <a:off x="685800" y="7269480"/>
            <a:ext cx="10972800" cy="640080"/>
          </a:xfrm>
          <a:prstGeom prst="rect">
            <a:avLst/>
          </a:prstGeom>
          <a:noFill/>
          <a:ln/>
        </p:spPr>
        <p:txBody>
          <a:bodyPr wrap="square" lIns="0" tIns="0" rIns="0" bIns="0" rtlCol="0" anchor="t"/>
          <a:lstStyle/>
          <a:p>
            <a:pPr indent="0" marL="0">
              <a:buNone/>
            </a:pPr>
            <a:r>
              <a:rPr lang="en-US" sz="3400" spc="-100" kern="0" dirty="0">
                <a:solidFill>
                  <a:srgbClr val="FFFFFF"/>
                </a:solidFill>
                <a:latin typeface="Arial"/>
                <a:ea typeface="Arial"/>
                <a:cs typeface="Arial"/>
              </a:rPr>
              <a:t>We built it, and it runs.</a:t>
            </a:r>
            <a:endParaRPr lang="en-US" sz="3400" dirty="0"/>
          </a:p>
        </p:txBody>
      </p:sp>
      <p:sp>
        <p:nvSpPr>
          <p:cNvPr id="18" name="Text 16"/>
          <p:cNvSpPr txBox="1"/>
          <p:nvPr/>
        </p:nvSpPr>
        <p:spPr>
          <a:xfrm>
            <a:off x="685800" y="8001000"/>
            <a:ext cx="12344400" cy="914400"/>
          </a:xfrm>
          <a:prstGeom prst="rect">
            <a:avLst/>
          </a:prstGeom>
          <a:noFill/>
          <a:ln/>
        </p:spPr>
        <p:txBody>
          <a:bodyPr wrap="square" lIns="0" tIns="0" rIns="0" bIns="0" rtlCol="0" anchor="t"/>
          <a:lstStyle/>
          <a:p>
            <a:pPr indent="0" marL="0">
              <a:lnSpc>
                <a:spcPct val="115000"/>
              </a:lnSpc>
              <a:buNone/>
            </a:pPr>
            <a:r>
              <a:rPr lang="en-US" sz="1600" dirty="0">
                <a:solidFill>
                  <a:srgbClr val="B9B9C2"/>
                </a:solidFill>
                <a:latin typeface="Arial"/>
                <a:ea typeface="Arial"/>
                <a:cs typeface="Arial"/>
              </a:rPr>
              <a:t>A frozen corpus, one verdict per response, and the misses left on the record. Every figure in this deck names the command that regenerates it, and the numbers that went against us are still here.</a:t>
            </a:r>
            <a:endParaRPr lang="en-US" sz="1600" dirty="0"/>
          </a:p>
        </p:txBody>
      </p:sp>
      <p:sp>
        <p:nvSpPr>
          <p:cNvPr id="19" name="Text 17"/>
          <p:cNvSpPr txBox="1"/>
          <p:nvPr/>
        </p:nvSpPr>
        <p:spPr>
          <a:xfrm>
            <a:off x="685800" y="9418320"/>
            <a:ext cx="15544800" cy="274320"/>
          </a:xfrm>
          <a:prstGeom prst="rect">
            <a:avLst/>
          </a:prstGeom>
          <a:noFill/>
          <a:ln/>
        </p:spPr>
        <p:txBody>
          <a:bodyPr wrap="square" lIns="0" tIns="0" rIns="0" bIns="0" rtlCol="0" anchor="ctr"/>
          <a:lstStyle/>
          <a:p>
            <a:pPr indent="0" marL="0">
              <a:buNone/>
            </a:pPr>
            <a:r>
              <a:rPr lang="en-US" sz="1200" dirty="0">
                <a:solidFill>
                  <a:srgbClr val="B9B9C2"/>
                </a:solidFill>
                <a:latin typeface="Courier New"/>
                <a:ea typeface="Courier New"/>
                <a:cs typeface="Courier New"/>
              </a:rPr>
              <a:t>Reproduce everything: python -m eval.run_all</a:t>
            </a:r>
            <a:pPr indent="0" marL="0">
              <a:buNone/>
            </a:pPr>
            <a:r>
              <a:rPr lang="en-US" sz="1200" dirty="0">
                <a:solidFill>
                  <a:srgbClr val="B9B9C2"/>
                </a:solidFill>
                <a:latin typeface="Arial"/>
                <a:ea typeface="Arial"/>
                <a:cs typeface="Arial"/>
              </a:rPr>
              <a:t>  ·  </a:t>
            </a:r>
            <a:pPr indent="0" marL="0">
              <a:buNone/>
            </a:pPr>
            <a:r>
              <a:rPr lang="en-US" sz="1200" dirty="0">
                <a:solidFill>
                  <a:srgbClr val="B9B9C2"/>
                </a:solidFill>
                <a:latin typeface="Arial"/>
                <a:ea typeface="Arial"/>
                <a:cs typeface="Arial"/>
              </a:rPr>
              <a:t>github.com/harshitsaini17/controlplane-ai</a:t>
            </a:r>
            <a:endParaRPr lang="en-US" sz="1200" dirty="0"/>
          </a:p>
        </p:txBody>
      </p:sp>
      <p:sp>
        <p:nvSpPr>
          <p:cNvPr id="20" name="Text 18"/>
          <p:cNvSpPr txBox="1"/>
          <p:nvPr/>
        </p:nvSpPr>
        <p:spPr>
          <a:xfrm>
            <a:off x="12070080" y="9784080"/>
            <a:ext cx="5120640" cy="274320"/>
          </a:xfrm>
          <a:prstGeom prst="rect">
            <a:avLst/>
          </a:prstGeom>
          <a:noFill/>
          <a:ln/>
        </p:spPr>
        <p:txBody>
          <a:bodyPr wrap="square" lIns="0" tIns="0" rIns="0" bIns="0" rtlCol="0" anchor="ctr"/>
          <a:lstStyle/>
          <a:p>
            <a:pPr algn="r" indent="0" marL="0">
              <a:buNone/>
            </a:pPr>
            <a:r>
              <a:rPr lang="en-US" sz="1000" dirty="0">
                <a:solidFill>
                  <a:srgbClr val="B9B9C2"/>
                </a:solidFill>
                <a:latin typeface="Arial"/>
                <a:ea typeface="Arial"/>
                <a:cs typeface="Arial"/>
              </a:rPr>
              <a:t>Copyright © 2026 Accenture. All rights reserved.</a:t>
            </a:r>
            <a:endParaRPr lang="en-US" sz="1000" dirty="0"/>
          </a:p>
        </p:txBody>
      </p:sp>
      <p:sp>
        <p:nvSpPr>
          <p:cNvPr id="21" name="Text 19"/>
          <p:cNvSpPr txBox="1"/>
          <p:nvPr/>
        </p:nvSpPr>
        <p:spPr>
          <a:xfrm>
            <a:off x="17282160" y="9784080"/>
            <a:ext cx="320040" cy="274320"/>
          </a:xfrm>
          <a:prstGeom prst="rect">
            <a:avLst/>
          </a:prstGeom>
          <a:noFill/>
          <a:ln/>
        </p:spPr>
        <p:txBody>
          <a:bodyPr wrap="square" lIns="0" tIns="0" rIns="0" bIns="0" rtlCol="0" anchor="ctr"/>
          <a:lstStyle/>
          <a:p>
            <a:pPr algn="r" indent="0" marL="0">
              <a:buNone/>
            </a:pPr>
            <a:r>
              <a:rPr lang="en-US" sz="1000" dirty="0">
                <a:solidFill>
                  <a:srgbClr val="B9B9C2"/>
                </a:solidFill>
                <a:latin typeface="Arial"/>
                <a:ea typeface="Arial"/>
                <a:cs typeface="Arial"/>
              </a:rPr>
              <a:t>28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DAHSS0okNvM</dc:identifier>
  <dcterms:modified xsi:type="dcterms:W3CDTF">2011-08-01T06:04:30Z</dcterms:modified>
  <cp:revision>1</cp:revision>
  <dc:title>AIC_Talent-Brand_PPT-Template (1).pptx</dc:title>
</cp:coreProperties>
</file>